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S001</a:t>
            </a:r>
          </a:p>
          <a:p/>
          <a:p>
            <a:r>
              <a:t>Présenter le parcours : compétence, audience, contenu, offre utile et contrôle humain. Préciser que cette formation repose sur le DOCX illustré adapté, non sur le manuscrit intégral annoncé.</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S002</a:t>
            </a:r>
          </a:p>
          <a:p/>
          <a:p>
            <a:r>
              <a:t>Demander aux participants de nommer un résultat qu’ils contrôlent, comme publier un contenu vérifié, plutôt qu’un résultat externe comme devenir viral.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3 min</a:t>
            </a:r>
          </a:p>
          <a:p>
            <a:r>
              <a:t>ID : S003</a:t>
            </a:r>
          </a:p>
          <a:p/>
          <a:p>
            <a:r>
              <a:t>Parcourir la chaîne sans raccourci : les vues ne sont pas des ventes. Les revenus restent possibles, jamais garantis.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1 min</a:t>
            </a:r>
          </a:p>
          <a:p>
            <a:r>
              <a:t>ID : S004</a:t>
            </a:r>
          </a:p>
          <a:p/>
          <a:p>
            <a:r>
              <a:t>Ouvrir la partie 1. Demander ce que les participants savent déjà, puis introduire les chapitres 1 à 3.</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S005</a:t>
            </a:r>
          </a:p>
          <a:p/>
          <a:p>
            <a:r>
              <a:t>Explication issue du chapitre : L’IA peut convertir des notes éparses en plan, comparer des angles et proposer un script. Elle ignore souvent si une affirmation est exacte dans votre ville, si vous avez vécu un exemple ou si un média est autorisé. Le créateur garde le choix du sujet, la vérification et la publication. Une boucle simple relie recherche, production, publication, mesure et correction.</a:t>
            </a:r>
          </a:p>
          <a:p/>
          <a:p>
            <a:r>
              <a:t>Méthode : Notez une tâche répétitive et son temps réel. | Décomposez l’entrée, les étapes et la sortie. | Marquez faits, droits et relation client comme validations humaines. | Testez l’assistance sur un seul cas et comparez.</a:t>
            </a:r>
          </a:p>
          <a:p/>
          <a:p>
            <a:r>
              <a:t>Exemple du livre : Simulation pédagogique : une artisane demande trois manières d’expliquer l’entretien d’un tissu, vérifie les conseils sur ses propres produits et filme le geste elle-même.</a:t>
            </a:r>
          </a:p>
          <a:p/>
          <a:p>
            <a:r>
              <a:t>Prompt intégral du chapitre : À partir de ma tâche [tâche] et de mes données exactes [données], crée une procédure accessible sur téléphone avec entrée, sortie, étapes et contrôles humains. Ne suppose ni faits ni droits.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S006</a:t>
            </a:r>
          </a:p>
          <a:p/>
          <a:p>
            <a:r>
              <a:t>Explication issue du chapitre : Le compte est un espace de publication sur un service tiers. L’audience voit le contenu ; la communauté revient et échange ; l’entreprise livre une valeur contre rémunération en assumant ses coûts. Une forte portée ne prouve pas les ventes. Des contenus originaux, des contacts consentis et un catalogue clair sont plus solides qu’un unique compteur d’abonnés.</a:t>
            </a:r>
          </a:p>
          <a:p/>
          <a:p>
            <a:r>
              <a:t>Méthode : Définissez une personne à aider et son problème. | Précisez l’action attendue après la vidéo. | Séparez visibilité, demande, commande et paiement. | Ouvrez un registre des interactions sans données inutiles.</a:t>
            </a:r>
          </a:p>
          <a:p/>
          <a:p>
            <a:r>
              <a:t>Exemple du livre : Simulation : les vidéos d’un réparateur suscitent des commentaires, puis des devis ; seuls les travaux commandés et livrés constituent des ventes.</a:t>
            </a:r>
          </a:p>
          <a:p/>
          <a:p>
            <a:r>
              <a:t>Prompt intégral du chapitre : Avec les données [vues, commentaires, demandes, commandes], classe chaque valeur par étape. Ne déduis aucune vente des vues et signale les chiffres manquants.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S007</a:t>
            </a:r>
          </a:p>
          <a:p/>
          <a:p>
            <a:r>
              <a:t>Explication issue du chapitre : Assistance : l’outil propose. Workflow : les tâches sont reliées par des fichiers et validations. Automatisation : une action peut se répéter sans validation à chaque occurrence, uniquement lorsque les règles le permettent. Commencez par classer des idées ou résumer un tableau ; conservez les prix, témoignages, informations sensibles, droits et décisions de publication sous contrôle humain.</a:t>
            </a:r>
          </a:p>
          <a:p/>
          <a:p>
            <a:r>
              <a:t>Méthode : Définissez l’objectif et le format de sortie. | Fournissez seulement des données autorisées. | Demandez faits, hypothèses et inconnues. | Vérifiez sources et identité. | Testez en brouillon et consignez corrections.</a:t>
            </a:r>
          </a:p>
          <a:p/>
          <a:p>
            <a:r>
              <a:t>Exemple du livre : Simulation : un créateur fait classer trente commentaires, mais écrit lui-même les réponses liées à un prix ou à un litige.</a:t>
            </a:r>
          </a:p>
          <a:p/>
          <a:p>
            <a:r>
              <a:t>Prompt intégral du chapitre : Pour [tâche], avec uniquement [données autorisées], retourne [format]. Sépare faits, hypothèses et inconnues ; liste toutes les décisions exigeant ma validation.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4 min</a:t>
            </a:r>
          </a:p>
          <a:p>
            <a:r>
              <a:t>ID : S008</a:t>
            </a:r>
          </a:p>
          <a:p/>
          <a:p>
            <a:r>
              <a:t>Faire travailler en binômes. Source : chapitre 3. Exemple fourni par le livre : Simulation : un créateur fait classer trente commentaires, mais écrit lui-même les réponses liées à un prix ou à un litige. Insister sur la mention « simulation » si vous utilisez cet exemple. Puis demander à chaque participant une trace écrite et une prochaine vérification.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S009</a:t>
            </a:r>
          </a:p>
          <a:p/>
          <a:p>
            <a:r>
              <a:t>Synthétiser les chapitres 1 à 3. Demander une décision immédiatement réalisable, puis une limite ou une incertitude à vérifier.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1 min</a:t>
            </a:r>
          </a:p>
          <a:p>
            <a:r>
              <a:t>ID : S010</a:t>
            </a:r>
          </a:p>
          <a:p/>
          <a:p>
            <a:r>
              <a:t>Ouvrir la partie 2. Demander ce que les participants savent déjà, puis introduire les chapitres 4 à 8.</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S011</a:t>
            </a:r>
          </a:p>
          <a:p/>
          <a:p>
            <a:r>
              <a:t>Explication issue du chapitre : Une compétence peut venir d’un métier ou d’une pratique. Séparez ce que vous savez faire, ce que vous pouvez prouver et ce que vous ne devez pas promettre. Le temps, la langue, le pays, le téléphone, la connexion et le budget déterminent la cadence réalisable ; une qualification absente ne doit jamais être inventée.</a:t>
            </a:r>
          </a:p>
          <a:p/>
          <a:p>
            <a:r>
              <a:t>Méthode : Listez cinq savoir-faire vérifiables. | Associez chaque savoir-faire à une démonstration possible. | Notez temps, pays, langues et budget. | Écartez les conseils hors de votre compétence. | Retenez deux pistes à confronter au terrain.</a:t>
            </a:r>
          </a:p>
          <a:p/>
          <a:p>
            <a:r>
              <a:t>Exemple du livre : Simulation : Awa répare des vêtements et filme une retouche simple au lieu de se déclarer styliste diplômée.</a:t>
            </a:r>
          </a:p>
          <a:p/>
          <a:p>
            <a:r>
              <a:t>Prompt intégral du chapitre : À partir de mes compétences vérifiables [faits] et contraintes [temps, pays, budget], classe mes pistes par preuve, utilité, risques et questions à vérifier ; n’invente aucun diplôme.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S012</a:t>
            </a:r>
          </a:p>
          <a:p/>
          <a:p>
            <a:r>
              <a:t>Explication issue du chapitre : « Mode » est un thème ; « aider les petites boutiques à filmer leurs produits avec un téléphone » est une niche plus opératoire. La promesse décrit l’aide contrôlable, non la viralité ou un revenu. Un score de niche ne vaut rien sans indication des observations qui justifient chaque note.</a:t>
            </a:r>
          </a:p>
          <a:p/>
          <a:p>
            <a:r>
              <a:t>Méthode : Formulez trois publics et problèmes. | Indiquez votre aide et ses limites. | Vérifiez que dix questions utiles peuvent être traitées. | Parlez à quelques personnes concernées. | Choisissez une niche provisoire pour un test borné.</a:t>
            </a:r>
          </a:p>
          <a:p/>
          <a:p>
            <a:r>
              <a:t>Exemple du livre : Simulation : « apprendre à filmer une démonstration claire » est plus honnête que « rendre votre boutique célèbre ».</a:t>
            </a:r>
          </a:p>
          <a:p/>
          <a:p>
            <a:r>
              <a:t>Prompt intégral du chapitre : Compare [trois niches] pour [public, ville] selon expertise, problème, accès, production, offre et paiement. Distingue preuve et intuition, puis propose trois tests modestes.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4 min</a:t>
            </a:r>
          </a:p>
          <a:p>
            <a:r>
              <a:t>ID : S013</a:t>
            </a:r>
          </a:p>
          <a:p/>
          <a:p>
            <a:r>
              <a:t>Faire travailler en binômes. Source : chapitre 5. Exemple fourni par le livre : Simulation : « apprendre à filmer une démonstration claire » est plus honnête que « rendre votre boutique célèbre ». Insister sur la mention « simulation » si vous utilisez cet exemple. Puis demander à chaque participant une trace écrite et une prochaine vérification.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S014</a:t>
            </a:r>
          </a:p>
          <a:p/>
          <a:p>
            <a:r>
              <a:t>Explication issue du chapitre : Les questions, avis et conversations autorisées révèlent le vocabulaire du public. Quelques entretiens ne représentent pas un pays. Vérifiez prix, langues, livraison, accès à Internet et moyens de paiement là où vous comptez vendre ; ne transposez pas automatiquement les pratiques d’un pays voisin.</a:t>
            </a:r>
          </a:p>
          <a:p/>
          <a:p>
            <a:r>
              <a:t>Méthode : Délimitez une zone et un public. | Recueillez des questions anonymisées. | Séparez citations et interprétations. | Observez les solutions existantes. | Testez une proposition à faible coût.</a:t>
            </a:r>
          </a:p>
          <a:p/>
          <a:p>
            <a:r>
              <a:t>Exemple du livre : Simulation : une boutique reçoit des questions sur les tailles et teste trois vidéos de démonstration, puis compte les commandes confirmées séparément.</a:t>
            </a:r>
          </a:p>
          <a:p/>
          <a:p>
            <a:r>
              <a:t>Prompt intégral du chapitre : Classe ces observations anonymisées [notes] pour [ville] en besoins, objections, solutions existantes et inconnues. N’invente pas de taille de marché.</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S015</a:t>
            </a:r>
          </a:p>
          <a:p/>
          <a:p>
            <a:r>
              <a:t>Explication issue du chapitre : Un compte public révèle thèmes, formats et réactions, pas son chiffre d’affaires. Analyser cinq à dix comptes et leurs questions peut inspirer une autre explication ; les scripts, exemples personnels, visuels distinctifs et captures ne sont pas des matériaux libres à reprendre.</a:t>
            </a:r>
          </a:p>
          <a:p/>
          <a:p>
            <a:r>
              <a:t>Méthode : Sélectionnez des comptes publics selon un critère écrit. | Relevez thèmes et CTA sans copier. | Marquez ce qui reste inconnu. | Trouvez une question mal expliquée. | Rédigez un angle fondé sur votre compétence.</a:t>
            </a:r>
          </a:p>
          <a:p/>
          <a:p>
            <a:r>
              <a:t>Exemple du livre : Simulation : un coiffeur montre un geste qu’il pratique au lieu de redessiner la vidéo d’un autre compte.</a:t>
            </a:r>
          </a:p>
          <a:p/>
          <a:p>
            <a:r>
              <a:t>Prompt intégral du chapitre : Pour ces comptes publics [liens], relève promesses, thèmes et questions au [date]. N’emprunte ni script, ni identité, ni exemple ; propose trois angles originaux reliés à [compétences].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S016</a:t>
            </a:r>
          </a:p>
          <a:p/>
          <a:p>
            <a:r>
              <a:t>Explication issue du chapitre : TikTok se prête au test de vidéos verticales et de sujets de flux. YouTube peut héberger des réponses consultables et des formats courts ou longs. Instagram combine image, vidéo et conversation ; Facebook peut servir à des communautés locales actives. Ce sont des hypothèses d’usage : format, audience et fonctions disponibles changent selon le pays et le compte.</a:t>
            </a:r>
          </a:p>
          <a:p/>
          <a:p>
            <a:r>
              <a:t>Méthode : Repérez où le public échange. | Choisissez un format soutenable. | Fixez une métrique reliée à l’objectif. | Testez un canal principal et éventuellement un secondaire. | Adaptez titres, sous-titres et CTA.</a:t>
            </a:r>
          </a:p>
          <a:p/>
          <a:p>
            <a:r>
              <a:t>Exemple du livre : Simulation : un formateur décline une même démonstration en vidéo courte et tutoriel long sans publier mécaniquement le même fichier.</a:t>
            </a:r>
          </a:p>
          <a:p/>
          <a:p>
            <a:r>
              <a:t>Prompt intégral du chapitre : Compare [quatre plateformes] pour [public/pays] et [format/temps] ; sépare capacités vérifiées et hypothèses. Propose un test limité et une mesure principale.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S017</a:t>
            </a:r>
          </a:p>
          <a:p/>
          <a:p>
            <a:r>
              <a:t>Synthétiser les chapitres 4 à 8. Demander une décision immédiatement réalisable, puis une limite ou une incertitude à vérifier.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1 min</a:t>
            </a:r>
          </a:p>
          <a:p>
            <a:r>
              <a:t>ID : S018</a:t>
            </a:r>
          </a:p>
          <a:p/>
          <a:p>
            <a:r>
              <a:t>Ouvrir la partie 3. Demander ce que les participants savent déjà, puis introduire les chapitres 9 à 14.</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S019</a:t>
            </a:r>
          </a:p>
          <a:p/>
          <a:p>
            <a:r>
              <a:t>Explication issue du chapitre : L’identité rassemble public, problème, ton, approche et preuves autorisées. Le compte peut rester sans visage sans devenir anonyme sur ses responsabilités. Une démonstration réelle convainc mieux qu’un logo imité ou un résultat fictif. Le profil doit indiquer ce que le public recevra et ce qui est hors du champ du créateur.</a:t>
            </a:r>
          </a:p>
          <a:p/>
          <a:p>
            <a:r>
              <a:t>Méthode : Écrivez public et problème dans leurs mots. | Décrivez votre méthode. | Rassemblez des preuves autorisées. | Indiquez les limites. | Relisez le nom, la bio et le lien.</a:t>
            </a:r>
          </a:p>
          <a:p/>
          <a:p>
            <a:r>
              <a:t>Exemple du livre : Simulation : un réparateur explique les diagnostics simples et renvoie les cas complexes à un professionnel.</a:t>
            </a:r>
          </a:p>
          <a:p/>
          <a:p>
            <a:r>
              <a:t>Prompt intégral du chapitre : Rédige trois bios pour [public, problème, preuves et limites]. Repère toute garantie implicite et propose une version sans exagération.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S020</a:t>
            </a:r>
          </a:p>
          <a:p/>
          <a:p>
            <a:r>
              <a:t>Explication issue du chapitre : Un pilier regroupe des questions récurrentes, pas une obligation de publier chaque jour. La découverte aide à identifier un problème ; la confiance montre le travail ; la communauté répond aux questions ; la conversion présente une prochaine étape adaptée. Leur équilibre dépend de votre objectif et de la capacité de production.</a:t>
            </a:r>
          </a:p>
          <a:p/>
          <a:p>
            <a:r>
              <a:t>Méthode : Regroupez questions réelles en trois à cinq piliers. | Pour chacun, indiquez format et preuve. | Préparez plusieurs idées par pilier. | Planifiez une cadence durable. | Vérifiez le CTA de chaque publication.</a:t>
            </a:r>
          </a:p>
          <a:p/>
          <a:p>
            <a:r>
              <a:t>Exemple du livre : Simulation : une vendeuse alterne conseil de coupe, détail des coutures, réponse aux tailles et catalogue actualisé.</a:t>
            </a:r>
          </a:p>
          <a:p/>
          <a:p>
            <a:r>
              <a:t>Prompt intégral du chapitre : Avec ma promesse [texte] et les questions observées [notes], crée quatre piliers et cinq idées originales par pilier, avec preuve et CTA ; aucune tendance inventée.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S021</a:t>
            </a:r>
          </a:p>
          <a:p/>
          <a:p>
            <a:r>
              <a:t>Explication issue du chapitre : Une question n’est pas encore un angle : « choisir une taille » devient « trois mesures à prendre ». Classez chaque idée par public, pilier, effort, preuve, risque et CTA. Une question privée ne peut être publiée telle quelle sans accord ; l’anonymisation peut rester insuffisante.</a:t>
            </a:r>
          </a:p>
          <a:p/>
          <a:p>
            <a:r>
              <a:t>Méthode : Collectez les questions avec autorisation. | Reformulez en un angle précis. | Notez source et preuve. | Marquez les sujets hors expertise. | Triez par utilité et effort.</a:t>
            </a:r>
          </a:p>
          <a:p/>
          <a:p>
            <a:r>
              <a:t>Exemple du livre : Simulation : un formateur transforme « mon tableau ne marche pas » en trois démonstrations originales ciblées.</a:t>
            </a:r>
          </a:p>
          <a:p/>
          <a:p>
            <a:r>
              <a:t>Prompt intégral du chapitre : Transforme ces notes anonymes [notes] en vingt idées classées par pilier, risque, preuve et CTA. N’invente ni tendance ni expérience.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S022</a:t>
            </a:r>
          </a:p>
          <a:p/>
          <a:p>
            <a:r>
              <a:t>Explication issue du chapitre : Le hook indique l’intérêt de la vidéo, non un résultat spectaculaire inventé. Une vidéo courte peut suivre : situation, problème, démonstration, limite, action unique. Les expériences racontées doivent être les vôtres ; une scène inventée doit porter la mention « simulation pédagogique ». Lisez le script à voix haute pour éliminer le jargon et les digressions.</a:t>
            </a:r>
          </a:p>
          <a:p/>
          <a:p>
            <a:r>
              <a:t>Méthode : Formulez la question centrale. | Écrivez trois hooks exacts. | Gardez une seule idée. | Ajoutez exemple et limite. | Lisez à voix haute. | Vérifiez noms, chiffres et droits.</a:t>
            </a:r>
          </a:p>
          <a:p/>
          <a:p>
            <a:r>
              <a:t>Exemple du livre : Simulation : « Votre vidéo montre-t-elle la matière ou seulement le prix ? » introduit une démonstration sans promettre des ventes.</a:t>
            </a:r>
          </a:p>
          <a:p/>
          <a:p>
            <a:r>
              <a:t>Prompt intégral du chapitre : Écris pour [public] un script original de [durée] sur [sujet], avec hook honnête, preuve [source], exemple déclaré, limite, plans et CTA unique.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4 min</a:t>
            </a:r>
          </a:p>
          <a:p>
            <a:r>
              <a:t>ID : S023</a:t>
            </a:r>
          </a:p>
          <a:p/>
          <a:p>
            <a:r>
              <a:t>Faire travailler en binômes. Source : chapitre 12. Exemple fourni par le livre : Simulation : « Votre vidéo montre-t-elle la matière ou seulement le prix ? » introduit une démonstration sans promettre des ventes. Insister sur la mention « simulation » si vous utilisez cet exemple. Puis demander à chaque participant une trace écrite et une prochaine vérification.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S024</a:t>
            </a:r>
          </a:p>
          <a:p/>
          <a:p>
            <a:r>
              <a:t>Explication issue du chapitre : Commencez près d’une fenêtre, sans contre-jour ; stabilisez l’appareil et nettoyez l’objectif. Enregistrez dix secondes, écoutez-les au casque, puis filmez un plan d’ensemble, un geste et un résultat. Gardez le texte à l’écran loin des zones couvertes par les boutons de la plateforme. Sauvegardez le fichier original avant montage.</a:t>
            </a:r>
          </a:p>
          <a:p/>
          <a:p>
            <a:r>
              <a:t>Méthode : Préparez l’espace et l’objectif. | Faites un essai son/image. | Découpez la prise par segment. | Vérifiez lumière, stabilité et consentements. | Conservez la source originale.</a:t>
            </a:r>
          </a:p>
          <a:p/>
          <a:p>
            <a:r>
              <a:t>Exemple du livre : Simulation : un vendeur filme le détail, l’ouverture et les dimensions mesurées d’un sac artisanal.</a:t>
            </a:r>
          </a:p>
          <a:p/>
          <a:p>
            <a:r>
              <a:t>Prompt intégral du chapitre : À partir de [script] et de [matériel exact], fais un plan de tournage sans achat, avec cadre, son, risque de confidentialité et test préalable.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4 min</a:t>
            </a:r>
          </a:p>
          <a:p>
            <a:r>
              <a:t>ID : S025</a:t>
            </a:r>
          </a:p>
          <a:p/>
          <a:p>
            <a:r>
              <a:t>Faire travailler en binômes. Source : chapitre 13. Exemple fourni par le livre : Simulation : un vendeur filme le détail, l’ouverture et les dimensions mesurées d’un sac artisanal. Insister sur la mention « simulation » si vous utilisez cet exemple. Puis demander à chaque participant une trace écrite et une prochaine vérification.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S026</a:t>
            </a:r>
          </a:p>
          <a:p/>
          <a:p>
            <a:r>
              <a:t>Explication issue du chapitre : Avant de publier, vérifiez légende, sous-titres, liens, droits, CTA et déclarations commerciales ou IA requises. Notez identifiant et date ; répondez aux questions utiles, classez les objections et modérez de façon cohérente. Un nombre élevé de publications ne garantit aucune distribution.</a:t>
            </a:r>
          </a:p>
          <a:p/>
          <a:p>
            <a:r>
              <a:t>Méthode : Appliquez la checklist prépublication. | Publiez à cadence réaliste. | Consignez URL et objectif. | Triez questions et demandes. | Analysez une série de contenus.</a:t>
            </a:r>
          </a:p>
          <a:p/>
          <a:p>
            <a:r>
              <a:t>Exemple du livre : Simulation : une formatrice précise qu’un raccourci montré concerne l’ordinateur et vérifie la version mobile avant de répondre.</a:t>
            </a:r>
          </a:p>
          <a:p/>
          <a:p>
            <a:r>
              <a:t>Prompt intégral du chapitre : Classe ces commentaires publics anonymisés [notes] ; propose des réponses courtes et marque celles qui exigent ma vérification avant envoi.</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S027</a:t>
            </a:r>
          </a:p>
          <a:p/>
          <a:p>
            <a:r>
              <a:t>Synthétiser les chapitres 9 à 14. Demander une décision immédiatement réalisable, puis une limite ou une incertitude à vérifier.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1 min</a:t>
            </a:r>
          </a:p>
          <a:p>
            <a:r>
              <a:t>ID : S028</a:t>
            </a:r>
          </a:p>
          <a:p/>
          <a:p>
            <a:r>
              <a:t>Ouvrir la partie 4. Demander ce que les participants savent déjà, puis introduire les chapitres 15 à 19.</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S029</a:t>
            </a:r>
          </a:p>
          <a:p/>
          <a:p>
            <a:r>
              <a:t>Explication issue du chapitre : Un prompt utile précise objectif, public, pays, faits confirmés, format, contraintes et sortie attendue. Un brief ajoute preuve, CTA, média requis et responsable de validation. Lorsque le sujet évolue, l’assistant doit ouvrir une source actuelle ou déclarer l’incertitude ; une réponse convaincante n’est pas une preuve.</a:t>
            </a:r>
          </a:p>
          <a:p/>
          <a:p>
            <a:r>
              <a:t>Méthode : Définissez l’objectif en une phrase. | Fournissez contexte réel et autorisé. | Imposer faits/hypothèses/inconnues. | Demandez un format structuré. | Relisez et vérifiez les sources.</a:t>
            </a:r>
          </a:p>
          <a:p/>
          <a:p>
            <a:r>
              <a:t>Exemple du livre : Simulation : une boutique fournit la notice du produit avant de demander un script sur sa conservation ; le vendeur valide chaque conseil.</a:t>
            </a:r>
          </a:p>
          <a:p/>
          <a:p>
            <a:r>
              <a:t>Prompt intégral du chapitre : Avec [objectif, public, pays, sources], retourne un brief puis un script original de [format] ; signale les faits non vérifiés et la validation humaine nécessaire.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S030</a:t>
            </a:r>
          </a:p>
          <a:p/>
          <a:p>
            <a:r>
              <a:t>Explication issue du chapitre : Chaque image, musique, police, voix et clip possède des conditions d’utilisation propres. Un résultat de recherche web n’est pas une licence. Préférez vos prises et schémas originaux. Ne clonez pas la voix d’une personne réelle sans autorisation. Les sous-titres demandent une relecture des nombres, noms et négations. Une interface dessinée doit être qualifiée d’illustration conceptuelle non officielle.</a:t>
            </a:r>
          </a:p>
          <a:p/>
          <a:p>
            <a:r>
              <a:t>Méthode : Listez les actifs du script. | Notez source, licence et usage prévu. | Choisissez une alternative si un droit manque. | Relisez les sous-titres. | Archivez les preuves.</a:t>
            </a:r>
          </a:p>
          <a:p/>
          <a:p>
            <a:r>
              <a:t>Exemple du livre : Simulation : un éducateur dessine sa propre maquette d’interface et indique « Illustration conceptuelle — reproduction non officielle ».</a:t>
            </a:r>
          </a:p>
          <a:p/>
          <a:p>
            <a:r>
              <a:t>Prompt intégral du chapitre : Pour ces médias [URLs/fichiers], identifie droits, crédits, consentements et inconnues ; ne déclare pas un asset libre sans licence applicable.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S031</a:t>
            </a:r>
          </a:p>
          <a:p/>
          <a:p>
            <a:r>
              <a:t>Explication issue du chapitre : 1 : segmentez et enregistrez la voix. 2 : associez un storyboard et des slides statiques si utiles. 3 : synchronisez le son autorisé. 4 : animez seulement ce qui clarifie l’idée. 5 : exportez et ouvrez un mini-fichier. Gardez un identifiant stable : SEGMENT_001, audio_SEGMENT_001, visual_SEGMENT_001, sound_SEGMENT_001, animated_SEGMENT_001, video_SEGMENT_001. Un storyboard texte remplace un PPTX lorsqu’aucun éditeur de slides n’est disponible.</a:t>
            </a:r>
          </a:p>
          <a:p/>
          <a:p>
            <a:r>
              <a:t>Méthode : Attribuez un identifiant. | Produisez un segment pilote. | Écoutez et ouvrez chaque sortie. | Vérifiez les droits et le fond. | Corrigez puis seulement répétez.</a:t>
            </a:r>
          </a:p>
          <a:p/>
          <a:p>
            <a:r>
              <a:t>Exemple du livre : Simulation : SEGMENT_001 explique une mesure, avec une version v02 si la voix doit être reprise.</a:t>
            </a:r>
          </a:p>
          <a:p/>
          <a:p>
            <a:r>
              <a:t>Prompt intégral du chapitre : Pour [SEGMENT_001] et [script], fournis entrées, opérations, fichiers prévus, contrôle technique et solution manuelle ; ne simule pas un export.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4 min</a:t>
            </a:r>
          </a:p>
          <a:p>
            <a:r>
              <a:t>ID : S032</a:t>
            </a:r>
          </a:p>
          <a:p/>
          <a:p>
            <a:r>
              <a:t>Faire travailler en binômes. Source : chapitre 17. Exemple fourni par le livre : Simulation : SEGMENT_001 explique une mesure, avec une version v02 si la voix doit être reprise. Insister sur la mention « simulation » si vous utilisez cet exemple. Puis demander à chaque participant une trace écrite et une prochaine vérification.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S033</a:t>
            </a:r>
          </a:p>
          <a:p/>
          <a:p>
            <a:r>
              <a:t>Explication issue du chapitre : Un montage mobile peut couper des séquences, placer le texte et exporter si la fonction est disponible dans la version du compte. Les sous-titres automatiques doivent être corrigés. Canva peut préparer un tableau, mais les assets embarqués ont des licences distinctes. Un outil de reporting peut importer des métriques partielles : comparez-les aux tableaux natifs. Les forfaits et prix ne sont pas donnés ici faute de recontrôle complet.</a:t>
            </a:r>
          </a:p>
          <a:p/>
          <a:p>
            <a:r>
              <a:t>Méthode : Définissez la tâche à améliorer. | Ouvrez l’aide et les licences officielles. | Testez sur trente secondes sans données sensibles. | Comparez export, coût et corrections. | Conservez seulement l’outil utile.</a:t>
            </a:r>
          </a:p>
          <a:p/>
          <a:p>
            <a:r>
              <a:t>Exemple du livre : Simulation : un créateur teste le même extrait sur mobile et sur ordinateur et conserve le flux qui produit les sous-titres les plus lisibles.</a:t>
            </a:r>
          </a:p>
          <a:p/>
          <a:p>
            <a:r>
              <a:t>Prompt intégral du chapitre : Compare [deux outils] pour [tâche] en [pays] ; fournis URL officielle, fonction vérifiée, limites, export et droits ; marque les inconnues.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S034</a:t>
            </a:r>
          </a:p>
          <a:p/>
          <a:p>
            <a:r>
              <a:t>Explication issue du chapitre : Une arborescence minimale suffit : 01_brief, 02_sources, 03_script, 04_medias, 05_montage, 06_export, 07_QA. Nommez date, sujet, type, version ; gardez l’original et une sauvegarde sûre. Un registre relie chaque affirmation à une URL datée et chaque média à sa licence. Ne placez jamais des clés API ou papiers d’identité dans un dossier partagé.</a:t>
            </a:r>
          </a:p>
          <a:p/>
          <a:p>
            <a:r>
              <a:t>Méthode : Fixez un modèle de nom. | Créez les dossiers utiles. | Ajoutez registres de sources et droits. | Sauvegardez les originaux. | Archivez la version publiée.</a:t>
            </a:r>
          </a:p>
          <a:p/>
          <a:p>
            <a:r>
              <a:t>Exemple du livre : Exemple : 2026-09-27_mesure_script_v02.md ; son et vidéo partagent SEGMENT_001.</a:t>
            </a:r>
          </a:p>
          <a:p/>
          <a:p>
            <a:r>
              <a:t>Prompt intégral du chapitre : Crée une arborescence minimale pour [contenus, outils] avec version, licence, sauvegarde et dossiers privés.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S035</a:t>
            </a:r>
          </a:p>
          <a:p/>
          <a:p>
            <a:r>
              <a:t>Synthétiser les chapitres 15 à 19. Demander une décision immédiatement réalisable, puis une limite ou une incertitude à vérifier.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1 min</a:t>
            </a:r>
          </a:p>
          <a:p>
            <a:r>
              <a:t>ID : S036</a:t>
            </a:r>
          </a:p>
          <a:p/>
          <a:p>
            <a:r>
              <a:t>Ouvrir la partie 5. Demander ce que les participants savent déjà, puis introduire les chapitres 20 à 24.</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S037</a:t>
            </a:r>
          </a:p>
          <a:p/>
          <a:p>
            <a:r>
              <a:t>Explication issue du chapitre : Séparez distribution (portée), consommation (visionnage), interaction, conversion (demande, clic, achat) et économie (recette encaissée, coût, marge). Un taux de conversion doit nommer le numérateur, le dénominateur et la période. Ne comparez pas une vue TikTok à une vue YouTube sans vérifier la définition et le contexte. Une série comparable apprend plus qu’une vidéo seule.</a:t>
            </a:r>
          </a:p>
          <a:p/>
          <a:p>
            <a:r>
              <a:t>Méthode : Fixez l’objectif de la publication. | Choisissez un indicateur principal. | Notez sa définition et sa période. | Comparez des contenus semblables. | Ajoutez commandes, frais et remboursements vérifiés.</a:t>
            </a:r>
          </a:p>
          <a:p/>
          <a:p>
            <a:r>
              <a:t>Exemple du livre : Simulation : 2 000 vues et 20 demandes ne suffisent pas à déclarer une vidéo plus rentable que 8 000 vues et 4 demandes.</a:t>
            </a:r>
          </a:p>
          <a:p/>
          <a:p>
            <a:r>
              <a:t>Prompt intégral du chapitre : Pour [tableau], calcule seulement les ratios aux dénominateurs connus ; distingue observations, hypothèses et données absentes.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4 min</a:t>
            </a:r>
          </a:p>
          <a:p>
            <a:r>
              <a:t>ID : S038</a:t>
            </a:r>
          </a:p>
          <a:p/>
          <a:p>
            <a:r>
              <a:t>Faire travailler en binômes. Source : chapitre 20. Exemple fourni par le livre : Simulation : 2 000 vues et 20 demandes ne suffisent pas à déclarer une vidéo plus rentable que 8 000 vues et 4 demandes. Insister sur la mention « simulation » si vous utilisez cet exemple. Puis demander à chaque participant une trace écrite et une prochaine vérification.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S039</a:t>
            </a:r>
          </a:p>
          <a:p/>
          <a:p>
            <a:r>
              <a:t>Explication issue du chapitre : La boucle est : publier, mesurer, interpréter, modifier. Une démonstration filmée de près pourrait être plus claire ; cela devient une hypothèse, pas une certitude. Notez une variable principale et observez plusieurs contenus comparables. Les fluctuations peuvent venir du sujet, de la saison ou du hasard ; n’attribuez pas causalité sans preuve.</a:t>
            </a:r>
          </a:p>
          <a:p/>
          <a:p>
            <a:r>
              <a:t>Méthode : Écrivez une hypothèse. | Définissez variable et mesure. | Fixez la période. | Comparez plusieurs publications. | Consignez conclusion et limites.</a:t>
            </a:r>
          </a:p>
          <a:p/>
          <a:p>
            <a:r>
              <a:t>Exemple du livre : Simulation : un commerçant teste deux ouvertures sur une série de sujets proches et note les questions obtenues.</a:t>
            </a:r>
          </a:p>
          <a:p/>
          <a:p>
            <a:r>
              <a:t>Prompt intégral du chapitre : Sur [données datées], distingue tendance descriptive et causes possibles ; propose un seul test éditorial réversible.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S040</a:t>
            </a:r>
          </a:p>
          <a:p/>
          <a:p>
            <a:r>
              <a:t>Explication issue du chapitre : Niveau 1, assistance : proposition révisée. Niveau 2, workflow : séquence de fichiers et d’étapes reliées. Niveau 3, automatisation : déclenchement répété avec permissions, journal et arrêt. Il ne faut pas monter de niveau pour paraître moderne. Une action publique, une réponse commerciale et un paiement demandent un contrôle proportionné au risque.</a:t>
            </a:r>
          </a:p>
          <a:p/>
          <a:p>
            <a:r>
              <a:t>Méthode : Cartographiez la procédure manuelle. | Repérez erreurs et exceptions. | Testez une étape réversible. | Limitez accès, volume et coût. | Ajoutez validation et bouton d’arrêt.</a:t>
            </a:r>
          </a:p>
          <a:p/>
          <a:p>
            <a:r>
              <a:t>Exemple du livre : Simulation : un formulaire trie des demandes ; une personne vérifie stock et prix avant la confirmation.</a:t>
            </a:r>
          </a:p>
          <a:p/>
          <a:p>
            <a:r>
              <a:t>Prompt intégral du chapitre : Classe [processus] en assistance, workflow et automatisation ; liste permissions, erreurs, contrôle humain et arrêt. Ne présume aucune API.</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S041</a:t>
            </a:r>
          </a:p>
          <a:p/>
          <a:p>
            <a:r>
              <a:t>Explication issue du chapitre : Un agent est un produit configuré, non une compétence universelle. Il peut aider à rechercher ou organiser selon l’accès réel qui lui est donné. Le brief précise mission, données, actions autorisées, sorties, sources et conditions d’arrêt. Un rapport doit donner période, définitions et lacunes ; un fichier inexistant ne peut être présenté comme produit.</a:t>
            </a:r>
          </a:p>
          <a:p/>
          <a:p>
            <a:r>
              <a:t>Méthode : Définissez périmètre et autorisations. | Remettez seulement des données utiles. | Exigez URL, date et pays. | Vérifiez les calculs sur un échantillon. | Consignez validation finale.</a:t>
            </a:r>
          </a:p>
          <a:p/>
          <a:p>
            <a:r>
              <a:t>Exemple du livre : Simulation : un agent classe un export anonymisé et signale les lignes manquantes avant validation du responsable.</a:t>
            </a:r>
          </a:p>
          <a:p/>
          <a:p>
            <a:r>
              <a:t>Prompt intégral du chapitre : Mission [tâche] ; sources [URLs] ; pays/date [valeurs] ; permissions [liste]. Rapporte faits, inférences et inconnues, et arrête-toi si une autorisation manque.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S042</a:t>
            </a:r>
          </a:p>
          <a:p/>
          <a:p>
            <a:r>
              <a:t>Explication issue du chapitre : Déclarations de revenus, engagements d’une offre, litiges, conseils réglementés, contrats et données privées exigent une validation. Limitez les accès au strict nécessaire et prévoyez le retrait d’une publication ou l’arrêt d’un système. N’achetez ni vues ni abonnés ; n’utilisez ni fausse résidence ni faux documents.</a:t>
            </a:r>
          </a:p>
          <a:p/>
          <a:p>
            <a:r>
              <a:t>Méthode : Classez chaque action par réversibilité. | Identifiez données et règles. | Fixez les validations. | Limitez permissions. | Préparez journal et correction.</a:t>
            </a:r>
          </a:p>
          <a:p/>
          <a:p>
            <a:r>
              <a:t>Exemple du livre : Simulation : le brouillon de prix est généré, mais le commerçant vérifie le stock et le tarif avant l’envoi.</a:t>
            </a:r>
          </a:p>
          <a:p/>
          <a:p>
            <a:r>
              <a:t>Prompt intégral du chapitre : Audite [automatisation] selon données, portée, droit, réversibilité, arrêt et validation ; n’exécute aucune action.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S043</a:t>
            </a:r>
          </a:p>
          <a:p/>
          <a:p>
            <a:r>
              <a:t>Synthétiser les chapitres 20 à 24. Demander une décision immédiatement réalisable, puis une limite ou une incertitude à vérifier.</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1 min</a:t>
            </a:r>
          </a:p>
          <a:p>
            <a:r>
              <a:t>ID : S044</a:t>
            </a:r>
          </a:p>
          <a:p/>
          <a:p>
            <a:r>
              <a:t>Ouvrir la partie 6. Demander ce que les participants savent déjà, puis introduire les chapitres 25 à 30.</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S045</a:t>
            </a:r>
          </a:p>
          <a:p/>
          <a:p>
            <a:r>
              <a:t>Explication issue du chapitre : Le chemin attention → intérêt → confiance → demande → achat → livraison n’est pas automatique. Une offre définit public, problème, livrable contrôlable, prix, délai, limites et conditions. Les vues et questions ne valent pas paiement. Vérifiez coûts, marge et obligations locales avant de développer un produit complet.</a:t>
            </a:r>
          </a:p>
          <a:p/>
          <a:p>
            <a:r>
              <a:t>Méthode : Décrivez le besoin observé. | Écrivez l’offre pilote. | Délimitez le livrable et les exclusions. | Vérifiez le paiement. | Mesurez commandes, remboursements et satisfaction.</a:t>
            </a:r>
          </a:p>
          <a:p/>
          <a:p>
            <a:r>
              <a:t>Exemple du livre : Simulation : un audit de profil de trente minutes avec compte rendu d’une page, sans garantie de croissance.</a:t>
            </a:r>
          </a:p>
          <a:p/>
          <a:p>
            <a:r>
              <a:t>Prompt intégral du chapitre : Structure une offre pilote pour [public/problème] à partir de [livrable/prix fournis par moi] ; liste coûts, limites et questions locales ; ne garantis aucun résultat externe.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4 min</a:t>
            </a:r>
          </a:p>
          <a:p>
            <a:r>
              <a:t>ID : S046</a:t>
            </a:r>
          </a:p>
          <a:p/>
          <a:p>
            <a:r>
              <a:t>Faire travailler en binômes. Source : chapitre 25. Exemple fourni par le livre : Simulation : un audit de profil de trente minutes avec compte rendu d’une page, sans garantie de croissance. Insister sur la mention « simulation » si vous utilisez cet exemple. Puis demander à chaque participant une trace écrite et une prochaine vérification.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S047</a:t>
            </a:r>
          </a:p>
          <a:p/>
          <a:p>
            <a:r>
              <a:t>Explication issue du chapitre : Chaque programme a une région, un âge, un type de compte, des seuils, des vidéos admissibles et des moyens de paiement propres. TikTok Creator Rewards demande, selon l’aide ouverte le 27 septembre 2026, un compte personnel en règle, 18 ans (19 en Corée du Sud), 10 000 abonnés, 100 000 vues sur 30 jours et des vidéos originales d’au moins une minute dans une région admissible [S01]. Le YPP publicitaire YouTube affiche 1 000 abonnés et soit 4 000 heures qualifiées/12 mois soit 10 millions de vues Shorts qualifiées/90 jours [S06] ; le respect des règles et une revue restent nécessaires. Une annonce prévoit de nouveaux seuils à partir du 1er février 2027 [S08]. Aucun seuil Instagram ou Facebook n’est repris ici sans recontrôle ciblé de son produit exact.</a:t>
            </a:r>
          </a:p>
          <a:p/>
          <a:p>
            <a:r>
              <a:t>Méthode : Nommez le programme exact. | Ouvrez les règles officielles datées. | Vérifiez pays, contenu et paiement. | Regardez le tableau de bord. | Évaluez les coûts réels.</a:t>
            </a:r>
          </a:p>
          <a:p/>
          <a:p>
            <a:r>
              <a:t>Exemple du livre : Simulation : un créateur voit un onglet de monétisation et vérifie son éligibilité au lieu de traiter l’onglet comme une admission.</a:t>
            </a:r>
          </a:p>
          <a:p/>
          <a:p>
            <a:r>
              <a:t>Prompt intégral du chapitre : Pour [programme] et [pays réel], vérifie les sources officielles, âge, seuils, contenu, versement, date et inconnues. Ne conclus pas si la région manque.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S048</a:t>
            </a:r>
          </a:p>
          <a:p/>
          <a:p>
            <a:r>
              <a:t>Explication issue du chapitre : Un service ne devient pas passif parce qu’il est vendu en ligne. Séparez conseil, formation et exécution ; fixez livrable, délais, révisions, accès aux données et tarif. Un portfolio comprend vos vrais travaux autorisés ; un projet fictif doit être étiqueté démonstration.</a:t>
            </a:r>
          </a:p>
          <a:p/>
          <a:p>
            <a:r>
              <a:t>Méthode : Choisissez une compétence démontrable. | Définissez livrable et périmètre. | Estimez temps et frais. | Écrivez conditions et révisions. | Testez auprès d’un client pilote.</a:t>
            </a:r>
          </a:p>
          <a:p/>
          <a:p>
            <a:r>
              <a:t>Exemple du livre : Simulation : un graphiste vend trois visuels de lancement avec formats, délai et corrections définis, sans promesse de ventes.</a:t>
            </a:r>
          </a:p>
          <a:p/>
          <a:p>
            <a:r>
              <a:t>Prompt intégral du chapitre : Propose trois services limités à partir de [compétence réelle] pour [public]. Décris livrables, temps à vérifier, limites et questions de prix ; n’invente aucun tarif de marché.</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S049</a:t>
            </a:r>
          </a:p>
          <a:p/>
          <a:p>
            <a:r>
              <a:t>Explication issue du chapitre : Un produit numérique exige création, droits, paiement, support et mise à jour. Commencez par une checklist ou un modèle résolvant une tâche étroite. Décrivez ce que l’acheteur recevra, les prérequis et le calendrier de mise à jour ; ne confondez pas résultat d’apprentissage et réussite commerciale.</a:t>
            </a:r>
          </a:p>
          <a:p/>
          <a:p>
            <a:r>
              <a:t>Méthode : Recueillez une tâche fréquente. | Créez une version minimum originale. | Testez la compréhension. | Vérifiez droits et livraison. | Contrôlez le paiement du pays.</a:t>
            </a:r>
          </a:p>
          <a:p/>
          <a:p>
            <a:r>
              <a:t>Exemple du livre : Simulation : une feuille de suivi de commandes fictives est testée et fournie avec un guide, sans prétendre remplacer la comptabilité.</a:t>
            </a:r>
          </a:p>
          <a:p/>
          <a:p>
            <a:r>
              <a:t>Prompt intégral du chapitre : Conçois la version pilote d’un produit pour [tâche/public] avec plan, tests, sources, droits et points de mise à jour, sans témoignage inventé.</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S050</a:t>
            </a:r>
          </a:p>
          <a:p/>
          <a:p>
            <a:r>
              <a:t>Explication issue du chapitre : Une commission d’affiliation ou une publication rémunérée modifie la lecture d’une recommandation. Vérifiez partenaire, contrat, rémunération, durée, droits de réutilisation et limites du produit. Sur TikTok, la promotion de sa propre marque ou de celle d’un tiers appelle le réglage de divulgation commerciale dans les conditions décrites par l’aide [S04].</a:t>
            </a:r>
          </a:p>
          <a:p/>
          <a:p>
            <a:r>
              <a:t>Méthode : Vérifiez identité et produit du partenaire. | Demandez les engagements écrits. | Écartez les affirmations invérifiables. | Déclarez la relation. | Archivez contrat et paiement.</a:t>
            </a:r>
          </a:p>
          <a:p/>
          <a:p>
            <a:r>
              <a:t>Exemple du livre : Simulation : une créatrice signale un lien de commission et expose les limites de l’application qu’elle utilise.</a:t>
            </a:r>
          </a:p>
          <a:p/>
          <a:p>
            <a:r>
              <a:t>Prompt intégral du chapitre : Relis [texte sponsorisé] ; repère promesses non prouvées, divulgation insuffisante, droits de réutilisation et points contractuels à vérifier.</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S051</a:t>
            </a:r>
          </a:p>
          <a:p/>
          <a:p>
            <a:r>
              <a:t>Explication issue du chapitre : Une demande de devis n’est pas une vente. Choisissez un CTA vers un canal fonctionnel, annoncez le délai de réponse et collectez seulement les données utiles. L’application WhatsApp Business et la plateforme API n’ont pas les mêmes mécanismes. L’accord de contact et les demandes d’arrêt doivent être respectés ; les règles de marketing direct local s’ajoutent aux politiques de plateforme.</a:t>
            </a:r>
          </a:p>
          <a:p/>
          <a:p>
            <a:r>
              <a:t>Méthode : Testez le lien sur mobile. | Affichez objet et délai. | Réduisez les champs du formulaire. | Vérifiez prix et stock humainement. | Tenez un suivi sécurisé des demandes.</a:t>
            </a:r>
          </a:p>
          <a:p/>
          <a:p>
            <a:r>
              <a:t>Exemple du livre : Simulation : une boutique répond automatiquement sur les horaires, mais une personne vérifie le stock avant un devis.</a:t>
            </a:r>
          </a:p>
          <a:p/>
          <a:p>
            <a:r>
              <a:t>Prompt intégral du chapitre : Conçois le parcours de contact pour [offre/pays] avec consentement, délai, données minimales, arrêt des messages et validation humaine du prix.</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S052</a:t>
            </a:r>
          </a:p>
          <a:p/>
          <a:p>
            <a:r>
              <a:t>Synthétiser les chapitres 25 à 30. Demander une décision immédiatement réalisable, puis une limite ou une incertitude à vérifier.</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1 min</a:t>
            </a:r>
          </a:p>
          <a:p>
            <a:r>
              <a:t>ID : S053</a:t>
            </a:r>
          </a:p>
          <a:p/>
          <a:p>
            <a:r>
              <a:t>Ouvrir la partie 7. Demander ce que les participants savent déjà, puis introduire les chapitres 31 à 35.</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S054</a:t>
            </a:r>
          </a:p>
          <a:p/>
          <a:p>
            <a:r>
              <a:t>Explication issue du chapitre : L’ouverture d’un compte TikTok ne donne pas droit aux programmes de monétisation. Utilisez votre propre adresse, un mot de passe unique, les options de vérification disponibles et une récupération protégée. Le type de compte et ses outils varient : l’aide TikTok distingue comptes personnels et professionnels [S05]. Ne communiquez jamais un code de connexion à un prétendu agent de croissance.</a:t>
            </a:r>
          </a:p>
          <a:p/>
          <a:p>
            <a:r>
              <a:t>Méthode : Créez un compte véridique. | Activez les protections proposées. | Remplissez nom et bio exacts. | Testez le lien. | Contrôlez sessions et accès tiers.</a:t>
            </a:r>
          </a:p>
          <a:p/>
          <a:p>
            <a:r>
              <a:t>Exemple du livre : Simulation : une boutique emploie un courriel dédié et garde ses codes de récupération hors des dossiers partagés.</a:t>
            </a:r>
          </a:p>
          <a:p/>
          <a:p>
            <a:r>
              <a:t>Prompt intégral du chapitre : Prépare une checklist de sécurité pour [plateforme] basée sur son aide officielle ; ne me demande ni mot de passe ni code.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S055</a:t>
            </a:r>
          </a:p>
          <a:p/>
          <a:p>
            <a:r>
              <a:t>Explication issue du chapitre : TikTok Creator Rewards, TikTok One, LIVE et cadeaux sont des produits distincts. Une page générale peut ne pas lister tous les pays admissibles. Les conditions françaises Creator Rewards exigent une résidence éligible sans VPN [S03]. Une liste YouTube affiche l’Algérie, le Maroc et le Sénégal, mais pas le Bénin, pour le YPP standard à la date de consultation [S07]. Ce constat ne permet ni d’extrapoler à TikTok ni de garantir l’admission d’un compte.</a:t>
            </a:r>
          </a:p>
          <a:p/>
          <a:p>
            <a:r>
              <a:t>Méthode : Écrivez votre résidence réelle. | Recherchez la page du produit exact. | Notez URL et date. | Vérifiez compte et moyen de paiement. | Marquez « non confirmé » si un critère manque.</a:t>
            </a:r>
          </a:p>
          <a:p/>
          <a:p>
            <a:r>
              <a:t>Exemple du livre : Simulation : un créateur n’organise pas son budget autour d’un programme absent de sa région ; il garde une offre indépendante.</a:t>
            </a:r>
          </a:p>
          <a:p/>
          <a:p>
            <a:r>
              <a:t>Prompt intégral du chapitre : Vérifie [programme] pour [pays réel] avec URL officielle, critères, contenu, paiement, date et inconnues ; ne déduis pas l’éligibilité.</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4 min</a:t>
            </a:r>
          </a:p>
          <a:p>
            <a:r>
              <a:t>ID : S056</a:t>
            </a:r>
          </a:p>
          <a:p/>
          <a:p>
            <a:r>
              <a:t>Faire travailler en binômes. Source : chapitre 32. Exemple fourni par le livre : Simulation : un créateur n’organise pas son budget autour d’un programme absent de sa région ; il garde une offre indépendante. Insister sur la mention « simulation » si vous utilisez cet exemple. Puis demander à chaque participant une trace écrite et une prochaine vérification.</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S057</a:t>
            </a:r>
          </a:p>
          <a:p/>
          <a:p>
            <a:r>
              <a:t>Explication issue du chapitre : Selon l’aide TikTok ouverte, les récompenses estimées figurent dans TikTok Studio et les paiements sont suivis dans Balance ; la page générale indique un seuil de 10 USD ou équivalent et le 15 du mois suivant si les conditions sont réunies [S02]. Une page locale peut différer : lisez les conditions applicables à votre compte. Tenez un registre avec devise, période, frais et justificatif ; ne partagez jamais de codes ou de coordonnées bancaires dans une demande d’aide publique.</a:t>
            </a:r>
          </a:p>
          <a:p/>
          <a:p>
            <a:r>
              <a:t>Méthode : Ouvrez le programme et Balance. | Notez état précis de chaque montant. | Vérifiez seuil et mode régional. | Comparez au relevé reçu. | Contactez le support officiel en cas d’écart.</a:t>
            </a:r>
          </a:p>
          <a:p/>
          <a:p>
            <a:r>
              <a:t>Exemple du livre : Simulation : 100 unités estimées, 80 validées et zéro encaissée ne représentent pas 100 unités reçues.</a:t>
            </a:r>
          </a:p>
          <a:p/>
          <a:p>
            <a:r>
              <a:t>Prompt intégral du chapitre : Classe ces lignes anonymes [montants, dates et statuts] en estimé, validé, payable et reçu ; indique les incohérences sans demander de données confidentielles.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S058</a:t>
            </a:r>
          </a:p>
          <a:p/>
          <a:p>
            <a:r>
              <a:t>Explication issue du chapitre : Pouvoir ouvrir un compte n’implique pas pouvoir recevoir ou retirer. PayPal publie des grilles de frais localisées au Bénin [S10], mais un barème ne prouve pas qu’un compte précis peut encaisser. Gumroad liste le Bénin et plusieurs pays africains pour ses virements locaux [S11] : il faut encore valider identité, banque et conditions du compte. Les pages Chariow consultées divergent sur les commissions [S12] : ne retenez pas un tarif universel. Gardez un registre recettes, remboursements, frais et justificatifs ; demandez à une autorité ou un professionnel local les règles fiscales applicables.</a:t>
            </a:r>
          </a:p>
          <a:p/>
          <a:p>
            <a:r>
              <a:t>Méthode : Vérifiez pays et type de compte. | Contrôlez séparément recevoir et retirer. | Consignez frais, devise et délai. | Testez légalement sur un petit montant si possible. | Documentez et demandez conseil fiscal.</a:t>
            </a:r>
          </a:p>
          <a:p/>
          <a:p>
            <a:r>
              <a:t>Exemple du livre : Simulation : un vendeur voit un bouton de connexion mais refuse de conclure à un retrait possible sans test de son propre compte.</a:t>
            </a:r>
          </a:p>
          <a:p/>
          <a:p>
            <a:r>
              <a:t>Prompt intégral du chapitre : Pour [prestataire/pays], vérifie ouvrir, recevoir, convertir et retirer, avec source officielle, frais et limites distincts. Ne déduis pas une capacité d’une autre.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S059</a:t>
            </a:r>
          </a:p>
          <a:p/>
          <a:p>
            <a:r>
              <a:t>Explication issue du chapitre : L’Afrique francophone ne constitue pas un marché unique. Une enquête ITC/CPCCAF d’avril à juillet 2025 auprès de 5 453 entreprises de 18 pays indique 46 % de répondantes vendant en ligne et environ 83 % des vendeurs en ligne acceptant des paiements électroniques [S13]. Ces proportions décrivent l’échantillon, pas les prospects d’un créateur. Comparez service local, vente directe, produit numérique et partenariats selon coûts, livraison et paiement réellement accessibles.</a:t>
            </a:r>
          </a:p>
          <a:p/>
          <a:p>
            <a:r>
              <a:t>Méthode : Définissez pays et ville. | Identifiez langue et contraintes de connexion. | Vérifiez programme et paiement séparément. | Testez une offre locale. | Mesurez coûts et retours.</a:t>
            </a:r>
          </a:p>
          <a:p/>
          <a:p>
            <a:r>
              <a:t>Exemple du livre : Simulation : un vendeur au Sénégal vérifie sa propre banque sans présumer que la solution d’un ami en Côte d’Ivoire lui convient.</a:t>
            </a:r>
          </a:p>
          <a:p/>
          <a:p>
            <a:r>
              <a:t>Prompt intégral du chapitre : Adapte [offre] à [pays/ville] ; sépare observations locales, données institutionnelles et inconnues. Propose un test sans contournement.</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S060</a:t>
            </a:r>
          </a:p>
          <a:p/>
          <a:p>
            <a:r>
              <a:t>Synthétiser les chapitres 31 à 35. Demander une décision immédiatement réalisable, puis une limite ou une incertitude à vérifier.</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1 min</a:t>
            </a:r>
          </a:p>
          <a:p>
            <a:r>
              <a:t>ID : S061</a:t>
            </a:r>
          </a:p>
          <a:p/>
          <a:p>
            <a:r>
              <a:t>Ouvrir la partie 8. Demander ce que les participants savent déjà, puis introduire les chapitres 36 à 39.</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S062</a:t>
            </a:r>
          </a:p>
          <a:p/>
          <a:p>
            <a:r>
              <a:t>Explication issue du chapitre : Jours 1–7 : compétences, objectif, public, niche provisoire, profil et sécurité. Jours 8–14 : questions, concurrents, quatre piliers, idées et scripts. Jours 15–21 : tournage, son, sous-titres, droits, publication et journal. Jours 22–30 : analyse des séries, correction des hooks, première ressource ou offre simple. Réduisez la cadence si elle nuit à la qualité.</a:t>
            </a:r>
          </a:p>
          <a:p/>
          <a:p>
            <a:r>
              <a:t>Méthode : Bloquez un temps réaliste chaque semaine. | Produisez un livrable par phase. | Consignez sources et coûts. | Faites un bilan écrit au jour 30.</a:t>
            </a:r>
          </a:p>
          <a:p/>
          <a:p>
            <a:r>
              <a:t>Exemple du livre : Simulation : un commerçant réduit sa cadence à deux essais par semaine pour garder le temps de vérifier les commandes.</a:t>
            </a:r>
          </a:p>
          <a:p/>
          <a:p>
            <a:r>
              <a:t>Prompt intégral du chapitre : Bâtis un calendrier 30 jours pour [temps, téléphone, public, pays] avec livrable hebdomadaire, jour de rattrapage et critère d’ajustement. Aucun revenu promis.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S063</a:t>
            </a:r>
          </a:p>
          <a:p/>
          <a:p>
            <a:r>
              <a:t>Explication issue du chapitre : Jours 31–45 : approfondir les thèmes utiles, améliorer l’offre, tester CTA et suivre prospects consentis. Jours 46–60 : documenter fichiers, droits, reporting et une seule automatisation réversible. Si la demande n’est pas démontrée, poursuivez la recherche au lieu d’automatiser la vente. La décision d’arrêter une piste peut être un apprentissage.</a:t>
            </a:r>
          </a:p>
          <a:p/>
          <a:p>
            <a:r>
              <a:t>Méthode : Relisez le bilan du jour 30. | Choisissez une hypothèse. | Testez une offre bornée. | Consignez coûts et frictions. | Documentez le workflow et décidez poursuivre, modifier ou arrêter.</a:t>
            </a:r>
          </a:p>
          <a:p/>
          <a:p>
            <a:r>
              <a:t>Exemple du livre : Simulation : un formateur reçoit des demandes mais peu de commandes ; il clarifie le livrable avant d’acheter un outil.</a:t>
            </a:r>
          </a:p>
          <a:p/>
          <a:p>
            <a:r>
              <a:t>Prompt intégral du chapitre : Analyse [bilan 60 jours] en faits, signaux, incertitudes et coûts ; recommande une seule prochaine décision avec condition d’arrêt.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S064</a:t>
            </a:r>
          </a:p>
          <a:p/>
          <a:p>
            <a:r>
              <a:t>Explication issue du chapitre : Le débutant partage un apprentissage sans s’attribuer une expertise absente. Le commerçant montre produit, dimensions et conditions réelles. Le formateur décompose une notion et cite ses sources. Le freelance montre un portfolio autorisé. Le créateur sans visage emploie voix et schémas originaux, mais garde sa responsabilité éditoriale. Aucun profil ne peut inventer client ou résultat.</a:t>
            </a:r>
          </a:p>
          <a:p/>
          <a:p>
            <a:r>
              <a:t>Méthode : Choisissez le profil qui vous ressemble. | Sélectionnez un problème concret. | Associez une preuve légitime. | Choisissez un format tenable. | Déclarez les simulations.</a:t>
            </a:r>
          </a:p>
          <a:p/>
          <a:p>
            <a:r>
              <a:t>Exemple du livre : Simulation : une passionnée de cuisine partage une recette testée sans se présenter comme nutritionniste.</a:t>
            </a:r>
          </a:p>
          <a:p/>
          <a:p>
            <a:r>
              <a:t>Prompt intégral du chapitre : Adapte [sujet] à mon profil [profil] et mes faits [faits] ; propose format, preuve, CTA et limites, sans identité inventée.</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S065</a:t>
            </a:r>
          </a:p>
          <a:p/>
          <a:p>
            <a:r>
              <a:t>Explication issue du chapitre : Le système relie banque d’idées, brief, script, registre des sources, médias autorisés, calendrier, tableau de suivi, offre et journal de corrections. Même seul, séparez les rôles d’auteur, vérificateur, monteur et responsable de publication. Documentez seulement les étapes qui servent effectivement ; recontrôlez à date fixe les règles variables.</a:t>
            </a:r>
          </a:p>
          <a:p/>
          <a:p>
            <a:r>
              <a:t>Méthode : Dessinez entrée et sortie de chaque étape. | Associez une source aux faits. | Définissez le contrôle avant publication. | Mesurez objectif et coût. | Simplifiez après deux essais.</a:t>
            </a:r>
          </a:p>
          <a:p/>
          <a:p>
            <a:r>
              <a:t>Exemple du livre : Simulation : chaque semaine un créateur utilise le même brief, archive l’export et note l’amélioration pour la semaine suivante.</a:t>
            </a:r>
          </a:p>
          <a:p/>
          <a:p>
            <a:r>
              <a:t>Prompt intégral du chapitre : À partir de [workflow actuel], crée une procédure minimale avec entrées, sorties, rôles, sources, validations et arrêt ; ne présume aucune capacité d’outil.</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S066</a:t>
            </a:r>
          </a:p>
          <a:p/>
          <a:p>
            <a:r>
              <a:t>Synthétiser les chapitres 36 à 39. Demander une décision immédiatement réalisable, puis une limite ou une incertitude à vérifier.</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1 min</a:t>
            </a:r>
          </a:p>
          <a:p>
            <a:r>
              <a:t>ID : S067</a:t>
            </a:r>
          </a:p>
          <a:p/>
          <a:p>
            <a:r>
              <a:t>Six prompts copiables extraits de chapitres identifiés. Le prompt complet est reporté dans les notes de la diapositive, jamais en petits caractères à l’écran.</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S068</a:t>
            </a:r>
          </a:p>
          <a:p/>
          <a:p>
            <a:r>
              <a:t>Prompt complet réellement présent dans le chapitre 1 : À partir de ma tâche [tâche] et de mes données exactes [données], crée une procédure accessible sur téléphone avec entrée, sortie, étapes et contrôles humains. Ne suppose ni faits ni droits.</a:t>
            </a:r>
          </a:p>
          <a:p>
            <a:r>
              <a:t>Objectif : Organiser les tâches d’une personne seule avec le téléphone et l’IA sans confondre assistance et responsabilité.</a:t>
            </a:r>
          </a:p>
          <a:p>
            <a:r>
              <a:t>Erreur à éviter : fournir des faits non vérifiés ou des données personnelles inutiles. Résultat attendu : un brouillon contrôlable.</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S069</a:t>
            </a:r>
          </a:p>
          <a:p/>
          <a:p>
            <a:r>
              <a:t>Prompt complet réellement présent dans le chapitre 5 : Compare [trois niches] pour [public, ville] selon expertise, problème, accès, production, offre et paiement. Distingue preuve et intuition, puis propose trois tests modestes.</a:t>
            </a:r>
          </a:p>
          <a:p>
            <a:r>
              <a:t>Objectif : Choisir un public, un problème et un angle testables.</a:t>
            </a:r>
          </a:p>
          <a:p>
            <a:r>
              <a:t>Erreur à éviter : fournir des faits non vérifiés ou des données personnelles inutiles. Résultat attendu : un brouillon contrôlable.</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S070</a:t>
            </a:r>
          </a:p>
          <a:p/>
          <a:p>
            <a:r>
              <a:t>Prompt complet réellement présent dans le chapitre 12 : Écris pour [public] un script original de [durée] sur [sujet], avec hook honnête, preuve [source], exemple déclaré, limite, plans et CTA unique.</a:t>
            </a:r>
          </a:p>
          <a:p>
            <a:r>
              <a:t>Objectif : Écrire une ouverture honnête et une démonstration qui tient sa promesse.</a:t>
            </a:r>
          </a:p>
          <a:p>
            <a:r>
              <a:t>Erreur à éviter : fournir des faits non vérifiés ou des données personnelles inutiles. Résultat attendu : un brouillon contrôlable.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S071</a:t>
            </a:r>
          </a:p>
          <a:p/>
          <a:p>
            <a:r>
              <a:t>Prompt complet réellement présent dans le chapitre 17 : Pour [SEGMENT_001] et [script], fournis entrées, opérations, fichiers prévus, contrôle technique et solution manuelle ; ne simule pas un export.</a:t>
            </a:r>
          </a:p>
          <a:p>
            <a:r>
              <a:t>Objectif : Tester une chaîne vidéo segmentée avant de produire en série.</a:t>
            </a:r>
          </a:p>
          <a:p>
            <a:r>
              <a:t>Erreur à éviter : fournir des faits non vérifiés ou des données personnelles inutiles. Résultat attendu : un brouillon contrôlable.</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S072</a:t>
            </a:r>
          </a:p>
          <a:p/>
          <a:p>
            <a:r>
              <a:t>Prompt complet réellement présent dans le chapitre 20 : Pour [tableau], calcule seulement les ratios aux dénominateurs connus ; distingue observations, hypothèses et données absentes.</a:t>
            </a:r>
          </a:p>
          <a:p>
            <a:r>
              <a:t>Objectif : Lire des indicateurs selon leur définition plutôt que selon leur taille.</a:t>
            </a:r>
          </a:p>
          <a:p>
            <a:r>
              <a:t>Erreur à éviter : fournir des faits non vérifiés ou des données personnelles inutiles. Résultat attendu : un brouillon contrôlable.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S073</a:t>
            </a:r>
          </a:p>
          <a:p/>
          <a:p>
            <a:r>
              <a:t>Prompt complet réellement présent dans le chapitre 25 : Structure une offre pilote pour [public/problème] à partir de [livrable/prix fournis par moi] ; liste coûts, limites et questions locales ; ne garantis aucun résultat externe.</a:t>
            </a:r>
          </a:p>
          <a:p>
            <a:r>
              <a:t>Objectif : Passer d’une relation utile à un livrable commercial clair.</a:t>
            </a:r>
          </a:p>
          <a:p>
            <a:r>
              <a:t>Erreur à éviter : fournir des faits non vérifiés ou des données personnelles inutiles. Résultat attendu : un brouillon contrôlable.</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1 min</a:t>
            </a:r>
          </a:p>
          <a:p>
            <a:r>
              <a:t>ID : S074</a:t>
            </a:r>
          </a:p>
          <a:p/>
          <a:p>
            <a:r>
              <a:t>Ces repères proviennent de pages officielles ouvertes le 28 septembre 2026. Ils décrivent des programmes et des pays, pas une promesse de revenu. À recontrôler avant chaque usage.</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3 min</a:t>
            </a:r>
          </a:p>
          <a:p>
            <a:r>
              <a:t>ID : S075</a:t>
            </a:r>
          </a:p>
          <a:p/>
          <a:p>
            <a:r>
              <a:t>Source officielle ouverte le 28/09/2026 : TikTok Support — Creator Rewards Program. Éligibilité au programme ne garantit pas récompense ; vérifier pays, tableau de bord, contenu après inscription et vues qualifiées. Ne jamais contourner la résidence.</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S076</a:t>
            </a:r>
          </a:p>
          <a:p/>
          <a:p>
            <a:r>
              <a:t>La page générale TikTok « How rewards work » annonce un seuil de 10 USD ou équivalent et le 15 du mois suivant dans ses conditions décrites, mais les règles régionales et le compte priment. Ce deck évite de faire du seuil une règle universelle. Pages officielles ouvertes le 28/09/2026.</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3 min</a:t>
            </a:r>
          </a:p>
          <a:p>
            <a:r>
              <a:t>ID : S077</a:t>
            </a:r>
          </a:p>
          <a:p/>
          <a:p>
            <a:r>
              <a:t>En vigueur à la date de vérification : 1 000 abonnés + 4 000 heures qualifiées sur 12 mois ou 10 millions de vues Shorts qualifiées sur 90 jours. Un changement au 01/02/2027 est annoncé (8 000 h/365 jours ou 20 M Shorts/90 jours pour nouveaux candidats). Ne pas présenter ces derniers comme critères actuels. Vérifier YouTube Studio et disponibilité nationale.</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3 min</a:t>
            </a:r>
          </a:p>
          <a:p>
            <a:r>
              <a:t>ID : S078</a:t>
            </a:r>
          </a:p>
          <a:p/>
          <a:p>
            <a:r>
              <a:t>S’appuyer sur chapitres 34–35. Gumroad affiche des versements bancaires locaux dans certains pays dont le Bénin ; cette liste ne garantit pas un compte, une banque ou une vente. N’utiliser aucune fausse résidence.</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1 min</a:t>
            </a:r>
          </a:p>
          <a:p>
            <a:r>
              <a:t>ID : S079</a:t>
            </a:r>
          </a:p>
          <a:p/>
          <a:p>
            <a:r>
              <a:t>Transformer la formation en décisions datées, avec des contrôles qualité avant publication.</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3 min</a:t>
            </a:r>
          </a:p>
          <a:p>
            <a:r>
              <a:t>ID : S080</a:t>
            </a:r>
          </a:p>
          <a:p/>
          <a:p>
            <a:r>
              <a:t>Le calendrier est une suggestion de travail, pas un seuil de réussite. Faire choisir un livrable par semaine ; réduire la cadence si le contrôle qualité souffre.</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3 min</a:t>
            </a:r>
          </a:p>
          <a:p>
            <a:r>
              <a:t>ID : S081</a:t>
            </a:r>
          </a:p>
          <a:p/>
          <a:p>
            <a:r>
              <a:t>Ce sont les 30 jours supplémentaires qui suivent les jours 1–30, non 60 jours supplémentaires. La décision de pivoter ou arrêter est acceptable.</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S082</a:t>
            </a:r>
          </a:p>
          <a:p/>
          <a:p>
            <a:r>
              <a:t>La checklist est issue des chapitres 14, 16, 24 et de l’annexe D. Une publication commerciale peut exiger un réglage de divulgation selon la plateforme.</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S083</a:t>
            </a:r>
          </a:p>
          <a:p/>
          <a:p>
            <a:r>
              <a:t>Faire remplir une fiche : « Je peux aider [public] à [tâche] en produisant [contenu] ; je vérifierai [fait/droit] et mesurerai [indicateur défini]. » Ne promettre aucun revenu.</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MINUTAGE : 2 min</a:t>
            </a:r>
          </a:p>
          <a:p>
            <a:r>
              <a:t>ID : S084</a:t>
            </a:r>
          </a:p>
          <a:p/>
          <a:p>
            <a:r>
              <a:t>Liens et périmètres dans BELIVE_MONEY_credits_sources_images.md. Sources consultées le 28/09/2026. Vérifier de nouveau le produit précis et la région réelle avant tout usage. Aucun logo, screenshot ou photographie externe utilisé.</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descr="Élément graphique décoratif, sans information propr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descr="Repère décoratif vertical"/>
          <p:cNvSpPr/>
          <p:nvPr/>
        </p:nvSpPr>
        <p:spPr>
          <a:xfrm>
            <a:off x="822960" y="1371600"/>
            <a:ext cx="146304" cy="283464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descr="Titre : BELIVE MONEY"/>
          <p:cNvSpPr txBox="1"/>
          <p:nvPr/>
        </p:nvSpPr>
        <p:spPr>
          <a:xfrm>
            <a:off x="1280160" y="1325880"/>
            <a:ext cx="9601200" cy="1371600"/>
          </a:xfrm>
          <a:prstGeom prst="rect">
            <a:avLst/>
          </a:prstGeom>
          <a:noFill/>
        </p:spPr>
        <p:txBody>
          <a:bodyPr wrap="square" lIns="0" rIns="0" tIns="0" bIns="0" anchor="t">
            <a:spAutoFit/>
          </a:bodyPr>
          <a:lstStyle/>
          <a:p>
            <a:pPr algn="l">
              <a:lnSpc>
                <a:spcPct val="106000"/>
              </a:lnSpc>
            </a:pPr>
            <a:r>
              <a:rPr sz="7200" b="1" i="0">
                <a:solidFill>
                  <a:srgbClr val="F2F6FC"/>
                </a:solidFill>
                <a:latin typeface="Arial"/>
              </a:rPr>
              <a:t>BELIVE MONEY</a:t>
            </a:r>
          </a:p>
        </p:txBody>
      </p:sp>
      <p:sp>
        <p:nvSpPr>
          <p:cNvPr id="6" name="TextBox 5" descr="Sous-titre : SYSTÈME CRÉATEUR IA"/>
          <p:cNvSpPr txBox="1"/>
          <p:nvPr/>
        </p:nvSpPr>
        <p:spPr>
          <a:xfrm>
            <a:off x="1280160" y="2788920"/>
            <a:ext cx="9601200" cy="640080"/>
          </a:xfrm>
          <a:prstGeom prst="rect">
            <a:avLst/>
          </a:prstGeom>
          <a:noFill/>
        </p:spPr>
        <p:txBody>
          <a:bodyPr wrap="square" lIns="0" rIns="0" tIns="0" bIns="0" anchor="t">
            <a:spAutoFit/>
          </a:bodyPr>
          <a:lstStyle/>
          <a:p>
            <a:pPr algn="l">
              <a:lnSpc>
                <a:spcPct val="112000"/>
              </a:lnSpc>
            </a:pPr>
            <a:r>
              <a:rPr sz="3000" b="1" i="0">
                <a:solidFill>
                  <a:srgbClr val="22D3EE"/>
                </a:solidFill>
                <a:latin typeface="Arial"/>
              </a:rPr>
              <a:t>SYSTÈME CRÉATEUR IA</a:t>
            </a:r>
          </a:p>
        </p:txBody>
      </p:sp>
      <p:sp>
        <p:nvSpPr>
          <p:cNvPr id="7" name="TextBox 6" descr="Mention de source et de date de vérification"/>
          <p:cNvSpPr txBox="1"/>
          <p:nvPr/>
        </p:nvSpPr>
        <p:spPr>
          <a:xfrm>
            <a:off x="1280160" y="3611880"/>
            <a:ext cx="9144000" cy="1097280"/>
          </a:xfrm>
          <a:prstGeom prst="rect">
            <a:avLst/>
          </a:prstGeom>
          <a:noFill/>
        </p:spPr>
        <p:txBody>
          <a:bodyPr wrap="square" lIns="0" rIns="0" tIns="0" bIns="0" anchor="t">
            <a:spAutoFit/>
          </a:bodyPr>
          <a:lstStyle/>
          <a:p>
            <a:pPr algn="l">
              <a:lnSpc>
                <a:spcPct val="112000"/>
              </a:lnSpc>
            </a:pPr>
            <a:r>
              <a:rPr sz="1400" b="0" i="0">
                <a:solidFill>
                  <a:srgbClr val="9FB0CC"/>
                </a:solidFill>
                <a:latin typeface="Arial"/>
              </a:rPr>
              <a:t>Formation bâtie sur le manuscrit illustré adapté (DOCX) disponible dans le dépôt.</a:t>
            </a:r>
          </a:p>
          <a:p>
            <a:pPr algn="l">
              <a:lnSpc>
                <a:spcPct val="112000"/>
              </a:lnSpc>
            </a:pPr>
            <a:r>
              <a:rPr sz="1400" b="0" i="0">
                <a:solidFill>
                  <a:srgbClr val="9FB0CC"/>
                </a:solidFill>
                <a:latin typeface="Arial"/>
              </a:rPr>
              <a:t>Repères évolutifs revérifiés sur les pages officielles le 28 septembre 2026.</a:t>
            </a:r>
          </a:p>
        </p:txBody>
      </p:sp>
      <p:sp>
        <p:nvSpPr>
          <p:cNvPr id="8" name="TextBox 7" descr="Mention : palette proposée, sans charte officielle"/>
          <p:cNvSpPr txBox="1"/>
          <p:nvPr/>
        </p:nvSpPr>
        <p:spPr>
          <a:xfrm>
            <a:off x="1280160" y="5074920"/>
            <a:ext cx="9144000" cy="457200"/>
          </a:xfrm>
          <a:prstGeom prst="rect">
            <a:avLst/>
          </a:prstGeom>
          <a:noFill/>
        </p:spPr>
        <p:txBody>
          <a:bodyPr wrap="square" lIns="0" rIns="0" tIns="0" bIns="0" anchor="t">
            <a:spAutoFit/>
          </a:bodyPr>
          <a:lstStyle/>
          <a:p>
            <a:pPr algn="l">
              <a:lnSpc>
                <a:spcPct val="112000"/>
              </a:lnSpc>
            </a:pPr>
            <a:r>
              <a:rPr sz="1200" b="0" i="1">
                <a:solidFill>
                  <a:srgbClr val="9FB0CC"/>
                </a:solidFill>
                <a:latin typeface="Arial"/>
              </a:rPr>
              <a:t>Direction artistique proposée : bleu nuit · cyan · violet — non officielle.</a:t>
            </a:r>
          </a:p>
        </p:txBody>
      </p:sp>
      <p:sp>
        <p:nvSpPr>
          <p:cNvPr id="9" name="Rounded Rectangle 8" descr="Élément graphique décoratif, sans information propre"/>
          <p:cNvSpPr/>
          <p:nvPr/>
        </p:nvSpPr>
        <p:spPr>
          <a:xfrm>
            <a:off x="0" y="0"/>
            <a:ext cx="201168" cy="6858000"/>
          </a:xfrm>
          <a:prstGeom prst="round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descr="Référence de source affichée en pied de diapositive : Couverture et introduction du DOCX adapté"/>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Couverture et introduction du DOCX adapté</a:t>
            </a:r>
          </a:p>
        </p:txBody>
      </p:sp>
      <p:sp>
        <p:nvSpPr>
          <p:cNvPr id="11" name="TextBox 10" descr="Numéro de diapositive 1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01 / 84  ·  2 min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Cadre de la formation"/>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22D3EE"/>
                </a:solidFill>
                <a:latin typeface="Arial"/>
              </a:rPr>
              <a:t>CADRE DE LA FORMATION</a:t>
            </a:r>
          </a:p>
        </p:txBody>
      </p:sp>
      <p:sp>
        <p:nvSpPr>
          <p:cNvPr id="4" name="TextBox 3" descr="Titre : Une méthode, pas une promesse"/>
          <p:cNvSpPr txBox="1"/>
          <p:nvPr/>
        </p:nvSpPr>
        <p:spPr>
          <a:xfrm>
            <a:off x="566928" y="914400"/>
            <a:ext cx="11064240" cy="914400"/>
          </a:xfrm>
          <a:prstGeom prst="rect">
            <a:avLst/>
          </a:prstGeom>
          <a:noFill/>
        </p:spPr>
        <p:txBody>
          <a:bodyPr wrap="square" lIns="0" rIns="0" tIns="0" bIns="0" anchor="t">
            <a:spAutoFit/>
          </a:bodyPr>
          <a:lstStyle/>
          <a:p>
            <a:pPr algn="l">
              <a:lnSpc>
                <a:spcPct val="106000"/>
              </a:lnSpc>
            </a:pPr>
            <a:r>
              <a:rPr sz="4000" b="1" i="0">
                <a:solidFill>
                  <a:srgbClr val="F2F6FC"/>
                </a:solidFill>
                <a:latin typeface="Arial"/>
              </a:rPr>
              <a:t>Une méthode, pas une promesse</a:t>
            </a:r>
          </a:p>
        </p:txBody>
      </p:sp>
      <p:sp>
        <p:nvSpPr>
          <p:cNvPr id="5" name="TextBox 4" descr="Sous-titre : Aucune garantie de viralité, de revenu ou de monétisation"/>
          <p:cNvSpPr txBox="1"/>
          <p:nvPr/>
        </p:nvSpPr>
        <p:spPr>
          <a:xfrm>
            <a:off x="566928" y="1783080"/>
            <a:ext cx="11064240" cy="457200"/>
          </a:xfrm>
          <a:prstGeom prst="rect">
            <a:avLst/>
          </a:prstGeom>
          <a:noFill/>
        </p:spPr>
        <p:txBody>
          <a:bodyPr wrap="square" lIns="0" rIns="0" tIns="0" bIns="0" anchor="t">
            <a:spAutoFit/>
          </a:bodyPr>
          <a:lstStyle/>
          <a:p>
            <a:pPr algn="l">
              <a:lnSpc>
                <a:spcPct val="112000"/>
              </a:lnSpc>
            </a:pPr>
            <a:r>
              <a:rPr sz="1900" b="1" i="0">
                <a:solidFill>
                  <a:srgbClr val="22D3EE"/>
                </a:solidFill>
                <a:latin typeface="Arial"/>
              </a:rPr>
              <a:t>Aucune garantie de viralité, de revenu ou de monétisation</a:t>
            </a:r>
          </a:p>
        </p:txBody>
      </p:sp>
      <p:sp>
        <p:nvSpPr>
          <p:cNvPr id="6" name="Rounded Rectangle 5" descr="Engagement de méthode. Carte 1 : Tester avec les moyens disponibles"/>
          <p:cNvSpPr/>
          <p:nvPr/>
        </p:nvSpPr>
        <p:spPr>
          <a:xfrm>
            <a:off x="566928" y="2514600"/>
            <a:ext cx="3541775" cy="228600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de section"/>
          <p:cNvSpPr/>
          <p:nvPr/>
        </p:nvSpPr>
        <p:spPr>
          <a:xfrm>
            <a:off x="566928" y="2514600"/>
            <a:ext cx="3541775" cy="82296"/>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Texte de la carte 1 : Tester avec les moyens disponibles"/>
          <p:cNvSpPr txBox="1"/>
          <p:nvPr/>
        </p:nvSpPr>
        <p:spPr>
          <a:xfrm>
            <a:off x="768096" y="2898648"/>
            <a:ext cx="3139440" cy="1737360"/>
          </a:xfrm>
          <a:prstGeom prst="rect">
            <a:avLst/>
          </a:prstGeom>
          <a:noFill/>
        </p:spPr>
        <p:txBody>
          <a:bodyPr wrap="square" lIns="0" rIns="0" tIns="0" bIns="0" anchor="t">
            <a:spAutoFit/>
          </a:bodyPr>
          <a:lstStyle/>
          <a:p>
            <a:pPr algn="l">
              <a:lnSpc>
                <a:spcPct val="112000"/>
              </a:lnSpc>
            </a:pPr>
            <a:r>
              <a:rPr sz="1700" b="0" i="0">
                <a:solidFill>
                  <a:srgbClr val="F2F6FC"/>
                </a:solidFill>
                <a:latin typeface="Arial"/>
              </a:rPr>
              <a:t>Tester avec les moyens disponibles</a:t>
            </a:r>
          </a:p>
        </p:txBody>
      </p:sp>
      <p:sp>
        <p:nvSpPr>
          <p:cNvPr id="9" name="TextBox 8" descr="Numéro 1"/>
          <p:cNvSpPr txBox="1"/>
          <p:nvPr/>
        </p:nvSpPr>
        <p:spPr>
          <a:xfrm>
            <a:off x="768096" y="4233672"/>
            <a:ext cx="658368" cy="365760"/>
          </a:xfrm>
          <a:prstGeom prst="rect">
            <a:avLst/>
          </a:prstGeom>
          <a:noFill/>
        </p:spPr>
        <p:txBody>
          <a:bodyPr wrap="square" lIns="0" rIns="0" tIns="0" bIns="0" anchor="t">
            <a:spAutoFit/>
          </a:bodyPr>
          <a:lstStyle/>
          <a:p>
            <a:pPr algn="l">
              <a:lnSpc>
                <a:spcPct val="112000"/>
              </a:lnSpc>
            </a:pPr>
            <a:r>
              <a:rPr sz="1500" b="1" i="0">
                <a:solidFill>
                  <a:srgbClr val="22D3EE"/>
                </a:solidFill>
                <a:latin typeface="Arial"/>
              </a:rPr>
              <a:t>01</a:t>
            </a:r>
          </a:p>
        </p:txBody>
      </p:sp>
      <p:sp>
        <p:nvSpPr>
          <p:cNvPr id="10" name="Rounded Rectangle 9" descr="Engagement de méthode. Carte 2 : Documenter les faits et les droits"/>
          <p:cNvSpPr/>
          <p:nvPr/>
        </p:nvSpPr>
        <p:spPr>
          <a:xfrm>
            <a:off x="4328160" y="2514600"/>
            <a:ext cx="3541775" cy="228600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de section"/>
          <p:cNvSpPr/>
          <p:nvPr/>
        </p:nvSpPr>
        <p:spPr>
          <a:xfrm>
            <a:off x="4328160" y="2514600"/>
            <a:ext cx="3541775" cy="82296"/>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Texte de la carte 2 : Documenter les faits et les droits"/>
          <p:cNvSpPr txBox="1"/>
          <p:nvPr/>
        </p:nvSpPr>
        <p:spPr>
          <a:xfrm>
            <a:off x="4529328" y="2898648"/>
            <a:ext cx="3139440" cy="1737360"/>
          </a:xfrm>
          <a:prstGeom prst="rect">
            <a:avLst/>
          </a:prstGeom>
          <a:noFill/>
        </p:spPr>
        <p:txBody>
          <a:bodyPr wrap="square" lIns="0" rIns="0" tIns="0" bIns="0" anchor="t">
            <a:spAutoFit/>
          </a:bodyPr>
          <a:lstStyle/>
          <a:p>
            <a:pPr algn="l">
              <a:lnSpc>
                <a:spcPct val="112000"/>
              </a:lnSpc>
            </a:pPr>
            <a:r>
              <a:rPr sz="1700" b="0" i="0">
                <a:solidFill>
                  <a:srgbClr val="F2F6FC"/>
                </a:solidFill>
                <a:latin typeface="Arial"/>
              </a:rPr>
              <a:t>Documenter les faits et les droits</a:t>
            </a:r>
          </a:p>
        </p:txBody>
      </p:sp>
      <p:sp>
        <p:nvSpPr>
          <p:cNvPr id="13" name="TextBox 12" descr="Numéro 2"/>
          <p:cNvSpPr txBox="1"/>
          <p:nvPr/>
        </p:nvSpPr>
        <p:spPr>
          <a:xfrm>
            <a:off x="4529328" y="4233672"/>
            <a:ext cx="658368" cy="365760"/>
          </a:xfrm>
          <a:prstGeom prst="rect">
            <a:avLst/>
          </a:prstGeom>
          <a:noFill/>
        </p:spPr>
        <p:txBody>
          <a:bodyPr wrap="square" lIns="0" rIns="0" tIns="0" bIns="0" anchor="t">
            <a:spAutoFit/>
          </a:bodyPr>
          <a:lstStyle/>
          <a:p>
            <a:pPr algn="l">
              <a:lnSpc>
                <a:spcPct val="112000"/>
              </a:lnSpc>
            </a:pPr>
            <a:r>
              <a:rPr sz="1500" b="1" i="0">
                <a:solidFill>
                  <a:srgbClr val="22D3EE"/>
                </a:solidFill>
                <a:latin typeface="Arial"/>
              </a:rPr>
              <a:t>02</a:t>
            </a:r>
          </a:p>
        </p:txBody>
      </p:sp>
      <p:sp>
        <p:nvSpPr>
          <p:cNvPr id="14" name="Rounded Rectangle 13" descr="Engagement de méthode. Carte 3 : Choisir une offre réellement livrable"/>
          <p:cNvSpPr/>
          <p:nvPr/>
        </p:nvSpPr>
        <p:spPr>
          <a:xfrm>
            <a:off x="8089391" y="2514600"/>
            <a:ext cx="3541775" cy="228600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Repère décoratif de section"/>
          <p:cNvSpPr/>
          <p:nvPr/>
        </p:nvSpPr>
        <p:spPr>
          <a:xfrm>
            <a:off x="8089391" y="2514600"/>
            <a:ext cx="3541775" cy="82296"/>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Texte de la carte 3 : Choisir une offre réellement livrable"/>
          <p:cNvSpPr txBox="1"/>
          <p:nvPr/>
        </p:nvSpPr>
        <p:spPr>
          <a:xfrm>
            <a:off x="8290560" y="2898648"/>
            <a:ext cx="3139440" cy="1737360"/>
          </a:xfrm>
          <a:prstGeom prst="rect">
            <a:avLst/>
          </a:prstGeom>
          <a:noFill/>
        </p:spPr>
        <p:txBody>
          <a:bodyPr wrap="square" lIns="0" rIns="0" tIns="0" bIns="0" anchor="t">
            <a:spAutoFit/>
          </a:bodyPr>
          <a:lstStyle/>
          <a:p>
            <a:pPr algn="l">
              <a:lnSpc>
                <a:spcPct val="112000"/>
              </a:lnSpc>
            </a:pPr>
            <a:r>
              <a:rPr sz="1700" b="0" i="0">
                <a:solidFill>
                  <a:srgbClr val="F2F6FC"/>
                </a:solidFill>
                <a:latin typeface="Arial"/>
              </a:rPr>
              <a:t>Choisir une offre réellement livrable</a:t>
            </a:r>
          </a:p>
        </p:txBody>
      </p:sp>
      <p:sp>
        <p:nvSpPr>
          <p:cNvPr id="17" name="TextBox 16" descr="Numéro 3"/>
          <p:cNvSpPr txBox="1"/>
          <p:nvPr/>
        </p:nvSpPr>
        <p:spPr>
          <a:xfrm>
            <a:off x="8290560" y="4233672"/>
            <a:ext cx="658368" cy="365760"/>
          </a:xfrm>
          <a:prstGeom prst="rect">
            <a:avLst/>
          </a:prstGeom>
          <a:noFill/>
        </p:spPr>
        <p:txBody>
          <a:bodyPr wrap="square" lIns="0" rIns="0" tIns="0" bIns="0" anchor="t">
            <a:spAutoFit/>
          </a:bodyPr>
          <a:lstStyle/>
          <a:p>
            <a:pPr algn="l">
              <a:lnSpc>
                <a:spcPct val="112000"/>
              </a:lnSpc>
            </a:pPr>
            <a:r>
              <a:rPr sz="1500" b="1" i="0">
                <a:solidFill>
                  <a:srgbClr val="22D3EE"/>
                </a:solidFill>
                <a:latin typeface="Arial"/>
              </a:rPr>
              <a:t>03</a:t>
            </a:r>
          </a:p>
        </p:txBody>
      </p:sp>
      <p:sp>
        <p:nvSpPr>
          <p:cNvPr id="18" name="Rounded Rectangle 17" descr="Élément graphique décoratif, sans information propre"/>
          <p:cNvSpPr/>
          <p:nvPr/>
        </p:nvSpPr>
        <p:spPr>
          <a:xfrm>
            <a:off x="0" y="0"/>
            <a:ext cx="201168" cy="6858000"/>
          </a:xfrm>
          <a:prstGeom prst="round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descr="Référence de source affichée en pied de diapositive : Copyright, avertissement et introduction"/>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Copyright, avertissement et introduction</a:t>
            </a:r>
          </a:p>
        </p:txBody>
      </p:sp>
      <p:sp>
        <p:nvSpPr>
          <p:cNvPr id="20" name="TextBox 19" descr="Numéro de diapositive 2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02 / 84  ·  2 min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Fil conducteur"/>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22D3EE"/>
                </a:solidFill>
                <a:latin typeface="Arial"/>
              </a:rPr>
              <a:t>FIL CONDUCTEUR</a:t>
            </a:r>
          </a:p>
        </p:txBody>
      </p:sp>
      <p:sp>
        <p:nvSpPr>
          <p:cNvPr id="4" name="TextBox 3" descr="Titre : Le système créateur en huit décisions"/>
          <p:cNvSpPr txBox="1"/>
          <p:nvPr/>
        </p:nvSpPr>
        <p:spPr>
          <a:xfrm>
            <a:off x="566928" y="914400"/>
            <a:ext cx="11064240" cy="822960"/>
          </a:xfrm>
          <a:prstGeom prst="rect">
            <a:avLst/>
          </a:prstGeom>
          <a:noFill/>
        </p:spPr>
        <p:txBody>
          <a:bodyPr wrap="square" lIns="0" rIns="0" tIns="0" bIns="0" anchor="t">
            <a:spAutoFit/>
          </a:bodyPr>
          <a:lstStyle/>
          <a:p>
            <a:pPr algn="l">
              <a:lnSpc>
                <a:spcPct val="106000"/>
              </a:lnSpc>
            </a:pPr>
            <a:r>
              <a:rPr sz="4000" b="1" i="0">
                <a:solidFill>
                  <a:srgbClr val="F2F6FC"/>
                </a:solidFill>
                <a:latin typeface="Arial"/>
              </a:rPr>
              <a:t>Le système créateur en huit décisions</a:t>
            </a:r>
          </a:p>
        </p:txBody>
      </p:sp>
      <p:sp>
        <p:nvSpPr>
          <p:cNvPr id="5" name="Rounded Rectangle 4" descr="Étape 1 du fil conducteur : Compétence"/>
          <p:cNvSpPr/>
          <p:nvPr/>
        </p:nvSpPr>
        <p:spPr>
          <a:xfrm>
            <a:off x="566928" y="1975104"/>
            <a:ext cx="2542032" cy="118872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descr="Repère décoratif"/>
          <p:cNvSpPr/>
          <p:nvPr/>
        </p:nvSpPr>
        <p:spPr>
          <a:xfrm>
            <a:off x="566928" y="1975104"/>
            <a:ext cx="2542032" cy="7315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descr="Numéro d'étape 1"/>
          <p:cNvSpPr txBox="1"/>
          <p:nvPr/>
        </p:nvSpPr>
        <p:spPr>
          <a:xfrm>
            <a:off x="731520" y="2121408"/>
            <a:ext cx="365760" cy="274320"/>
          </a:xfrm>
          <a:prstGeom prst="rect">
            <a:avLst/>
          </a:prstGeom>
          <a:noFill/>
        </p:spPr>
        <p:txBody>
          <a:bodyPr wrap="square" lIns="0" rIns="0" tIns="0" bIns="0" anchor="t">
            <a:spAutoFit/>
          </a:bodyPr>
          <a:lstStyle/>
          <a:p>
            <a:pPr algn="l">
              <a:lnSpc>
                <a:spcPct val="112000"/>
              </a:lnSpc>
            </a:pPr>
            <a:r>
              <a:rPr sz="1200" b="1" i="0">
                <a:solidFill>
                  <a:srgbClr val="22D3EE"/>
                </a:solidFill>
                <a:latin typeface="Arial"/>
              </a:rPr>
              <a:t>01</a:t>
            </a:r>
          </a:p>
        </p:txBody>
      </p:sp>
      <p:sp>
        <p:nvSpPr>
          <p:cNvPr id="8" name="TextBox 7" descr="Texte de l'étape 1 : Compétence"/>
          <p:cNvSpPr txBox="1"/>
          <p:nvPr/>
        </p:nvSpPr>
        <p:spPr>
          <a:xfrm>
            <a:off x="731520" y="2404872"/>
            <a:ext cx="2212848" cy="685800"/>
          </a:xfrm>
          <a:prstGeom prst="rect">
            <a:avLst/>
          </a:prstGeom>
          <a:noFill/>
        </p:spPr>
        <p:txBody>
          <a:bodyPr wrap="square" lIns="0" rIns="0" tIns="0" bIns="0" anchor="ctr">
            <a:spAutoFit/>
          </a:bodyPr>
          <a:lstStyle/>
          <a:p>
            <a:pPr algn="l">
              <a:lnSpc>
                <a:spcPct val="112000"/>
              </a:lnSpc>
            </a:pPr>
            <a:r>
              <a:rPr sz="1700" b="1" i="0">
                <a:solidFill>
                  <a:srgbClr val="F2F6FC"/>
                </a:solidFill>
                <a:latin typeface="Arial"/>
              </a:rPr>
              <a:t>Compétence</a:t>
            </a:r>
          </a:p>
        </p:txBody>
      </p:sp>
      <p:sp>
        <p:nvSpPr>
          <p:cNvPr id="9" name="Right Arrow 8" descr="Flèche vers l'étape 2"/>
          <p:cNvSpPr/>
          <p:nvPr/>
        </p:nvSpPr>
        <p:spPr>
          <a:xfrm>
            <a:off x="3168396" y="2468880"/>
            <a:ext cx="182880" cy="201168"/>
          </a:xfrm>
          <a:prstGeom prst="rightArrow">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descr="Étape 2 du fil conducteur : Niche"/>
          <p:cNvSpPr/>
          <p:nvPr/>
        </p:nvSpPr>
        <p:spPr>
          <a:xfrm>
            <a:off x="3410712" y="1975104"/>
            <a:ext cx="2542032" cy="118872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p:cNvSpPr/>
          <p:nvPr/>
        </p:nvSpPr>
        <p:spPr>
          <a:xfrm>
            <a:off x="3410712" y="1975104"/>
            <a:ext cx="2542032" cy="7315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Numéro d'étape 2"/>
          <p:cNvSpPr txBox="1"/>
          <p:nvPr/>
        </p:nvSpPr>
        <p:spPr>
          <a:xfrm>
            <a:off x="3575304" y="2121408"/>
            <a:ext cx="365760" cy="274320"/>
          </a:xfrm>
          <a:prstGeom prst="rect">
            <a:avLst/>
          </a:prstGeom>
          <a:noFill/>
        </p:spPr>
        <p:txBody>
          <a:bodyPr wrap="square" lIns="0" rIns="0" tIns="0" bIns="0" anchor="t">
            <a:spAutoFit/>
          </a:bodyPr>
          <a:lstStyle/>
          <a:p>
            <a:pPr algn="l">
              <a:lnSpc>
                <a:spcPct val="112000"/>
              </a:lnSpc>
            </a:pPr>
            <a:r>
              <a:rPr sz="1200" b="1" i="0">
                <a:solidFill>
                  <a:srgbClr val="22D3EE"/>
                </a:solidFill>
                <a:latin typeface="Arial"/>
              </a:rPr>
              <a:t>02</a:t>
            </a:r>
          </a:p>
        </p:txBody>
      </p:sp>
      <p:sp>
        <p:nvSpPr>
          <p:cNvPr id="13" name="TextBox 12" descr="Texte de l'étape 2 : Niche"/>
          <p:cNvSpPr txBox="1"/>
          <p:nvPr/>
        </p:nvSpPr>
        <p:spPr>
          <a:xfrm>
            <a:off x="3575304" y="2404872"/>
            <a:ext cx="2212848" cy="685800"/>
          </a:xfrm>
          <a:prstGeom prst="rect">
            <a:avLst/>
          </a:prstGeom>
          <a:noFill/>
        </p:spPr>
        <p:txBody>
          <a:bodyPr wrap="square" lIns="0" rIns="0" tIns="0" bIns="0" anchor="ctr">
            <a:spAutoFit/>
          </a:bodyPr>
          <a:lstStyle/>
          <a:p>
            <a:pPr algn="l">
              <a:lnSpc>
                <a:spcPct val="112000"/>
              </a:lnSpc>
            </a:pPr>
            <a:r>
              <a:rPr sz="1700" b="1" i="0">
                <a:solidFill>
                  <a:srgbClr val="F2F6FC"/>
                </a:solidFill>
                <a:latin typeface="Arial"/>
              </a:rPr>
              <a:t>Niche</a:t>
            </a:r>
          </a:p>
        </p:txBody>
      </p:sp>
      <p:sp>
        <p:nvSpPr>
          <p:cNvPr id="14" name="Right Arrow 13" descr="Flèche vers l'étape 3"/>
          <p:cNvSpPr/>
          <p:nvPr/>
        </p:nvSpPr>
        <p:spPr>
          <a:xfrm>
            <a:off x="6012180" y="2468880"/>
            <a:ext cx="182880" cy="201168"/>
          </a:xfrm>
          <a:prstGeom prst="rightArrow">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descr="Étape 3 du fil conducteur : Audience"/>
          <p:cNvSpPr/>
          <p:nvPr/>
        </p:nvSpPr>
        <p:spPr>
          <a:xfrm>
            <a:off x="6254496" y="1975104"/>
            <a:ext cx="2542032" cy="118872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descr="Repère décoratif"/>
          <p:cNvSpPr/>
          <p:nvPr/>
        </p:nvSpPr>
        <p:spPr>
          <a:xfrm>
            <a:off x="6254496" y="1975104"/>
            <a:ext cx="2542032" cy="7315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descr="Numéro d'étape 3"/>
          <p:cNvSpPr txBox="1"/>
          <p:nvPr/>
        </p:nvSpPr>
        <p:spPr>
          <a:xfrm>
            <a:off x="6419088" y="2121408"/>
            <a:ext cx="365760" cy="274320"/>
          </a:xfrm>
          <a:prstGeom prst="rect">
            <a:avLst/>
          </a:prstGeom>
          <a:noFill/>
        </p:spPr>
        <p:txBody>
          <a:bodyPr wrap="square" lIns="0" rIns="0" tIns="0" bIns="0" anchor="t">
            <a:spAutoFit/>
          </a:bodyPr>
          <a:lstStyle/>
          <a:p>
            <a:pPr algn="l">
              <a:lnSpc>
                <a:spcPct val="112000"/>
              </a:lnSpc>
            </a:pPr>
            <a:r>
              <a:rPr sz="1200" b="1" i="0">
                <a:solidFill>
                  <a:srgbClr val="22D3EE"/>
                </a:solidFill>
                <a:latin typeface="Arial"/>
              </a:rPr>
              <a:t>03</a:t>
            </a:r>
          </a:p>
        </p:txBody>
      </p:sp>
      <p:sp>
        <p:nvSpPr>
          <p:cNvPr id="18" name="TextBox 17" descr="Texte de l'étape 3 : Audience"/>
          <p:cNvSpPr txBox="1"/>
          <p:nvPr/>
        </p:nvSpPr>
        <p:spPr>
          <a:xfrm>
            <a:off x="6419088" y="2404872"/>
            <a:ext cx="2212848" cy="685800"/>
          </a:xfrm>
          <a:prstGeom prst="rect">
            <a:avLst/>
          </a:prstGeom>
          <a:noFill/>
        </p:spPr>
        <p:txBody>
          <a:bodyPr wrap="square" lIns="0" rIns="0" tIns="0" bIns="0" anchor="ctr">
            <a:spAutoFit/>
          </a:bodyPr>
          <a:lstStyle/>
          <a:p>
            <a:pPr algn="l">
              <a:lnSpc>
                <a:spcPct val="112000"/>
              </a:lnSpc>
            </a:pPr>
            <a:r>
              <a:rPr sz="1700" b="1" i="0">
                <a:solidFill>
                  <a:srgbClr val="F2F6FC"/>
                </a:solidFill>
                <a:latin typeface="Arial"/>
              </a:rPr>
              <a:t>Audience</a:t>
            </a:r>
          </a:p>
        </p:txBody>
      </p:sp>
      <p:sp>
        <p:nvSpPr>
          <p:cNvPr id="19" name="Right Arrow 18" descr="Flèche vers l'étape 4"/>
          <p:cNvSpPr/>
          <p:nvPr/>
        </p:nvSpPr>
        <p:spPr>
          <a:xfrm>
            <a:off x="8855963" y="2468880"/>
            <a:ext cx="182880" cy="201168"/>
          </a:xfrm>
          <a:prstGeom prst="rightArrow">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descr="Étape 4 du fil conducteur : Contenu"/>
          <p:cNvSpPr/>
          <p:nvPr/>
        </p:nvSpPr>
        <p:spPr>
          <a:xfrm>
            <a:off x="9098280" y="1975104"/>
            <a:ext cx="2542032" cy="118872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descr="Repère décoratif"/>
          <p:cNvSpPr/>
          <p:nvPr/>
        </p:nvSpPr>
        <p:spPr>
          <a:xfrm>
            <a:off x="9098280" y="1975104"/>
            <a:ext cx="2542032" cy="7315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descr="Numéro d'étape 4"/>
          <p:cNvSpPr txBox="1"/>
          <p:nvPr/>
        </p:nvSpPr>
        <p:spPr>
          <a:xfrm>
            <a:off x="9262872" y="2121408"/>
            <a:ext cx="365760" cy="274320"/>
          </a:xfrm>
          <a:prstGeom prst="rect">
            <a:avLst/>
          </a:prstGeom>
          <a:noFill/>
        </p:spPr>
        <p:txBody>
          <a:bodyPr wrap="square" lIns="0" rIns="0" tIns="0" bIns="0" anchor="t">
            <a:spAutoFit/>
          </a:bodyPr>
          <a:lstStyle/>
          <a:p>
            <a:pPr algn="l">
              <a:lnSpc>
                <a:spcPct val="112000"/>
              </a:lnSpc>
            </a:pPr>
            <a:r>
              <a:rPr sz="1200" b="1" i="0">
                <a:solidFill>
                  <a:srgbClr val="22D3EE"/>
                </a:solidFill>
                <a:latin typeface="Arial"/>
              </a:rPr>
              <a:t>04</a:t>
            </a:r>
          </a:p>
        </p:txBody>
      </p:sp>
      <p:sp>
        <p:nvSpPr>
          <p:cNvPr id="23" name="TextBox 22" descr="Texte de l'étape 4 : Contenu"/>
          <p:cNvSpPr txBox="1"/>
          <p:nvPr/>
        </p:nvSpPr>
        <p:spPr>
          <a:xfrm>
            <a:off x="9262872" y="2404872"/>
            <a:ext cx="2212848" cy="685800"/>
          </a:xfrm>
          <a:prstGeom prst="rect">
            <a:avLst/>
          </a:prstGeom>
          <a:noFill/>
        </p:spPr>
        <p:txBody>
          <a:bodyPr wrap="square" lIns="0" rIns="0" tIns="0" bIns="0" anchor="ctr">
            <a:spAutoFit/>
          </a:bodyPr>
          <a:lstStyle/>
          <a:p>
            <a:pPr algn="l">
              <a:lnSpc>
                <a:spcPct val="112000"/>
              </a:lnSpc>
            </a:pPr>
            <a:r>
              <a:rPr sz="1700" b="1" i="0">
                <a:solidFill>
                  <a:srgbClr val="F2F6FC"/>
                </a:solidFill>
                <a:latin typeface="Arial"/>
              </a:rPr>
              <a:t>Contenu</a:t>
            </a:r>
          </a:p>
        </p:txBody>
      </p:sp>
      <p:sp>
        <p:nvSpPr>
          <p:cNvPr id="24" name="Rounded Rectangle 23" descr="Étape 5 du fil conducteur : Confiance"/>
          <p:cNvSpPr/>
          <p:nvPr/>
        </p:nvSpPr>
        <p:spPr>
          <a:xfrm>
            <a:off x="566928" y="3584448"/>
            <a:ext cx="2542032" cy="118872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descr="Repère décoratif"/>
          <p:cNvSpPr/>
          <p:nvPr/>
        </p:nvSpPr>
        <p:spPr>
          <a:xfrm>
            <a:off x="566928" y="3584448"/>
            <a:ext cx="2542032" cy="7315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descr="Numéro d'étape 5"/>
          <p:cNvSpPr txBox="1"/>
          <p:nvPr/>
        </p:nvSpPr>
        <p:spPr>
          <a:xfrm>
            <a:off x="731520" y="3730752"/>
            <a:ext cx="365760" cy="274320"/>
          </a:xfrm>
          <a:prstGeom prst="rect">
            <a:avLst/>
          </a:prstGeom>
          <a:noFill/>
        </p:spPr>
        <p:txBody>
          <a:bodyPr wrap="square" lIns="0" rIns="0" tIns="0" bIns="0" anchor="t">
            <a:spAutoFit/>
          </a:bodyPr>
          <a:lstStyle/>
          <a:p>
            <a:pPr algn="l">
              <a:lnSpc>
                <a:spcPct val="112000"/>
              </a:lnSpc>
            </a:pPr>
            <a:r>
              <a:rPr sz="1200" b="1" i="0">
                <a:solidFill>
                  <a:srgbClr val="22D3EE"/>
                </a:solidFill>
                <a:latin typeface="Arial"/>
              </a:rPr>
              <a:t>05</a:t>
            </a:r>
          </a:p>
        </p:txBody>
      </p:sp>
      <p:sp>
        <p:nvSpPr>
          <p:cNvPr id="27" name="TextBox 26" descr="Texte de l'étape 5 : Confiance"/>
          <p:cNvSpPr txBox="1"/>
          <p:nvPr/>
        </p:nvSpPr>
        <p:spPr>
          <a:xfrm>
            <a:off x="731520" y="4014215"/>
            <a:ext cx="2212848" cy="685800"/>
          </a:xfrm>
          <a:prstGeom prst="rect">
            <a:avLst/>
          </a:prstGeom>
          <a:noFill/>
        </p:spPr>
        <p:txBody>
          <a:bodyPr wrap="square" lIns="0" rIns="0" tIns="0" bIns="0" anchor="ctr">
            <a:spAutoFit/>
          </a:bodyPr>
          <a:lstStyle/>
          <a:p>
            <a:pPr algn="l">
              <a:lnSpc>
                <a:spcPct val="112000"/>
              </a:lnSpc>
            </a:pPr>
            <a:r>
              <a:rPr sz="1700" b="1" i="0">
                <a:solidFill>
                  <a:srgbClr val="F2F6FC"/>
                </a:solidFill>
                <a:latin typeface="Arial"/>
              </a:rPr>
              <a:t>Confiance</a:t>
            </a:r>
          </a:p>
        </p:txBody>
      </p:sp>
      <p:sp>
        <p:nvSpPr>
          <p:cNvPr id="28" name="Right Arrow 27" descr="Flèche vers l'étape 6"/>
          <p:cNvSpPr/>
          <p:nvPr/>
        </p:nvSpPr>
        <p:spPr>
          <a:xfrm>
            <a:off x="3168396" y="4078224"/>
            <a:ext cx="182880" cy="201168"/>
          </a:xfrm>
          <a:prstGeom prst="rightArrow">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descr="Étape 6 du fil conducteur : Offre"/>
          <p:cNvSpPr/>
          <p:nvPr/>
        </p:nvSpPr>
        <p:spPr>
          <a:xfrm>
            <a:off x="3410712" y="3584448"/>
            <a:ext cx="2542032" cy="118872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descr="Repère décoratif"/>
          <p:cNvSpPr/>
          <p:nvPr/>
        </p:nvSpPr>
        <p:spPr>
          <a:xfrm>
            <a:off x="3410712" y="3584448"/>
            <a:ext cx="2542032" cy="7315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descr="Numéro d'étape 6"/>
          <p:cNvSpPr txBox="1"/>
          <p:nvPr/>
        </p:nvSpPr>
        <p:spPr>
          <a:xfrm>
            <a:off x="3575304" y="3730752"/>
            <a:ext cx="365760" cy="274320"/>
          </a:xfrm>
          <a:prstGeom prst="rect">
            <a:avLst/>
          </a:prstGeom>
          <a:noFill/>
        </p:spPr>
        <p:txBody>
          <a:bodyPr wrap="square" lIns="0" rIns="0" tIns="0" bIns="0" anchor="t">
            <a:spAutoFit/>
          </a:bodyPr>
          <a:lstStyle/>
          <a:p>
            <a:pPr algn="l">
              <a:lnSpc>
                <a:spcPct val="112000"/>
              </a:lnSpc>
            </a:pPr>
            <a:r>
              <a:rPr sz="1200" b="1" i="0">
                <a:solidFill>
                  <a:srgbClr val="22D3EE"/>
                </a:solidFill>
                <a:latin typeface="Arial"/>
              </a:rPr>
              <a:t>06</a:t>
            </a:r>
          </a:p>
        </p:txBody>
      </p:sp>
      <p:sp>
        <p:nvSpPr>
          <p:cNvPr id="32" name="TextBox 31" descr="Texte de l'étape 6 : Offre"/>
          <p:cNvSpPr txBox="1"/>
          <p:nvPr/>
        </p:nvSpPr>
        <p:spPr>
          <a:xfrm>
            <a:off x="3575304" y="4014215"/>
            <a:ext cx="2212848" cy="685800"/>
          </a:xfrm>
          <a:prstGeom prst="rect">
            <a:avLst/>
          </a:prstGeom>
          <a:noFill/>
        </p:spPr>
        <p:txBody>
          <a:bodyPr wrap="square" lIns="0" rIns="0" tIns="0" bIns="0" anchor="ctr">
            <a:spAutoFit/>
          </a:bodyPr>
          <a:lstStyle/>
          <a:p>
            <a:pPr algn="l">
              <a:lnSpc>
                <a:spcPct val="112000"/>
              </a:lnSpc>
            </a:pPr>
            <a:r>
              <a:rPr sz="1700" b="1" i="0">
                <a:solidFill>
                  <a:srgbClr val="F2F6FC"/>
                </a:solidFill>
                <a:latin typeface="Arial"/>
              </a:rPr>
              <a:t>Offre</a:t>
            </a:r>
          </a:p>
        </p:txBody>
      </p:sp>
      <p:sp>
        <p:nvSpPr>
          <p:cNvPr id="33" name="Right Arrow 32" descr="Flèche vers l'étape 7"/>
          <p:cNvSpPr/>
          <p:nvPr/>
        </p:nvSpPr>
        <p:spPr>
          <a:xfrm>
            <a:off x="6012180" y="4078224"/>
            <a:ext cx="182880" cy="201168"/>
          </a:xfrm>
          <a:prstGeom prst="rightArrow">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descr="Étape 7 du fil conducteur : Revenus possibles"/>
          <p:cNvSpPr/>
          <p:nvPr/>
        </p:nvSpPr>
        <p:spPr>
          <a:xfrm>
            <a:off x="6254496" y="3584448"/>
            <a:ext cx="2542032" cy="118872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descr="Repère décoratif"/>
          <p:cNvSpPr/>
          <p:nvPr/>
        </p:nvSpPr>
        <p:spPr>
          <a:xfrm>
            <a:off x="6254496" y="3584448"/>
            <a:ext cx="2542032" cy="7315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descr="Numéro d'étape 7"/>
          <p:cNvSpPr txBox="1"/>
          <p:nvPr/>
        </p:nvSpPr>
        <p:spPr>
          <a:xfrm>
            <a:off x="6419088" y="3730752"/>
            <a:ext cx="365760" cy="274320"/>
          </a:xfrm>
          <a:prstGeom prst="rect">
            <a:avLst/>
          </a:prstGeom>
          <a:noFill/>
        </p:spPr>
        <p:txBody>
          <a:bodyPr wrap="square" lIns="0" rIns="0" tIns="0" bIns="0" anchor="t">
            <a:spAutoFit/>
          </a:bodyPr>
          <a:lstStyle/>
          <a:p>
            <a:pPr algn="l">
              <a:lnSpc>
                <a:spcPct val="112000"/>
              </a:lnSpc>
            </a:pPr>
            <a:r>
              <a:rPr sz="1200" b="1" i="0">
                <a:solidFill>
                  <a:srgbClr val="22D3EE"/>
                </a:solidFill>
                <a:latin typeface="Arial"/>
              </a:rPr>
              <a:t>07</a:t>
            </a:r>
          </a:p>
        </p:txBody>
      </p:sp>
      <p:sp>
        <p:nvSpPr>
          <p:cNvPr id="37" name="TextBox 36" descr="Texte de l'étape 7 : Revenus possibles"/>
          <p:cNvSpPr txBox="1"/>
          <p:nvPr/>
        </p:nvSpPr>
        <p:spPr>
          <a:xfrm>
            <a:off x="6419088" y="4014215"/>
            <a:ext cx="2212848" cy="685800"/>
          </a:xfrm>
          <a:prstGeom prst="rect">
            <a:avLst/>
          </a:prstGeom>
          <a:noFill/>
        </p:spPr>
        <p:txBody>
          <a:bodyPr wrap="square" lIns="0" rIns="0" tIns="0" bIns="0" anchor="ctr">
            <a:spAutoFit/>
          </a:bodyPr>
          <a:lstStyle/>
          <a:p>
            <a:pPr algn="l">
              <a:lnSpc>
                <a:spcPct val="112000"/>
              </a:lnSpc>
            </a:pPr>
            <a:r>
              <a:rPr sz="1700" b="1" i="0">
                <a:solidFill>
                  <a:srgbClr val="F2F6FC"/>
                </a:solidFill>
                <a:latin typeface="Arial"/>
              </a:rPr>
              <a:t>Revenus possibles</a:t>
            </a:r>
          </a:p>
        </p:txBody>
      </p:sp>
      <p:sp>
        <p:nvSpPr>
          <p:cNvPr id="38" name="Right Arrow 37" descr="Flèche vers l'étape 8"/>
          <p:cNvSpPr/>
          <p:nvPr/>
        </p:nvSpPr>
        <p:spPr>
          <a:xfrm>
            <a:off x="8855963" y="4078224"/>
            <a:ext cx="182880" cy="201168"/>
          </a:xfrm>
          <a:prstGeom prst="rightArrow">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descr="Étape 8 du fil conducteur : Système documenté"/>
          <p:cNvSpPr/>
          <p:nvPr/>
        </p:nvSpPr>
        <p:spPr>
          <a:xfrm>
            <a:off x="9098280" y="3584448"/>
            <a:ext cx="2542032" cy="118872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descr="Repère décoratif"/>
          <p:cNvSpPr/>
          <p:nvPr/>
        </p:nvSpPr>
        <p:spPr>
          <a:xfrm>
            <a:off x="9098280" y="3584448"/>
            <a:ext cx="2542032" cy="7315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descr="Numéro d'étape 8"/>
          <p:cNvSpPr txBox="1"/>
          <p:nvPr/>
        </p:nvSpPr>
        <p:spPr>
          <a:xfrm>
            <a:off x="9262872" y="3730752"/>
            <a:ext cx="365760" cy="274320"/>
          </a:xfrm>
          <a:prstGeom prst="rect">
            <a:avLst/>
          </a:prstGeom>
          <a:noFill/>
        </p:spPr>
        <p:txBody>
          <a:bodyPr wrap="square" lIns="0" rIns="0" tIns="0" bIns="0" anchor="t">
            <a:spAutoFit/>
          </a:bodyPr>
          <a:lstStyle/>
          <a:p>
            <a:pPr algn="l">
              <a:lnSpc>
                <a:spcPct val="112000"/>
              </a:lnSpc>
            </a:pPr>
            <a:r>
              <a:rPr sz="1200" b="1" i="0">
                <a:solidFill>
                  <a:srgbClr val="22D3EE"/>
                </a:solidFill>
                <a:latin typeface="Arial"/>
              </a:rPr>
              <a:t>08</a:t>
            </a:r>
          </a:p>
        </p:txBody>
      </p:sp>
      <p:sp>
        <p:nvSpPr>
          <p:cNvPr id="42" name="TextBox 41" descr="Texte de l'étape 8 : Système documenté"/>
          <p:cNvSpPr txBox="1"/>
          <p:nvPr/>
        </p:nvSpPr>
        <p:spPr>
          <a:xfrm>
            <a:off x="9262872" y="4014215"/>
            <a:ext cx="2212848" cy="685800"/>
          </a:xfrm>
          <a:prstGeom prst="rect">
            <a:avLst/>
          </a:prstGeom>
          <a:noFill/>
        </p:spPr>
        <p:txBody>
          <a:bodyPr wrap="square" lIns="0" rIns="0" tIns="0" bIns="0" anchor="ctr">
            <a:spAutoFit/>
          </a:bodyPr>
          <a:lstStyle/>
          <a:p>
            <a:pPr algn="l">
              <a:lnSpc>
                <a:spcPct val="112000"/>
              </a:lnSpc>
            </a:pPr>
            <a:r>
              <a:rPr sz="1700" b="1" i="0">
                <a:solidFill>
                  <a:srgbClr val="F2F6FC"/>
                </a:solidFill>
                <a:latin typeface="Arial"/>
              </a:rPr>
              <a:t>Système documenté</a:t>
            </a:r>
          </a:p>
        </p:txBody>
      </p:sp>
      <p:sp>
        <p:nvSpPr>
          <p:cNvPr id="43" name="Rounded Rectangle 42" descr="Bandeau d'information : Ordre : ligne supérieure de gauche à droite, puis ligne inférieure."/>
          <p:cNvSpPr/>
          <p:nvPr/>
        </p:nvSpPr>
        <p:spPr>
          <a:xfrm>
            <a:off x="566928" y="5623560"/>
            <a:ext cx="11064240" cy="658368"/>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descr="Texte du bandeau : Ordre : ligne supérieure de gauche à droite, puis ligne inférieure."/>
          <p:cNvSpPr txBox="1"/>
          <p:nvPr/>
        </p:nvSpPr>
        <p:spPr>
          <a:xfrm>
            <a:off x="822960" y="5669280"/>
            <a:ext cx="10607040" cy="566928"/>
          </a:xfrm>
          <a:prstGeom prst="rect">
            <a:avLst/>
          </a:prstGeom>
          <a:noFill/>
        </p:spPr>
        <p:txBody>
          <a:bodyPr wrap="square" lIns="0" rIns="0" tIns="0" bIns="0" anchor="ctr">
            <a:spAutoFit/>
          </a:bodyPr>
          <a:lstStyle/>
          <a:p>
            <a:pPr algn="l">
              <a:lnSpc>
                <a:spcPct val="112000"/>
              </a:lnSpc>
            </a:pPr>
            <a:r>
              <a:rPr sz="1550" b="1" i="0">
                <a:solidFill>
                  <a:srgbClr val="22D3EE"/>
                </a:solidFill>
                <a:latin typeface="Arial"/>
              </a:rPr>
              <a:t>Ordre : ligne supérieure de gauche à droite, puis ligne inférieure.</a:t>
            </a:r>
          </a:p>
        </p:txBody>
      </p:sp>
      <p:sp>
        <p:nvSpPr>
          <p:cNvPr id="45" name="Rounded Rectangle 44" descr="Élément graphique décoratif, sans information propre"/>
          <p:cNvSpPr/>
          <p:nvPr/>
        </p:nvSpPr>
        <p:spPr>
          <a:xfrm>
            <a:off x="0" y="0"/>
            <a:ext cx="201168" cy="6858000"/>
          </a:xfrm>
          <a:prstGeom prst="round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descr="Référence de source affichée en pied de diapositive : Introduction et chapitres 2, 25, 39"/>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Introduction et chapitres 2, 25, 39</a:t>
            </a:r>
          </a:p>
        </p:txBody>
      </p:sp>
      <p:sp>
        <p:nvSpPr>
          <p:cNvPr id="47" name="TextBox 46" descr="Numéro de diapositive 3 sur 84, durée prévue 3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03 / 84  ·  3 min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descr="Élément graphique décoratif, sans information propr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descr="Bandeau supérieur de partie"/>
          <p:cNvSpPr/>
          <p:nvPr/>
        </p:nvSpPr>
        <p:spPr>
          <a:xfrm>
            <a:off x="0" y="0"/>
            <a:ext cx="12191695" cy="25603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descr="Titre de section : PARTIE 01"/>
          <p:cNvSpPr txBox="1"/>
          <p:nvPr/>
        </p:nvSpPr>
        <p:spPr>
          <a:xfrm>
            <a:off x="822960" y="2148840"/>
            <a:ext cx="8357616" cy="1097280"/>
          </a:xfrm>
          <a:prstGeom prst="rect">
            <a:avLst/>
          </a:prstGeom>
          <a:noFill/>
        </p:spPr>
        <p:txBody>
          <a:bodyPr wrap="square" lIns="0" rIns="0" tIns="0" bIns="0" anchor="t">
            <a:spAutoFit/>
          </a:bodyPr>
          <a:lstStyle/>
          <a:p>
            <a:pPr algn="l">
              <a:lnSpc>
                <a:spcPct val="106000"/>
              </a:lnSpc>
            </a:pPr>
            <a:r>
              <a:rPr sz="5600" b="1" i="0">
                <a:solidFill>
                  <a:srgbClr val="F2F6FC"/>
                </a:solidFill>
                <a:latin typeface="Arial"/>
              </a:rPr>
              <a:t>PARTIE 01</a:t>
            </a:r>
          </a:p>
        </p:txBody>
      </p:sp>
      <p:sp>
        <p:nvSpPr>
          <p:cNvPr id="6" name="TextBox 5" descr="Sous-titre de section : COMPRENDRE LE SYSTÈME CRÉATEUR IA"/>
          <p:cNvSpPr txBox="1"/>
          <p:nvPr/>
        </p:nvSpPr>
        <p:spPr>
          <a:xfrm>
            <a:off x="822960" y="3291840"/>
            <a:ext cx="10058400" cy="1463040"/>
          </a:xfrm>
          <a:prstGeom prst="rect">
            <a:avLst/>
          </a:prstGeom>
          <a:noFill/>
        </p:spPr>
        <p:txBody>
          <a:bodyPr wrap="square" lIns="0" rIns="0" tIns="0" bIns="0" anchor="t">
            <a:spAutoFit/>
          </a:bodyPr>
          <a:lstStyle/>
          <a:p>
            <a:pPr algn="l">
              <a:lnSpc>
                <a:spcPct val="112000"/>
              </a:lnSpc>
            </a:pPr>
            <a:r>
              <a:rPr sz="3000" b="1" i="0">
                <a:solidFill>
                  <a:srgbClr val="22D3EE"/>
                </a:solidFill>
                <a:latin typeface="Arial"/>
              </a:rPr>
              <a:t>COMPRENDRE LE SYSTÈME CRÉATEUR IA</a:t>
            </a:r>
          </a:p>
        </p:txBody>
      </p:sp>
      <p:sp>
        <p:nvSpPr>
          <p:cNvPr id="7" name="Rounded Rectangle 6" descr="Élément graphique décoratif, sans information propre"/>
          <p:cNvSpPr/>
          <p:nvPr/>
        </p:nvSpPr>
        <p:spPr>
          <a:xfrm>
            <a:off x="0" y="0"/>
            <a:ext cx="201168" cy="6858000"/>
          </a:xfrm>
          <a:prstGeom prst="round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Référence de source affichée en pied de diapositive : Partie 1 du DOCX"/>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Partie 1 du DOCX</a:t>
            </a:r>
          </a:p>
        </p:txBody>
      </p:sp>
      <p:sp>
        <p:nvSpPr>
          <p:cNvPr id="9" name="TextBox 8" descr="Numéro de diapositive 4 sur 84, durée prévue 1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04 / 84  ·  1 min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Partie 01 · chapitre 01"/>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22D3EE"/>
                </a:solidFill>
                <a:latin typeface="Arial"/>
              </a:rPr>
              <a:t>PARTIE 01 · CHAPITRE 01</a:t>
            </a:r>
          </a:p>
        </p:txBody>
      </p:sp>
      <p:sp>
        <p:nvSpPr>
          <p:cNvPr id="4" name="TextBox 3" descr="Titre du chapitre : 01 · L’ère de l’IA et du créateur solo"/>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200" b="1" i="0">
                <a:solidFill>
                  <a:srgbClr val="F2F6FC"/>
                </a:solidFill>
                <a:latin typeface="Arial"/>
              </a:rPr>
              <a:t>01 · L’ère de l’IA et du créateur solo</a:t>
            </a:r>
          </a:p>
        </p:txBody>
      </p:sp>
      <p:sp>
        <p:nvSpPr>
          <p:cNvPr id="5" name="TextBox 4" descr="Objectif du chapitre : Organiser les tâches d’une personne seule avec le téléphone et l’IA sans confondre assistance et responsabilité."/>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550" b="1" i="0">
                <a:solidFill>
                  <a:srgbClr val="22D3EE"/>
                </a:solidFill>
                <a:latin typeface="Arial"/>
              </a:rPr>
              <a:t>Organiser les tâches d’une personne seule avec le téléphone et l’IA sans confondre assistance et responsabilité.</a:t>
            </a:r>
          </a:p>
        </p:txBody>
      </p:sp>
      <p:sp>
        <p:nvSpPr>
          <p:cNvPr id="6" name="Rounded Rectangle 5" descr="Point 1 : Notez une tâche répétitive et son temps réel."/>
          <p:cNvSpPr/>
          <p:nvPr/>
        </p:nvSpPr>
        <p:spPr>
          <a:xfrm>
            <a:off x="566928" y="2331720"/>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de section"/>
          <p:cNvSpPr/>
          <p:nvPr/>
        </p:nvSpPr>
        <p:spPr>
          <a:xfrm>
            <a:off x="566928" y="2331720"/>
            <a:ext cx="64008" cy="71323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Numéro d'étape 1"/>
          <p:cNvSpPr txBox="1"/>
          <p:nvPr/>
        </p:nvSpPr>
        <p:spPr>
          <a:xfrm>
            <a:off x="841247" y="2414016"/>
            <a:ext cx="822960" cy="548640"/>
          </a:xfrm>
          <a:prstGeom prst="rect">
            <a:avLst/>
          </a:prstGeom>
          <a:noFill/>
        </p:spPr>
        <p:txBody>
          <a:bodyPr wrap="square" lIns="0" rIns="0" tIns="0" bIns="0" anchor="ctr">
            <a:spAutoFit/>
          </a:bodyPr>
          <a:lstStyle/>
          <a:p>
            <a:pPr algn="l">
              <a:lnSpc>
                <a:spcPct val="112000"/>
              </a:lnSpc>
            </a:pPr>
            <a:r>
              <a:rPr sz="2400" b="1" i="0">
                <a:solidFill>
                  <a:srgbClr val="22D3EE"/>
                </a:solidFill>
                <a:latin typeface="Arial"/>
              </a:rPr>
              <a:t>01</a:t>
            </a:r>
          </a:p>
        </p:txBody>
      </p:sp>
      <p:sp>
        <p:nvSpPr>
          <p:cNvPr id="9" name="TextBox 8" descr="Texte du point 1 : Notez une tâche répétitive et son temps réel."/>
          <p:cNvSpPr txBox="1"/>
          <p:nvPr/>
        </p:nvSpPr>
        <p:spPr>
          <a:xfrm>
            <a:off x="1755648" y="2386584"/>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Notez une tâche répétitive et son temps réel.</a:t>
            </a:r>
          </a:p>
        </p:txBody>
      </p:sp>
      <p:sp>
        <p:nvSpPr>
          <p:cNvPr id="10" name="Rounded Rectangle 9" descr="Point 2 : Décomposez l’entrée, les étapes et la sortie."/>
          <p:cNvSpPr/>
          <p:nvPr/>
        </p:nvSpPr>
        <p:spPr>
          <a:xfrm>
            <a:off x="566928" y="3172968"/>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de section"/>
          <p:cNvSpPr/>
          <p:nvPr/>
        </p:nvSpPr>
        <p:spPr>
          <a:xfrm>
            <a:off x="566928" y="3172968"/>
            <a:ext cx="64008" cy="71323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Numéro d'étape 2"/>
          <p:cNvSpPr txBox="1"/>
          <p:nvPr/>
        </p:nvSpPr>
        <p:spPr>
          <a:xfrm>
            <a:off x="841247" y="3255264"/>
            <a:ext cx="822960" cy="548640"/>
          </a:xfrm>
          <a:prstGeom prst="rect">
            <a:avLst/>
          </a:prstGeom>
          <a:noFill/>
        </p:spPr>
        <p:txBody>
          <a:bodyPr wrap="square" lIns="0" rIns="0" tIns="0" bIns="0" anchor="ctr">
            <a:spAutoFit/>
          </a:bodyPr>
          <a:lstStyle/>
          <a:p>
            <a:pPr algn="l">
              <a:lnSpc>
                <a:spcPct val="112000"/>
              </a:lnSpc>
            </a:pPr>
            <a:r>
              <a:rPr sz="2400" b="1" i="0">
                <a:solidFill>
                  <a:srgbClr val="22D3EE"/>
                </a:solidFill>
                <a:latin typeface="Arial"/>
              </a:rPr>
              <a:t>02</a:t>
            </a:r>
          </a:p>
        </p:txBody>
      </p:sp>
      <p:sp>
        <p:nvSpPr>
          <p:cNvPr id="13" name="TextBox 12" descr="Texte du point 2 : Décomposez l’entrée, les étapes et la sortie."/>
          <p:cNvSpPr txBox="1"/>
          <p:nvPr/>
        </p:nvSpPr>
        <p:spPr>
          <a:xfrm>
            <a:off x="1755648" y="3227832"/>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Décomposez l’entrée, les étapes et la sortie.</a:t>
            </a:r>
          </a:p>
        </p:txBody>
      </p:sp>
      <p:sp>
        <p:nvSpPr>
          <p:cNvPr id="14" name="Rounded Rectangle 13" descr="Point 3 : Marquez faits, droits et relation client comme validations humaines."/>
          <p:cNvSpPr/>
          <p:nvPr/>
        </p:nvSpPr>
        <p:spPr>
          <a:xfrm>
            <a:off x="566928" y="4014215"/>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Repère décoratif de section"/>
          <p:cNvSpPr/>
          <p:nvPr/>
        </p:nvSpPr>
        <p:spPr>
          <a:xfrm>
            <a:off x="566928" y="4014215"/>
            <a:ext cx="64008" cy="71323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Numéro d'étape 3"/>
          <p:cNvSpPr txBox="1"/>
          <p:nvPr/>
        </p:nvSpPr>
        <p:spPr>
          <a:xfrm>
            <a:off x="841247" y="4096511"/>
            <a:ext cx="822960" cy="548640"/>
          </a:xfrm>
          <a:prstGeom prst="rect">
            <a:avLst/>
          </a:prstGeom>
          <a:noFill/>
        </p:spPr>
        <p:txBody>
          <a:bodyPr wrap="square" lIns="0" rIns="0" tIns="0" bIns="0" anchor="ctr">
            <a:spAutoFit/>
          </a:bodyPr>
          <a:lstStyle/>
          <a:p>
            <a:pPr algn="l">
              <a:lnSpc>
                <a:spcPct val="112000"/>
              </a:lnSpc>
            </a:pPr>
            <a:r>
              <a:rPr sz="2400" b="1" i="0">
                <a:solidFill>
                  <a:srgbClr val="22D3EE"/>
                </a:solidFill>
                <a:latin typeface="Arial"/>
              </a:rPr>
              <a:t>03</a:t>
            </a:r>
          </a:p>
        </p:txBody>
      </p:sp>
      <p:sp>
        <p:nvSpPr>
          <p:cNvPr id="17" name="TextBox 16" descr="Texte du point 3 : Marquez faits, droits et relation client comme validations humaines."/>
          <p:cNvSpPr txBox="1"/>
          <p:nvPr/>
        </p:nvSpPr>
        <p:spPr>
          <a:xfrm>
            <a:off x="1755648" y="4069079"/>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Marquez faits, droits et relation client comme validations humaines.</a:t>
            </a:r>
          </a:p>
        </p:txBody>
      </p:sp>
      <p:sp>
        <p:nvSpPr>
          <p:cNvPr id="18" name="Rounded Rectangle 17" descr="Point 4 : Testez l’assistance sur un seul cas et comparez."/>
          <p:cNvSpPr/>
          <p:nvPr/>
        </p:nvSpPr>
        <p:spPr>
          <a:xfrm>
            <a:off x="566928" y="4855464"/>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descr="Repère décoratif de section"/>
          <p:cNvSpPr/>
          <p:nvPr/>
        </p:nvSpPr>
        <p:spPr>
          <a:xfrm>
            <a:off x="566928" y="4855464"/>
            <a:ext cx="64008" cy="71323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descr="Numéro d'étape 4"/>
          <p:cNvSpPr txBox="1"/>
          <p:nvPr/>
        </p:nvSpPr>
        <p:spPr>
          <a:xfrm>
            <a:off x="841247" y="4937760"/>
            <a:ext cx="822960" cy="548640"/>
          </a:xfrm>
          <a:prstGeom prst="rect">
            <a:avLst/>
          </a:prstGeom>
          <a:noFill/>
        </p:spPr>
        <p:txBody>
          <a:bodyPr wrap="square" lIns="0" rIns="0" tIns="0" bIns="0" anchor="ctr">
            <a:spAutoFit/>
          </a:bodyPr>
          <a:lstStyle/>
          <a:p>
            <a:pPr algn="l">
              <a:lnSpc>
                <a:spcPct val="112000"/>
              </a:lnSpc>
            </a:pPr>
            <a:r>
              <a:rPr sz="2400" b="1" i="0">
                <a:solidFill>
                  <a:srgbClr val="22D3EE"/>
                </a:solidFill>
                <a:latin typeface="Arial"/>
              </a:rPr>
              <a:t>04</a:t>
            </a:r>
          </a:p>
        </p:txBody>
      </p:sp>
      <p:sp>
        <p:nvSpPr>
          <p:cNvPr id="21" name="TextBox 20" descr="Texte du point 4 : Testez l’assistance sur un seul cas et comparez."/>
          <p:cNvSpPr txBox="1"/>
          <p:nvPr/>
        </p:nvSpPr>
        <p:spPr>
          <a:xfrm>
            <a:off x="1755648" y="4910328"/>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Testez l’assistance sur un seul cas et comparez.</a:t>
            </a:r>
          </a:p>
        </p:txBody>
      </p:sp>
      <p:sp>
        <p:nvSpPr>
          <p:cNvPr id="22" name="Rounded Rectangle 21" descr="Élément graphique décoratif, sans information propre"/>
          <p:cNvSpPr/>
          <p:nvPr/>
        </p:nvSpPr>
        <p:spPr>
          <a:xfrm>
            <a:off x="0" y="0"/>
            <a:ext cx="201168" cy="6858000"/>
          </a:xfrm>
          <a:prstGeom prst="round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descr="Référence de source affichée en pied de diapositive : Chapitre 01 — L’ère de l’IA et du créateur solo"/>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 01 — L’ère de l’IA et du créateur solo</a:t>
            </a:r>
          </a:p>
        </p:txBody>
      </p:sp>
      <p:sp>
        <p:nvSpPr>
          <p:cNvPr id="24" name="TextBox 23" descr="Numéro de diapositive 5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05 / 84  ·  2 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Partie 01 · chapitre 02"/>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22D3EE"/>
                </a:solidFill>
                <a:latin typeface="Arial"/>
              </a:rPr>
              <a:t>PARTIE 01 · CHAPITRE 02</a:t>
            </a:r>
          </a:p>
        </p:txBody>
      </p:sp>
      <p:sp>
        <p:nvSpPr>
          <p:cNvPr id="4" name="TextBox 3" descr="Titre du chapitre : 02 · Compte TikTok, audience et véritable actif numérique"/>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2950" b="1" i="0">
                <a:solidFill>
                  <a:srgbClr val="F2F6FC"/>
                </a:solidFill>
                <a:latin typeface="Arial"/>
              </a:rPr>
              <a:t>02 · Compte TikTok, audience et véritable actif numérique</a:t>
            </a:r>
          </a:p>
        </p:txBody>
      </p:sp>
      <p:sp>
        <p:nvSpPr>
          <p:cNvPr id="5" name="TextBox 4" descr="Objectif du chapitre : Distinguer compte, audience, communauté et entreprise."/>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550" b="1" i="0">
                <a:solidFill>
                  <a:srgbClr val="22D3EE"/>
                </a:solidFill>
                <a:latin typeface="Arial"/>
              </a:rPr>
              <a:t>Distinguer compte, audience, communauté et entreprise.</a:t>
            </a:r>
          </a:p>
        </p:txBody>
      </p:sp>
      <p:sp>
        <p:nvSpPr>
          <p:cNvPr id="6" name="Rounded Rectangle 5" descr="Point 1 : Définissez une personne à aider et son problème."/>
          <p:cNvSpPr/>
          <p:nvPr/>
        </p:nvSpPr>
        <p:spPr>
          <a:xfrm>
            <a:off x="566928" y="2331720"/>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de section"/>
          <p:cNvSpPr/>
          <p:nvPr/>
        </p:nvSpPr>
        <p:spPr>
          <a:xfrm>
            <a:off x="566928" y="2331720"/>
            <a:ext cx="64008" cy="71323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Numéro d'étape 1"/>
          <p:cNvSpPr txBox="1"/>
          <p:nvPr/>
        </p:nvSpPr>
        <p:spPr>
          <a:xfrm>
            <a:off x="841247" y="2414016"/>
            <a:ext cx="822960" cy="548640"/>
          </a:xfrm>
          <a:prstGeom prst="rect">
            <a:avLst/>
          </a:prstGeom>
          <a:noFill/>
        </p:spPr>
        <p:txBody>
          <a:bodyPr wrap="square" lIns="0" rIns="0" tIns="0" bIns="0" anchor="ctr">
            <a:spAutoFit/>
          </a:bodyPr>
          <a:lstStyle/>
          <a:p>
            <a:pPr algn="l">
              <a:lnSpc>
                <a:spcPct val="112000"/>
              </a:lnSpc>
            </a:pPr>
            <a:r>
              <a:rPr sz="2400" b="1" i="0">
                <a:solidFill>
                  <a:srgbClr val="22D3EE"/>
                </a:solidFill>
                <a:latin typeface="Arial"/>
              </a:rPr>
              <a:t>01</a:t>
            </a:r>
          </a:p>
        </p:txBody>
      </p:sp>
      <p:sp>
        <p:nvSpPr>
          <p:cNvPr id="9" name="TextBox 8" descr="Texte du point 1 : Définissez une personne à aider et son problème."/>
          <p:cNvSpPr txBox="1"/>
          <p:nvPr/>
        </p:nvSpPr>
        <p:spPr>
          <a:xfrm>
            <a:off x="1755648" y="2386584"/>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Définissez une personne à aider et son problème.</a:t>
            </a:r>
          </a:p>
        </p:txBody>
      </p:sp>
      <p:sp>
        <p:nvSpPr>
          <p:cNvPr id="10" name="Rounded Rectangle 9" descr="Point 2 : Précisez l’action attendue après la vidéo."/>
          <p:cNvSpPr/>
          <p:nvPr/>
        </p:nvSpPr>
        <p:spPr>
          <a:xfrm>
            <a:off x="566928" y="3172968"/>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de section"/>
          <p:cNvSpPr/>
          <p:nvPr/>
        </p:nvSpPr>
        <p:spPr>
          <a:xfrm>
            <a:off x="566928" y="3172968"/>
            <a:ext cx="64008" cy="71323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Numéro d'étape 2"/>
          <p:cNvSpPr txBox="1"/>
          <p:nvPr/>
        </p:nvSpPr>
        <p:spPr>
          <a:xfrm>
            <a:off x="841247" y="3255264"/>
            <a:ext cx="822960" cy="548640"/>
          </a:xfrm>
          <a:prstGeom prst="rect">
            <a:avLst/>
          </a:prstGeom>
          <a:noFill/>
        </p:spPr>
        <p:txBody>
          <a:bodyPr wrap="square" lIns="0" rIns="0" tIns="0" bIns="0" anchor="ctr">
            <a:spAutoFit/>
          </a:bodyPr>
          <a:lstStyle/>
          <a:p>
            <a:pPr algn="l">
              <a:lnSpc>
                <a:spcPct val="112000"/>
              </a:lnSpc>
            </a:pPr>
            <a:r>
              <a:rPr sz="2400" b="1" i="0">
                <a:solidFill>
                  <a:srgbClr val="22D3EE"/>
                </a:solidFill>
                <a:latin typeface="Arial"/>
              </a:rPr>
              <a:t>02</a:t>
            </a:r>
          </a:p>
        </p:txBody>
      </p:sp>
      <p:sp>
        <p:nvSpPr>
          <p:cNvPr id="13" name="TextBox 12" descr="Texte du point 2 : Précisez l’action attendue après la vidéo."/>
          <p:cNvSpPr txBox="1"/>
          <p:nvPr/>
        </p:nvSpPr>
        <p:spPr>
          <a:xfrm>
            <a:off x="1755648" y="3227832"/>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Précisez l’action attendue après la vidéo.</a:t>
            </a:r>
          </a:p>
        </p:txBody>
      </p:sp>
      <p:sp>
        <p:nvSpPr>
          <p:cNvPr id="14" name="Rounded Rectangle 13" descr="Point 3 : Séparez visibilité, demande, commande et paiement."/>
          <p:cNvSpPr/>
          <p:nvPr/>
        </p:nvSpPr>
        <p:spPr>
          <a:xfrm>
            <a:off x="566928" y="4014215"/>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Repère décoratif de section"/>
          <p:cNvSpPr/>
          <p:nvPr/>
        </p:nvSpPr>
        <p:spPr>
          <a:xfrm>
            <a:off x="566928" y="4014215"/>
            <a:ext cx="64008" cy="71323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Numéro d'étape 3"/>
          <p:cNvSpPr txBox="1"/>
          <p:nvPr/>
        </p:nvSpPr>
        <p:spPr>
          <a:xfrm>
            <a:off x="841247" y="4096511"/>
            <a:ext cx="822960" cy="548640"/>
          </a:xfrm>
          <a:prstGeom prst="rect">
            <a:avLst/>
          </a:prstGeom>
          <a:noFill/>
        </p:spPr>
        <p:txBody>
          <a:bodyPr wrap="square" lIns="0" rIns="0" tIns="0" bIns="0" anchor="ctr">
            <a:spAutoFit/>
          </a:bodyPr>
          <a:lstStyle/>
          <a:p>
            <a:pPr algn="l">
              <a:lnSpc>
                <a:spcPct val="112000"/>
              </a:lnSpc>
            </a:pPr>
            <a:r>
              <a:rPr sz="2400" b="1" i="0">
                <a:solidFill>
                  <a:srgbClr val="22D3EE"/>
                </a:solidFill>
                <a:latin typeface="Arial"/>
              </a:rPr>
              <a:t>03</a:t>
            </a:r>
          </a:p>
        </p:txBody>
      </p:sp>
      <p:sp>
        <p:nvSpPr>
          <p:cNvPr id="17" name="TextBox 16" descr="Texte du point 3 : Séparez visibilité, demande, commande et paiement."/>
          <p:cNvSpPr txBox="1"/>
          <p:nvPr/>
        </p:nvSpPr>
        <p:spPr>
          <a:xfrm>
            <a:off x="1755648" y="4069079"/>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Séparez visibilité, demande, commande et paiement.</a:t>
            </a:r>
          </a:p>
        </p:txBody>
      </p:sp>
      <p:sp>
        <p:nvSpPr>
          <p:cNvPr id="18" name="Rounded Rectangle 17" descr="Point 4 : Ouvrez un registre des interactions sans données inutiles."/>
          <p:cNvSpPr/>
          <p:nvPr/>
        </p:nvSpPr>
        <p:spPr>
          <a:xfrm>
            <a:off x="566928" y="4855464"/>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descr="Repère décoratif de section"/>
          <p:cNvSpPr/>
          <p:nvPr/>
        </p:nvSpPr>
        <p:spPr>
          <a:xfrm>
            <a:off x="566928" y="4855464"/>
            <a:ext cx="64008" cy="71323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descr="Numéro d'étape 4"/>
          <p:cNvSpPr txBox="1"/>
          <p:nvPr/>
        </p:nvSpPr>
        <p:spPr>
          <a:xfrm>
            <a:off x="841247" y="4937760"/>
            <a:ext cx="822960" cy="548640"/>
          </a:xfrm>
          <a:prstGeom prst="rect">
            <a:avLst/>
          </a:prstGeom>
          <a:noFill/>
        </p:spPr>
        <p:txBody>
          <a:bodyPr wrap="square" lIns="0" rIns="0" tIns="0" bIns="0" anchor="ctr">
            <a:spAutoFit/>
          </a:bodyPr>
          <a:lstStyle/>
          <a:p>
            <a:pPr algn="l">
              <a:lnSpc>
                <a:spcPct val="112000"/>
              </a:lnSpc>
            </a:pPr>
            <a:r>
              <a:rPr sz="2400" b="1" i="0">
                <a:solidFill>
                  <a:srgbClr val="22D3EE"/>
                </a:solidFill>
                <a:latin typeface="Arial"/>
              </a:rPr>
              <a:t>04</a:t>
            </a:r>
          </a:p>
        </p:txBody>
      </p:sp>
      <p:sp>
        <p:nvSpPr>
          <p:cNvPr id="21" name="TextBox 20" descr="Texte du point 4 : Ouvrez un registre des interactions sans données inutiles."/>
          <p:cNvSpPr txBox="1"/>
          <p:nvPr/>
        </p:nvSpPr>
        <p:spPr>
          <a:xfrm>
            <a:off x="1755648" y="4910328"/>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Ouvrez un registre des interactions sans données inutiles.</a:t>
            </a:r>
          </a:p>
        </p:txBody>
      </p:sp>
      <p:sp>
        <p:nvSpPr>
          <p:cNvPr id="22" name="Rounded Rectangle 21" descr="Élément graphique décoratif, sans information propre"/>
          <p:cNvSpPr/>
          <p:nvPr/>
        </p:nvSpPr>
        <p:spPr>
          <a:xfrm>
            <a:off x="0" y="0"/>
            <a:ext cx="201168" cy="6858000"/>
          </a:xfrm>
          <a:prstGeom prst="round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descr="Référence de source affichée en pied de diapositive : Chapitre 02 — Compte TikTok, audience et véritable actif numérique"/>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 02 — Compte TikTok, audience et véritable actif numérique</a:t>
            </a:r>
          </a:p>
        </p:txBody>
      </p:sp>
      <p:sp>
        <p:nvSpPr>
          <p:cNvPr id="24" name="TextBox 23" descr="Numéro de diapositive 6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06 / 84  ·  2 min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Partie 01 · chapitre 03"/>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22D3EE"/>
                </a:solidFill>
                <a:latin typeface="Arial"/>
              </a:rPr>
              <a:t>PARTIE 01 · CHAPITRE 03</a:t>
            </a:r>
          </a:p>
        </p:txBody>
      </p:sp>
      <p:sp>
        <p:nvSpPr>
          <p:cNvPr id="4" name="TextBox 3" descr="Titre du chapitre : 03 · Ce que l’IA peut déléguer et ce qui doit rester humain"/>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2950" b="1" i="0">
                <a:solidFill>
                  <a:srgbClr val="F2F6FC"/>
                </a:solidFill>
                <a:latin typeface="Arial"/>
              </a:rPr>
              <a:t>03 · Ce que l’IA peut déléguer et ce qui doit rester humain</a:t>
            </a:r>
          </a:p>
        </p:txBody>
      </p:sp>
      <p:sp>
        <p:nvSpPr>
          <p:cNvPr id="5" name="TextBox 4" descr="Objectif du chapitre : Attribuer les tâches à l’IA avec des limites et un contrôle."/>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550" b="1" i="0">
                <a:solidFill>
                  <a:srgbClr val="22D3EE"/>
                </a:solidFill>
                <a:latin typeface="Arial"/>
              </a:rPr>
              <a:t>Attribuer les tâches à l’IA avec des limites et un contrôle.</a:t>
            </a:r>
          </a:p>
        </p:txBody>
      </p:sp>
      <p:sp>
        <p:nvSpPr>
          <p:cNvPr id="6" name="Rounded Rectangle 5" descr="Point 1 : Définissez l’objectif et le format de sortie."/>
          <p:cNvSpPr/>
          <p:nvPr/>
        </p:nvSpPr>
        <p:spPr>
          <a:xfrm>
            <a:off x="566928" y="2331720"/>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de section"/>
          <p:cNvSpPr/>
          <p:nvPr/>
        </p:nvSpPr>
        <p:spPr>
          <a:xfrm>
            <a:off x="566928" y="2331720"/>
            <a:ext cx="64008" cy="71323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Numéro d'étape 1"/>
          <p:cNvSpPr txBox="1"/>
          <p:nvPr/>
        </p:nvSpPr>
        <p:spPr>
          <a:xfrm>
            <a:off x="841247" y="2414016"/>
            <a:ext cx="822960" cy="548640"/>
          </a:xfrm>
          <a:prstGeom prst="rect">
            <a:avLst/>
          </a:prstGeom>
          <a:noFill/>
        </p:spPr>
        <p:txBody>
          <a:bodyPr wrap="square" lIns="0" rIns="0" tIns="0" bIns="0" anchor="ctr">
            <a:spAutoFit/>
          </a:bodyPr>
          <a:lstStyle/>
          <a:p>
            <a:pPr algn="l">
              <a:lnSpc>
                <a:spcPct val="112000"/>
              </a:lnSpc>
            </a:pPr>
            <a:r>
              <a:rPr sz="2400" b="1" i="0">
                <a:solidFill>
                  <a:srgbClr val="22D3EE"/>
                </a:solidFill>
                <a:latin typeface="Arial"/>
              </a:rPr>
              <a:t>01</a:t>
            </a:r>
          </a:p>
        </p:txBody>
      </p:sp>
      <p:sp>
        <p:nvSpPr>
          <p:cNvPr id="9" name="TextBox 8" descr="Texte du point 1 : Définissez l’objectif et le format de sortie."/>
          <p:cNvSpPr txBox="1"/>
          <p:nvPr/>
        </p:nvSpPr>
        <p:spPr>
          <a:xfrm>
            <a:off x="1755648" y="2386584"/>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Définissez l’objectif et le format de sortie.</a:t>
            </a:r>
          </a:p>
        </p:txBody>
      </p:sp>
      <p:sp>
        <p:nvSpPr>
          <p:cNvPr id="10" name="Rounded Rectangle 9" descr="Point 2 : Fournissez seulement des données autorisées."/>
          <p:cNvSpPr/>
          <p:nvPr/>
        </p:nvSpPr>
        <p:spPr>
          <a:xfrm>
            <a:off x="566928" y="3172968"/>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de section"/>
          <p:cNvSpPr/>
          <p:nvPr/>
        </p:nvSpPr>
        <p:spPr>
          <a:xfrm>
            <a:off x="566928" y="3172968"/>
            <a:ext cx="64008" cy="71323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Numéro d'étape 2"/>
          <p:cNvSpPr txBox="1"/>
          <p:nvPr/>
        </p:nvSpPr>
        <p:spPr>
          <a:xfrm>
            <a:off x="841247" y="3255264"/>
            <a:ext cx="822960" cy="548640"/>
          </a:xfrm>
          <a:prstGeom prst="rect">
            <a:avLst/>
          </a:prstGeom>
          <a:noFill/>
        </p:spPr>
        <p:txBody>
          <a:bodyPr wrap="square" lIns="0" rIns="0" tIns="0" bIns="0" anchor="ctr">
            <a:spAutoFit/>
          </a:bodyPr>
          <a:lstStyle/>
          <a:p>
            <a:pPr algn="l">
              <a:lnSpc>
                <a:spcPct val="112000"/>
              </a:lnSpc>
            </a:pPr>
            <a:r>
              <a:rPr sz="2400" b="1" i="0">
                <a:solidFill>
                  <a:srgbClr val="22D3EE"/>
                </a:solidFill>
                <a:latin typeface="Arial"/>
              </a:rPr>
              <a:t>02</a:t>
            </a:r>
          </a:p>
        </p:txBody>
      </p:sp>
      <p:sp>
        <p:nvSpPr>
          <p:cNvPr id="13" name="TextBox 12" descr="Texte du point 2 : Fournissez seulement des données autorisées."/>
          <p:cNvSpPr txBox="1"/>
          <p:nvPr/>
        </p:nvSpPr>
        <p:spPr>
          <a:xfrm>
            <a:off x="1755648" y="3227832"/>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Fournissez seulement des données autorisées.</a:t>
            </a:r>
          </a:p>
        </p:txBody>
      </p:sp>
      <p:sp>
        <p:nvSpPr>
          <p:cNvPr id="14" name="Rounded Rectangle 13" descr="Point 3 : Demandez faits, hypothèses et inconnues."/>
          <p:cNvSpPr/>
          <p:nvPr/>
        </p:nvSpPr>
        <p:spPr>
          <a:xfrm>
            <a:off x="566928" y="4014215"/>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Repère décoratif de section"/>
          <p:cNvSpPr/>
          <p:nvPr/>
        </p:nvSpPr>
        <p:spPr>
          <a:xfrm>
            <a:off x="566928" y="4014215"/>
            <a:ext cx="64008" cy="71323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Numéro d'étape 3"/>
          <p:cNvSpPr txBox="1"/>
          <p:nvPr/>
        </p:nvSpPr>
        <p:spPr>
          <a:xfrm>
            <a:off x="841247" y="4096511"/>
            <a:ext cx="822960" cy="548640"/>
          </a:xfrm>
          <a:prstGeom prst="rect">
            <a:avLst/>
          </a:prstGeom>
          <a:noFill/>
        </p:spPr>
        <p:txBody>
          <a:bodyPr wrap="square" lIns="0" rIns="0" tIns="0" bIns="0" anchor="ctr">
            <a:spAutoFit/>
          </a:bodyPr>
          <a:lstStyle/>
          <a:p>
            <a:pPr algn="l">
              <a:lnSpc>
                <a:spcPct val="112000"/>
              </a:lnSpc>
            </a:pPr>
            <a:r>
              <a:rPr sz="2400" b="1" i="0">
                <a:solidFill>
                  <a:srgbClr val="22D3EE"/>
                </a:solidFill>
                <a:latin typeface="Arial"/>
              </a:rPr>
              <a:t>03</a:t>
            </a:r>
          </a:p>
        </p:txBody>
      </p:sp>
      <p:sp>
        <p:nvSpPr>
          <p:cNvPr id="17" name="TextBox 16" descr="Texte du point 3 : Demandez faits, hypothèses et inconnues."/>
          <p:cNvSpPr txBox="1"/>
          <p:nvPr/>
        </p:nvSpPr>
        <p:spPr>
          <a:xfrm>
            <a:off x="1755648" y="4069079"/>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Demandez faits, hypothèses et inconnues.</a:t>
            </a:r>
          </a:p>
        </p:txBody>
      </p:sp>
      <p:sp>
        <p:nvSpPr>
          <p:cNvPr id="18" name="Rounded Rectangle 17" descr="Point 4 : Vérifiez sources et identité."/>
          <p:cNvSpPr/>
          <p:nvPr/>
        </p:nvSpPr>
        <p:spPr>
          <a:xfrm>
            <a:off x="566928" y="4855464"/>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descr="Repère décoratif de section"/>
          <p:cNvSpPr/>
          <p:nvPr/>
        </p:nvSpPr>
        <p:spPr>
          <a:xfrm>
            <a:off x="566928" y="4855464"/>
            <a:ext cx="64008" cy="71323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descr="Numéro d'étape 4"/>
          <p:cNvSpPr txBox="1"/>
          <p:nvPr/>
        </p:nvSpPr>
        <p:spPr>
          <a:xfrm>
            <a:off x="841247" y="4937760"/>
            <a:ext cx="822960" cy="548640"/>
          </a:xfrm>
          <a:prstGeom prst="rect">
            <a:avLst/>
          </a:prstGeom>
          <a:noFill/>
        </p:spPr>
        <p:txBody>
          <a:bodyPr wrap="square" lIns="0" rIns="0" tIns="0" bIns="0" anchor="ctr">
            <a:spAutoFit/>
          </a:bodyPr>
          <a:lstStyle/>
          <a:p>
            <a:pPr algn="l">
              <a:lnSpc>
                <a:spcPct val="112000"/>
              </a:lnSpc>
            </a:pPr>
            <a:r>
              <a:rPr sz="2400" b="1" i="0">
                <a:solidFill>
                  <a:srgbClr val="22D3EE"/>
                </a:solidFill>
                <a:latin typeface="Arial"/>
              </a:rPr>
              <a:t>04</a:t>
            </a:r>
          </a:p>
        </p:txBody>
      </p:sp>
      <p:sp>
        <p:nvSpPr>
          <p:cNvPr id="21" name="TextBox 20" descr="Texte du point 4 : Vérifiez sources et identité."/>
          <p:cNvSpPr txBox="1"/>
          <p:nvPr/>
        </p:nvSpPr>
        <p:spPr>
          <a:xfrm>
            <a:off x="1755648" y="4910328"/>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Vérifiez sources et identité.</a:t>
            </a:r>
          </a:p>
        </p:txBody>
      </p:sp>
      <p:sp>
        <p:nvSpPr>
          <p:cNvPr id="22" name="Rounded Rectangle 21" descr="Élément graphique décoratif, sans information propre"/>
          <p:cNvSpPr/>
          <p:nvPr/>
        </p:nvSpPr>
        <p:spPr>
          <a:xfrm>
            <a:off x="0" y="0"/>
            <a:ext cx="201168" cy="6858000"/>
          </a:xfrm>
          <a:prstGeom prst="round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descr="Référence de source affichée en pied de diapositive : Chapitre 03 — Ce que l’IA peut déléguer et ce qui doit rester humain"/>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 03 — Ce que l’IA peut déléguer et ce qui doit rester humain</a:t>
            </a:r>
          </a:p>
        </p:txBody>
      </p:sp>
      <p:sp>
        <p:nvSpPr>
          <p:cNvPr id="24" name="TextBox 23" descr="Numéro de diapositive 7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07 / 84  ·  2 min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Atelier · partie 01 · chapitre 03"/>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22D3EE"/>
                </a:solidFill>
                <a:latin typeface="Arial"/>
              </a:rPr>
              <a:t>ATELIER · PARTIE 01 · CHAPITRE 03</a:t>
            </a:r>
          </a:p>
        </p:txBody>
      </p:sp>
      <p:sp>
        <p:nvSpPr>
          <p:cNvPr id="4" name="TextBox 3" descr="Titre de l'atelier : Atelier · Ce que l’IA peut déléguer et ce qui doit rester humain"/>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2950" b="1" i="0">
                <a:solidFill>
                  <a:srgbClr val="F2F6FC"/>
                </a:solidFill>
                <a:latin typeface="Arial"/>
              </a:rPr>
              <a:t>Atelier · Ce que l’IA peut déléguer et ce qui doit rester humain</a:t>
            </a:r>
          </a:p>
        </p:txBody>
      </p:sp>
      <p:sp>
        <p:nvSpPr>
          <p:cNvPr id="5" name="TextBox 4" descr="Consigne cadre : Une décision à documenter, pas un résultat à promettre"/>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600" b="1" i="0">
                <a:solidFill>
                  <a:srgbClr val="22D3EE"/>
                </a:solidFill>
                <a:latin typeface="Arial"/>
              </a:rPr>
              <a:t>Une décision à documenter, pas un résultat à promettre</a:t>
            </a:r>
          </a:p>
        </p:txBody>
      </p:sp>
      <p:sp>
        <p:nvSpPr>
          <p:cNvPr id="6" name="Rounded Rectangle 5" descr="Consigne d'atelier : Choisissez une tâche réversible. Marquez ce que l’IA prépare et ce que vous vérifiez."/>
          <p:cNvSpPr/>
          <p:nvPr/>
        </p:nvSpPr>
        <p:spPr>
          <a:xfrm>
            <a:off x="566928" y="2377440"/>
            <a:ext cx="11064240" cy="219456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descr="Consigne d'atelier : Choisissez une tâche réversible. Marquez ce que l’IA prépare et ce que vous vérifiez."/>
          <p:cNvSpPr txBox="1"/>
          <p:nvPr/>
        </p:nvSpPr>
        <p:spPr>
          <a:xfrm>
            <a:off x="960120" y="2651760"/>
            <a:ext cx="10332720" cy="1737360"/>
          </a:xfrm>
          <a:prstGeom prst="rect">
            <a:avLst/>
          </a:prstGeom>
          <a:noFill/>
        </p:spPr>
        <p:txBody>
          <a:bodyPr wrap="square" lIns="0" rIns="0" tIns="0" bIns="0" anchor="ctr">
            <a:spAutoFit/>
          </a:bodyPr>
          <a:lstStyle/>
          <a:p>
            <a:pPr algn="l">
              <a:lnSpc>
                <a:spcPct val="112000"/>
              </a:lnSpc>
            </a:pPr>
            <a:r>
              <a:rPr sz="2400" b="1" i="0">
                <a:solidFill>
                  <a:srgbClr val="F2F6FC"/>
                </a:solidFill>
                <a:latin typeface="Arial"/>
              </a:rPr>
              <a:t>Choisissez une tâche réversible. Marquez ce que l’IA prépare et ce que vous vérifiez.</a:t>
            </a:r>
          </a:p>
        </p:txBody>
      </p:sp>
      <p:sp>
        <p:nvSpPr>
          <p:cNvPr id="8" name="Rounded Rectangle 7" descr="Bandeau d'information : Aucun exemple du livre ne doit être présenté comme un témoignage réel : il est annoncé comme simulation pédagogique."/>
          <p:cNvSpPr/>
          <p:nvPr/>
        </p:nvSpPr>
        <p:spPr>
          <a:xfrm>
            <a:off x="566928" y="5623560"/>
            <a:ext cx="11064240" cy="658368"/>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descr="Texte du bandeau : Aucun exemple du livre ne doit être présenté comme un témoignage réel : il est annoncé comme simulation pédagogique."/>
          <p:cNvSpPr txBox="1"/>
          <p:nvPr/>
        </p:nvSpPr>
        <p:spPr>
          <a:xfrm>
            <a:off x="822960" y="5669280"/>
            <a:ext cx="10607040" cy="566928"/>
          </a:xfrm>
          <a:prstGeom prst="rect">
            <a:avLst/>
          </a:prstGeom>
          <a:noFill/>
        </p:spPr>
        <p:txBody>
          <a:bodyPr wrap="square" lIns="0" rIns="0" tIns="0" bIns="0" anchor="ctr">
            <a:spAutoFit/>
          </a:bodyPr>
          <a:lstStyle/>
          <a:p>
            <a:pPr algn="l">
              <a:lnSpc>
                <a:spcPct val="112000"/>
              </a:lnSpc>
            </a:pPr>
            <a:r>
              <a:rPr sz="1550" b="1" i="0">
                <a:solidFill>
                  <a:srgbClr val="22D3EE"/>
                </a:solidFill>
                <a:latin typeface="Arial"/>
              </a:rPr>
              <a:t>Aucun exemple du livre ne doit être présenté comme un témoignage réel : il est annoncé comme simulation pédagogique.</a:t>
            </a:r>
          </a:p>
        </p:txBody>
      </p:sp>
      <p:sp>
        <p:nvSpPr>
          <p:cNvPr id="10" name="Rounded Rectangle 9" descr="Élément graphique décoratif, sans information propre"/>
          <p:cNvSpPr/>
          <p:nvPr/>
        </p:nvSpPr>
        <p:spPr>
          <a:xfrm>
            <a:off x="0" y="0"/>
            <a:ext cx="201168" cy="6858000"/>
          </a:xfrm>
          <a:prstGeom prst="round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descr="Référence de source affichée en pied de diapositive : Chapitre 03 (exemple/exercice adapté)"/>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 03 (exemple/exercice adapté)</a:t>
            </a:r>
          </a:p>
        </p:txBody>
      </p:sp>
      <p:sp>
        <p:nvSpPr>
          <p:cNvPr id="12" name="TextBox 11" descr="Numéro de diapositive 8 sur 84, durée prévue 4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08 / 84  ·  4 min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Synthèse · partie 01"/>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22D3EE"/>
                </a:solidFill>
                <a:latin typeface="Arial"/>
              </a:rPr>
              <a:t>SYNTHÈSE · PARTIE 01</a:t>
            </a:r>
          </a:p>
        </p:txBody>
      </p:sp>
      <p:sp>
        <p:nvSpPr>
          <p:cNvPr id="4" name="TextBox 3" descr="Titre : À retenir · partie 01"/>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600" b="1" i="0">
                <a:solidFill>
                  <a:srgbClr val="F2F6FC"/>
                </a:solidFill>
                <a:latin typeface="Arial"/>
              </a:rPr>
              <a:t>À retenir · partie 01</a:t>
            </a:r>
          </a:p>
        </p:txBody>
      </p:sp>
      <p:sp>
        <p:nvSpPr>
          <p:cNvPr id="5" name="TextBox 4" descr="Sous-titre : COMPRENDRE LE SYSTÈME CRÉATEUR IA"/>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600" b="1" i="0">
                <a:solidFill>
                  <a:srgbClr val="22D3EE"/>
                </a:solidFill>
                <a:latin typeface="Arial"/>
              </a:rPr>
              <a:t>COMPRENDRE LE SYSTÈME CRÉATEUR IA</a:t>
            </a:r>
          </a:p>
        </p:txBody>
      </p:sp>
      <p:sp>
        <p:nvSpPr>
          <p:cNvPr id="6" name="Rounded Rectangle 5" descr="Point 1 : Organiser les tâches d’une personne seule avec le téléphone et l’IA sans confondre assistance et responsabilité."/>
          <p:cNvSpPr/>
          <p:nvPr/>
        </p:nvSpPr>
        <p:spPr>
          <a:xfrm>
            <a:off x="566928" y="2286000"/>
            <a:ext cx="11064240" cy="658368"/>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de section"/>
          <p:cNvSpPr/>
          <p:nvPr/>
        </p:nvSpPr>
        <p:spPr>
          <a:xfrm>
            <a:off x="566928" y="2286000"/>
            <a:ext cx="64008" cy="65836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Numéro d'étape 1"/>
          <p:cNvSpPr txBox="1"/>
          <p:nvPr/>
        </p:nvSpPr>
        <p:spPr>
          <a:xfrm>
            <a:off x="841247" y="2340864"/>
            <a:ext cx="822960" cy="548640"/>
          </a:xfrm>
          <a:prstGeom prst="rect">
            <a:avLst/>
          </a:prstGeom>
          <a:noFill/>
        </p:spPr>
        <p:txBody>
          <a:bodyPr wrap="square" lIns="0" rIns="0" tIns="0" bIns="0" anchor="ctr">
            <a:spAutoFit/>
          </a:bodyPr>
          <a:lstStyle/>
          <a:p>
            <a:pPr algn="l">
              <a:lnSpc>
                <a:spcPct val="112000"/>
              </a:lnSpc>
            </a:pPr>
            <a:r>
              <a:rPr sz="2400" b="1" i="0">
                <a:solidFill>
                  <a:srgbClr val="22D3EE"/>
                </a:solidFill>
                <a:latin typeface="Arial"/>
              </a:rPr>
              <a:t>01</a:t>
            </a:r>
          </a:p>
        </p:txBody>
      </p:sp>
      <p:sp>
        <p:nvSpPr>
          <p:cNvPr id="9" name="TextBox 8" descr="Texte du point 1 : Organiser les tâches d’une personne seule avec le téléphone et l’IA sans confondre assistance et responsabilité."/>
          <p:cNvSpPr txBox="1"/>
          <p:nvPr/>
        </p:nvSpPr>
        <p:spPr>
          <a:xfrm>
            <a:off x="1755648" y="2340864"/>
            <a:ext cx="9646919" cy="548640"/>
          </a:xfrm>
          <a:prstGeom prst="rect">
            <a:avLst/>
          </a:prstGeom>
          <a:noFill/>
        </p:spPr>
        <p:txBody>
          <a:bodyPr wrap="square" lIns="0" rIns="0" tIns="0" bIns="0" anchor="ctr">
            <a:spAutoFit/>
          </a:bodyPr>
          <a:lstStyle/>
          <a:p>
            <a:pPr algn="l">
              <a:lnSpc>
                <a:spcPct val="112000"/>
              </a:lnSpc>
            </a:pPr>
            <a:r>
              <a:rPr sz="1550" b="0" i="0">
                <a:solidFill>
                  <a:srgbClr val="F2F6FC"/>
                </a:solidFill>
                <a:latin typeface="Arial"/>
              </a:rPr>
              <a:t>Organiser les tâches d’une personne seule avec le téléphone et l’IA sans confondre assistance et responsabilité.</a:t>
            </a:r>
          </a:p>
        </p:txBody>
      </p:sp>
      <p:sp>
        <p:nvSpPr>
          <p:cNvPr id="10" name="Rounded Rectangle 9" descr="Point 2 : Distinguer compte, audience, communauté et entreprise."/>
          <p:cNvSpPr/>
          <p:nvPr/>
        </p:nvSpPr>
        <p:spPr>
          <a:xfrm>
            <a:off x="566928" y="3063240"/>
            <a:ext cx="11064240" cy="658368"/>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de section"/>
          <p:cNvSpPr/>
          <p:nvPr/>
        </p:nvSpPr>
        <p:spPr>
          <a:xfrm>
            <a:off x="566928" y="3063240"/>
            <a:ext cx="64008" cy="65836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Numéro d'étape 2"/>
          <p:cNvSpPr txBox="1"/>
          <p:nvPr/>
        </p:nvSpPr>
        <p:spPr>
          <a:xfrm>
            <a:off x="841247" y="3118104"/>
            <a:ext cx="822960" cy="548640"/>
          </a:xfrm>
          <a:prstGeom prst="rect">
            <a:avLst/>
          </a:prstGeom>
          <a:noFill/>
        </p:spPr>
        <p:txBody>
          <a:bodyPr wrap="square" lIns="0" rIns="0" tIns="0" bIns="0" anchor="ctr">
            <a:spAutoFit/>
          </a:bodyPr>
          <a:lstStyle/>
          <a:p>
            <a:pPr algn="l">
              <a:lnSpc>
                <a:spcPct val="112000"/>
              </a:lnSpc>
            </a:pPr>
            <a:r>
              <a:rPr sz="2400" b="1" i="0">
                <a:solidFill>
                  <a:srgbClr val="22D3EE"/>
                </a:solidFill>
                <a:latin typeface="Arial"/>
              </a:rPr>
              <a:t>02</a:t>
            </a:r>
          </a:p>
        </p:txBody>
      </p:sp>
      <p:sp>
        <p:nvSpPr>
          <p:cNvPr id="13" name="TextBox 12" descr="Texte du point 2 : Distinguer compte, audience, communauté et entreprise."/>
          <p:cNvSpPr txBox="1"/>
          <p:nvPr/>
        </p:nvSpPr>
        <p:spPr>
          <a:xfrm>
            <a:off x="1755648" y="3118104"/>
            <a:ext cx="9646919" cy="548640"/>
          </a:xfrm>
          <a:prstGeom prst="rect">
            <a:avLst/>
          </a:prstGeom>
          <a:noFill/>
        </p:spPr>
        <p:txBody>
          <a:bodyPr wrap="square" lIns="0" rIns="0" tIns="0" bIns="0" anchor="ctr">
            <a:spAutoFit/>
          </a:bodyPr>
          <a:lstStyle/>
          <a:p>
            <a:pPr algn="l">
              <a:lnSpc>
                <a:spcPct val="112000"/>
              </a:lnSpc>
            </a:pPr>
            <a:r>
              <a:rPr sz="1550" b="0" i="0">
                <a:solidFill>
                  <a:srgbClr val="F2F6FC"/>
                </a:solidFill>
                <a:latin typeface="Arial"/>
              </a:rPr>
              <a:t>Distinguer compte, audience, communauté et entreprise.</a:t>
            </a:r>
          </a:p>
        </p:txBody>
      </p:sp>
      <p:sp>
        <p:nvSpPr>
          <p:cNvPr id="14" name="Rounded Rectangle 13" descr="Point 3 : Attribuer les tâches à l’IA avec des limites et un contrôle."/>
          <p:cNvSpPr/>
          <p:nvPr/>
        </p:nvSpPr>
        <p:spPr>
          <a:xfrm>
            <a:off x="566928" y="3840480"/>
            <a:ext cx="11064240" cy="658368"/>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Repère décoratif de section"/>
          <p:cNvSpPr/>
          <p:nvPr/>
        </p:nvSpPr>
        <p:spPr>
          <a:xfrm>
            <a:off x="566928" y="3840480"/>
            <a:ext cx="64008" cy="65836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Numéro d'étape 3"/>
          <p:cNvSpPr txBox="1"/>
          <p:nvPr/>
        </p:nvSpPr>
        <p:spPr>
          <a:xfrm>
            <a:off x="841247" y="3895344"/>
            <a:ext cx="822960" cy="548640"/>
          </a:xfrm>
          <a:prstGeom prst="rect">
            <a:avLst/>
          </a:prstGeom>
          <a:noFill/>
        </p:spPr>
        <p:txBody>
          <a:bodyPr wrap="square" lIns="0" rIns="0" tIns="0" bIns="0" anchor="ctr">
            <a:spAutoFit/>
          </a:bodyPr>
          <a:lstStyle/>
          <a:p>
            <a:pPr algn="l">
              <a:lnSpc>
                <a:spcPct val="112000"/>
              </a:lnSpc>
            </a:pPr>
            <a:r>
              <a:rPr sz="2400" b="1" i="0">
                <a:solidFill>
                  <a:srgbClr val="22D3EE"/>
                </a:solidFill>
                <a:latin typeface="Arial"/>
              </a:rPr>
              <a:t>03</a:t>
            </a:r>
          </a:p>
        </p:txBody>
      </p:sp>
      <p:sp>
        <p:nvSpPr>
          <p:cNvPr id="17" name="TextBox 16" descr="Texte du point 3 : Attribuer les tâches à l’IA avec des limites et un contrôle."/>
          <p:cNvSpPr txBox="1"/>
          <p:nvPr/>
        </p:nvSpPr>
        <p:spPr>
          <a:xfrm>
            <a:off x="1755648" y="3895344"/>
            <a:ext cx="9646919" cy="548640"/>
          </a:xfrm>
          <a:prstGeom prst="rect">
            <a:avLst/>
          </a:prstGeom>
          <a:noFill/>
        </p:spPr>
        <p:txBody>
          <a:bodyPr wrap="square" lIns="0" rIns="0" tIns="0" bIns="0" anchor="ctr">
            <a:spAutoFit/>
          </a:bodyPr>
          <a:lstStyle/>
          <a:p>
            <a:pPr algn="l">
              <a:lnSpc>
                <a:spcPct val="112000"/>
              </a:lnSpc>
            </a:pPr>
            <a:r>
              <a:rPr sz="1550" b="0" i="0">
                <a:solidFill>
                  <a:srgbClr val="F2F6FC"/>
                </a:solidFill>
                <a:latin typeface="Arial"/>
              </a:rPr>
              <a:t>Attribuer les tâches à l’IA avec des limites et un contrôle.</a:t>
            </a:r>
          </a:p>
        </p:txBody>
      </p:sp>
      <p:sp>
        <p:nvSpPr>
          <p:cNvPr id="18" name="Rounded Rectangle 17" descr="Élément graphique décoratif, sans information propre"/>
          <p:cNvSpPr/>
          <p:nvPr/>
        </p:nvSpPr>
        <p:spPr>
          <a:xfrm>
            <a:off x="0" y="0"/>
            <a:ext cx="201168" cy="6858000"/>
          </a:xfrm>
          <a:prstGeom prst="round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descr="Référence de source affichée en pied de diapositive : Chapitres 01–03"/>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Chapitres 01–03</a:t>
            </a:r>
          </a:p>
        </p:txBody>
      </p:sp>
      <p:sp>
        <p:nvSpPr>
          <p:cNvPr id="20" name="TextBox 19" descr="Numéro de diapositive 9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09 / 84  ·  2 min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descr="Élément graphique décoratif, sans information propr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descr="Bandeau supérieur de partie"/>
          <p:cNvSpPr/>
          <p:nvPr/>
        </p:nvSpPr>
        <p:spPr>
          <a:xfrm>
            <a:off x="0" y="0"/>
            <a:ext cx="12191695" cy="256032"/>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descr="Titre de section : PARTIE 02"/>
          <p:cNvSpPr txBox="1"/>
          <p:nvPr/>
        </p:nvSpPr>
        <p:spPr>
          <a:xfrm>
            <a:off x="822960" y="2148840"/>
            <a:ext cx="8357616" cy="1097280"/>
          </a:xfrm>
          <a:prstGeom prst="rect">
            <a:avLst/>
          </a:prstGeom>
          <a:noFill/>
        </p:spPr>
        <p:txBody>
          <a:bodyPr wrap="square" lIns="0" rIns="0" tIns="0" bIns="0" anchor="t">
            <a:spAutoFit/>
          </a:bodyPr>
          <a:lstStyle/>
          <a:p>
            <a:pPr algn="l">
              <a:lnSpc>
                <a:spcPct val="106000"/>
              </a:lnSpc>
            </a:pPr>
            <a:r>
              <a:rPr sz="5600" b="1" i="0">
                <a:solidFill>
                  <a:srgbClr val="F2F6FC"/>
                </a:solidFill>
                <a:latin typeface="Arial"/>
              </a:rPr>
              <a:t>PARTIE 02</a:t>
            </a:r>
          </a:p>
        </p:txBody>
      </p:sp>
      <p:sp>
        <p:nvSpPr>
          <p:cNvPr id="6" name="TextBox 5" descr="Sous-titre de section : DE L’IDÉE À L’OPPORTUNITÉ"/>
          <p:cNvSpPr txBox="1"/>
          <p:nvPr/>
        </p:nvSpPr>
        <p:spPr>
          <a:xfrm>
            <a:off x="822960" y="3291840"/>
            <a:ext cx="10058400" cy="1463040"/>
          </a:xfrm>
          <a:prstGeom prst="rect">
            <a:avLst/>
          </a:prstGeom>
          <a:noFill/>
        </p:spPr>
        <p:txBody>
          <a:bodyPr wrap="square" lIns="0" rIns="0" tIns="0" bIns="0" anchor="t">
            <a:spAutoFit/>
          </a:bodyPr>
          <a:lstStyle/>
          <a:p>
            <a:pPr algn="l">
              <a:lnSpc>
                <a:spcPct val="112000"/>
              </a:lnSpc>
            </a:pPr>
            <a:r>
              <a:rPr sz="3000" b="1" i="0">
                <a:solidFill>
                  <a:srgbClr val="38BDF8"/>
                </a:solidFill>
                <a:latin typeface="Arial"/>
              </a:rPr>
              <a:t>DE L’IDÉE À L’OPPORTUNITÉ</a:t>
            </a:r>
          </a:p>
        </p:txBody>
      </p:sp>
      <p:sp>
        <p:nvSpPr>
          <p:cNvPr id="7" name="Rounded Rectangle 6" descr="Élément graphique décoratif, sans information propre"/>
          <p:cNvSpPr/>
          <p:nvPr/>
        </p:nvSpPr>
        <p:spPr>
          <a:xfrm>
            <a:off x="0" y="0"/>
            <a:ext cx="201168" cy="6858000"/>
          </a:xfrm>
          <a:prstGeom prst="round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Référence de source affichée en pied de diapositive : Partie 2 du DOCX"/>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Partie 2 du DOCX</a:t>
            </a:r>
          </a:p>
        </p:txBody>
      </p:sp>
      <p:sp>
        <p:nvSpPr>
          <p:cNvPr id="9" name="TextBox 8" descr="Numéro de diapositive 10 sur 84, durée prévue 1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10 / 84  ·  1 min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Partie 02 · chapitre 04"/>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38BDF8"/>
                </a:solidFill>
                <a:latin typeface="Arial"/>
              </a:rPr>
              <a:t>PARTIE 02 · CHAPITRE 04</a:t>
            </a:r>
          </a:p>
        </p:txBody>
      </p:sp>
      <p:sp>
        <p:nvSpPr>
          <p:cNvPr id="4" name="TextBox 3" descr="Titre du chapitre : 04 · Faire l’inventaire de ses compétences et ressources"/>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2950" b="1" i="0">
                <a:solidFill>
                  <a:srgbClr val="F2F6FC"/>
                </a:solidFill>
                <a:latin typeface="Arial"/>
              </a:rPr>
              <a:t>04 · Faire l’inventaire de ses compétences et ressources</a:t>
            </a:r>
          </a:p>
        </p:txBody>
      </p:sp>
      <p:sp>
        <p:nvSpPr>
          <p:cNvPr id="5" name="TextBox 4" descr="Objectif du chapitre : Définir un point de départ réel et démontrable."/>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550" b="1" i="0">
                <a:solidFill>
                  <a:srgbClr val="38BDF8"/>
                </a:solidFill>
                <a:latin typeface="Arial"/>
              </a:rPr>
              <a:t>Définir un point de départ réel et démontrable.</a:t>
            </a:r>
          </a:p>
        </p:txBody>
      </p:sp>
      <p:sp>
        <p:nvSpPr>
          <p:cNvPr id="6" name="Rounded Rectangle 5" descr="Point 1 : Listez cinq savoir-faire vérifiables."/>
          <p:cNvSpPr/>
          <p:nvPr/>
        </p:nvSpPr>
        <p:spPr>
          <a:xfrm>
            <a:off x="566928" y="2331720"/>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de section"/>
          <p:cNvSpPr/>
          <p:nvPr/>
        </p:nvSpPr>
        <p:spPr>
          <a:xfrm>
            <a:off x="566928" y="2331720"/>
            <a:ext cx="64008" cy="713232"/>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Numéro d'étape 1"/>
          <p:cNvSpPr txBox="1"/>
          <p:nvPr/>
        </p:nvSpPr>
        <p:spPr>
          <a:xfrm>
            <a:off x="841247" y="2414016"/>
            <a:ext cx="822960" cy="548640"/>
          </a:xfrm>
          <a:prstGeom prst="rect">
            <a:avLst/>
          </a:prstGeom>
          <a:noFill/>
        </p:spPr>
        <p:txBody>
          <a:bodyPr wrap="square" lIns="0" rIns="0" tIns="0" bIns="0" anchor="ctr">
            <a:spAutoFit/>
          </a:bodyPr>
          <a:lstStyle/>
          <a:p>
            <a:pPr algn="l">
              <a:lnSpc>
                <a:spcPct val="112000"/>
              </a:lnSpc>
            </a:pPr>
            <a:r>
              <a:rPr sz="2400" b="1" i="0">
                <a:solidFill>
                  <a:srgbClr val="38BDF8"/>
                </a:solidFill>
                <a:latin typeface="Arial"/>
              </a:rPr>
              <a:t>01</a:t>
            </a:r>
          </a:p>
        </p:txBody>
      </p:sp>
      <p:sp>
        <p:nvSpPr>
          <p:cNvPr id="9" name="TextBox 8" descr="Texte du point 1 : Listez cinq savoir-faire vérifiables."/>
          <p:cNvSpPr txBox="1"/>
          <p:nvPr/>
        </p:nvSpPr>
        <p:spPr>
          <a:xfrm>
            <a:off x="1755648" y="2386584"/>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Listez cinq savoir-faire vérifiables.</a:t>
            </a:r>
          </a:p>
        </p:txBody>
      </p:sp>
      <p:sp>
        <p:nvSpPr>
          <p:cNvPr id="10" name="Rounded Rectangle 9" descr="Point 2 : Associez chaque savoir-faire à une démonstration possible."/>
          <p:cNvSpPr/>
          <p:nvPr/>
        </p:nvSpPr>
        <p:spPr>
          <a:xfrm>
            <a:off x="566928" y="3172968"/>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de section"/>
          <p:cNvSpPr/>
          <p:nvPr/>
        </p:nvSpPr>
        <p:spPr>
          <a:xfrm>
            <a:off x="566928" y="3172968"/>
            <a:ext cx="64008" cy="713232"/>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Numéro d'étape 2"/>
          <p:cNvSpPr txBox="1"/>
          <p:nvPr/>
        </p:nvSpPr>
        <p:spPr>
          <a:xfrm>
            <a:off x="841247" y="3255264"/>
            <a:ext cx="822960" cy="548640"/>
          </a:xfrm>
          <a:prstGeom prst="rect">
            <a:avLst/>
          </a:prstGeom>
          <a:noFill/>
        </p:spPr>
        <p:txBody>
          <a:bodyPr wrap="square" lIns="0" rIns="0" tIns="0" bIns="0" anchor="ctr">
            <a:spAutoFit/>
          </a:bodyPr>
          <a:lstStyle/>
          <a:p>
            <a:pPr algn="l">
              <a:lnSpc>
                <a:spcPct val="112000"/>
              </a:lnSpc>
            </a:pPr>
            <a:r>
              <a:rPr sz="2400" b="1" i="0">
                <a:solidFill>
                  <a:srgbClr val="38BDF8"/>
                </a:solidFill>
                <a:latin typeface="Arial"/>
              </a:rPr>
              <a:t>02</a:t>
            </a:r>
          </a:p>
        </p:txBody>
      </p:sp>
      <p:sp>
        <p:nvSpPr>
          <p:cNvPr id="13" name="TextBox 12" descr="Texte du point 2 : Associez chaque savoir-faire à une démonstration possible."/>
          <p:cNvSpPr txBox="1"/>
          <p:nvPr/>
        </p:nvSpPr>
        <p:spPr>
          <a:xfrm>
            <a:off x="1755648" y="3227832"/>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Associez chaque savoir-faire à une démonstration possible.</a:t>
            </a:r>
          </a:p>
        </p:txBody>
      </p:sp>
      <p:sp>
        <p:nvSpPr>
          <p:cNvPr id="14" name="Rounded Rectangle 13" descr="Point 3 : Notez temps, pays, langues et budget."/>
          <p:cNvSpPr/>
          <p:nvPr/>
        </p:nvSpPr>
        <p:spPr>
          <a:xfrm>
            <a:off x="566928" y="4014215"/>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Repère décoratif de section"/>
          <p:cNvSpPr/>
          <p:nvPr/>
        </p:nvSpPr>
        <p:spPr>
          <a:xfrm>
            <a:off x="566928" y="4014215"/>
            <a:ext cx="64008" cy="713232"/>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Numéro d'étape 3"/>
          <p:cNvSpPr txBox="1"/>
          <p:nvPr/>
        </p:nvSpPr>
        <p:spPr>
          <a:xfrm>
            <a:off x="841247" y="4096511"/>
            <a:ext cx="822960" cy="548640"/>
          </a:xfrm>
          <a:prstGeom prst="rect">
            <a:avLst/>
          </a:prstGeom>
          <a:noFill/>
        </p:spPr>
        <p:txBody>
          <a:bodyPr wrap="square" lIns="0" rIns="0" tIns="0" bIns="0" anchor="ctr">
            <a:spAutoFit/>
          </a:bodyPr>
          <a:lstStyle/>
          <a:p>
            <a:pPr algn="l">
              <a:lnSpc>
                <a:spcPct val="112000"/>
              </a:lnSpc>
            </a:pPr>
            <a:r>
              <a:rPr sz="2400" b="1" i="0">
                <a:solidFill>
                  <a:srgbClr val="38BDF8"/>
                </a:solidFill>
                <a:latin typeface="Arial"/>
              </a:rPr>
              <a:t>03</a:t>
            </a:r>
          </a:p>
        </p:txBody>
      </p:sp>
      <p:sp>
        <p:nvSpPr>
          <p:cNvPr id="17" name="TextBox 16" descr="Texte du point 3 : Notez temps, pays, langues et budget."/>
          <p:cNvSpPr txBox="1"/>
          <p:nvPr/>
        </p:nvSpPr>
        <p:spPr>
          <a:xfrm>
            <a:off x="1755648" y="4069079"/>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Notez temps, pays, langues et budget.</a:t>
            </a:r>
          </a:p>
        </p:txBody>
      </p:sp>
      <p:sp>
        <p:nvSpPr>
          <p:cNvPr id="18" name="Rounded Rectangle 17" descr="Point 4 : Écartez les conseils hors de votre compétence."/>
          <p:cNvSpPr/>
          <p:nvPr/>
        </p:nvSpPr>
        <p:spPr>
          <a:xfrm>
            <a:off x="566928" y="4855464"/>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descr="Repère décoratif de section"/>
          <p:cNvSpPr/>
          <p:nvPr/>
        </p:nvSpPr>
        <p:spPr>
          <a:xfrm>
            <a:off x="566928" y="4855464"/>
            <a:ext cx="64008" cy="713232"/>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descr="Numéro d'étape 4"/>
          <p:cNvSpPr txBox="1"/>
          <p:nvPr/>
        </p:nvSpPr>
        <p:spPr>
          <a:xfrm>
            <a:off x="841247" y="4937760"/>
            <a:ext cx="822960" cy="548640"/>
          </a:xfrm>
          <a:prstGeom prst="rect">
            <a:avLst/>
          </a:prstGeom>
          <a:noFill/>
        </p:spPr>
        <p:txBody>
          <a:bodyPr wrap="square" lIns="0" rIns="0" tIns="0" bIns="0" anchor="ctr">
            <a:spAutoFit/>
          </a:bodyPr>
          <a:lstStyle/>
          <a:p>
            <a:pPr algn="l">
              <a:lnSpc>
                <a:spcPct val="112000"/>
              </a:lnSpc>
            </a:pPr>
            <a:r>
              <a:rPr sz="2400" b="1" i="0">
                <a:solidFill>
                  <a:srgbClr val="38BDF8"/>
                </a:solidFill>
                <a:latin typeface="Arial"/>
              </a:rPr>
              <a:t>04</a:t>
            </a:r>
          </a:p>
        </p:txBody>
      </p:sp>
      <p:sp>
        <p:nvSpPr>
          <p:cNvPr id="21" name="TextBox 20" descr="Texte du point 4 : Écartez les conseils hors de votre compétence."/>
          <p:cNvSpPr txBox="1"/>
          <p:nvPr/>
        </p:nvSpPr>
        <p:spPr>
          <a:xfrm>
            <a:off x="1755648" y="4910328"/>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Écartez les conseils hors de votre compétence.</a:t>
            </a:r>
          </a:p>
        </p:txBody>
      </p:sp>
      <p:sp>
        <p:nvSpPr>
          <p:cNvPr id="22" name="Rounded Rectangle 21" descr="Élément graphique décoratif, sans information propre"/>
          <p:cNvSpPr/>
          <p:nvPr/>
        </p:nvSpPr>
        <p:spPr>
          <a:xfrm>
            <a:off x="0" y="0"/>
            <a:ext cx="201168" cy="6858000"/>
          </a:xfrm>
          <a:prstGeom prst="round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descr="Référence de source affichée en pied de diapositive : Chapitre 04 — Faire l’inventaire de ses compétences et ressources"/>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 04 — Faire l’inventaire de ses compétences et ressources</a:t>
            </a:r>
          </a:p>
        </p:txBody>
      </p:sp>
      <p:sp>
        <p:nvSpPr>
          <p:cNvPr id="24" name="TextBox 23" descr="Numéro de diapositive 11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11 / 84  ·  2 min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Partie 02 · chapitre 05"/>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38BDF8"/>
                </a:solidFill>
                <a:latin typeface="Arial"/>
              </a:rPr>
              <a:t>PARTIE 02 · CHAPITRE 05</a:t>
            </a:r>
          </a:p>
        </p:txBody>
      </p:sp>
      <p:sp>
        <p:nvSpPr>
          <p:cNvPr id="4" name="TextBox 3" descr="Titre du chapitre : 05 · Choisir une niche et une promesse"/>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200" b="1" i="0">
                <a:solidFill>
                  <a:srgbClr val="F2F6FC"/>
                </a:solidFill>
                <a:latin typeface="Arial"/>
              </a:rPr>
              <a:t>05 · Choisir une niche et une promesse</a:t>
            </a:r>
          </a:p>
        </p:txBody>
      </p:sp>
      <p:sp>
        <p:nvSpPr>
          <p:cNvPr id="5" name="TextBox 4" descr="Objectif du chapitre : Choisir un public, un problème et un angle testables."/>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550" b="1" i="0">
                <a:solidFill>
                  <a:srgbClr val="38BDF8"/>
                </a:solidFill>
                <a:latin typeface="Arial"/>
              </a:rPr>
              <a:t>Choisir un public, un problème et un angle testables.</a:t>
            </a:r>
          </a:p>
        </p:txBody>
      </p:sp>
      <p:sp>
        <p:nvSpPr>
          <p:cNvPr id="6" name="Rounded Rectangle 5" descr="Point 1 : Formulez trois publics et problèmes."/>
          <p:cNvSpPr/>
          <p:nvPr/>
        </p:nvSpPr>
        <p:spPr>
          <a:xfrm>
            <a:off x="566928" y="2331720"/>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de section"/>
          <p:cNvSpPr/>
          <p:nvPr/>
        </p:nvSpPr>
        <p:spPr>
          <a:xfrm>
            <a:off x="566928" y="2331720"/>
            <a:ext cx="64008" cy="713232"/>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Numéro d'étape 1"/>
          <p:cNvSpPr txBox="1"/>
          <p:nvPr/>
        </p:nvSpPr>
        <p:spPr>
          <a:xfrm>
            <a:off x="841247" y="2414016"/>
            <a:ext cx="822960" cy="548640"/>
          </a:xfrm>
          <a:prstGeom prst="rect">
            <a:avLst/>
          </a:prstGeom>
          <a:noFill/>
        </p:spPr>
        <p:txBody>
          <a:bodyPr wrap="square" lIns="0" rIns="0" tIns="0" bIns="0" anchor="ctr">
            <a:spAutoFit/>
          </a:bodyPr>
          <a:lstStyle/>
          <a:p>
            <a:pPr algn="l">
              <a:lnSpc>
                <a:spcPct val="112000"/>
              </a:lnSpc>
            </a:pPr>
            <a:r>
              <a:rPr sz="2400" b="1" i="0">
                <a:solidFill>
                  <a:srgbClr val="38BDF8"/>
                </a:solidFill>
                <a:latin typeface="Arial"/>
              </a:rPr>
              <a:t>01</a:t>
            </a:r>
          </a:p>
        </p:txBody>
      </p:sp>
      <p:sp>
        <p:nvSpPr>
          <p:cNvPr id="9" name="TextBox 8" descr="Texte du point 1 : Formulez trois publics et problèmes."/>
          <p:cNvSpPr txBox="1"/>
          <p:nvPr/>
        </p:nvSpPr>
        <p:spPr>
          <a:xfrm>
            <a:off x="1755648" y="2386584"/>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Formulez trois publics et problèmes.</a:t>
            </a:r>
          </a:p>
        </p:txBody>
      </p:sp>
      <p:sp>
        <p:nvSpPr>
          <p:cNvPr id="10" name="Rounded Rectangle 9" descr="Point 2 : Indiquez votre aide et ses limites."/>
          <p:cNvSpPr/>
          <p:nvPr/>
        </p:nvSpPr>
        <p:spPr>
          <a:xfrm>
            <a:off x="566928" y="3172968"/>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de section"/>
          <p:cNvSpPr/>
          <p:nvPr/>
        </p:nvSpPr>
        <p:spPr>
          <a:xfrm>
            <a:off x="566928" y="3172968"/>
            <a:ext cx="64008" cy="713232"/>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Numéro d'étape 2"/>
          <p:cNvSpPr txBox="1"/>
          <p:nvPr/>
        </p:nvSpPr>
        <p:spPr>
          <a:xfrm>
            <a:off x="841247" y="3255264"/>
            <a:ext cx="822960" cy="548640"/>
          </a:xfrm>
          <a:prstGeom prst="rect">
            <a:avLst/>
          </a:prstGeom>
          <a:noFill/>
        </p:spPr>
        <p:txBody>
          <a:bodyPr wrap="square" lIns="0" rIns="0" tIns="0" bIns="0" anchor="ctr">
            <a:spAutoFit/>
          </a:bodyPr>
          <a:lstStyle/>
          <a:p>
            <a:pPr algn="l">
              <a:lnSpc>
                <a:spcPct val="112000"/>
              </a:lnSpc>
            </a:pPr>
            <a:r>
              <a:rPr sz="2400" b="1" i="0">
                <a:solidFill>
                  <a:srgbClr val="38BDF8"/>
                </a:solidFill>
                <a:latin typeface="Arial"/>
              </a:rPr>
              <a:t>02</a:t>
            </a:r>
          </a:p>
        </p:txBody>
      </p:sp>
      <p:sp>
        <p:nvSpPr>
          <p:cNvPr id="13" name="TextBox 12" descr="Texte du point 2 : Indiquez votre aide et ses limites."/>
          <p:cNvSpPr txBox="1"/>
          <p:nvPr/>
        </p:nvSpPr>
        <p:spPr>
          <a:xfrm>
            <a:off x="1755648" y="3227832"/>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Indiquez votre aide et ses limites.</a:t>
            </a:r>
          </a:p>
        </p:txBody>
      </p:sp>
      <p:sp>
        <p:nvSpPr>
          <p:cNvPr id="14" name="Rounded Rectangle 13" descr="Point 3 : Vérifiez que dix questions utiles peuvent être traitées."/>
          <p:cNvSpPr/>
          <p:nvPr/>
        </p:nvSpPr>
        <p:spPr>
          <a:xfrm>
            <a:off x="566928" y="4014215"/>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Repère décoratif de section"/>
          <p:cNvSpPr/>
          <p:nvPr/>
        </p:nvSpPr>
        <p:spPr>
          <a:xfrm>
            <a:off x="566928" y="4014215"/>
            <a:ext cx="64008" cy="713232"/>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Numéro d'étape 3"/>
          <p:cNvSpPr txBox="1"/>
          <p:nvPr/>
        </p:nvSpPr>
        <p:spPr>
          <a:xfrm>
            <a:off x="841247" y="4096511"/>
            <a:ext cx="822960" cy="548640"/>
          </a:xfrm>
          <a:prstGeom prst="rect">
            <a:avLst/>
          </a:prstGeom>
          <a:noFill/>
        </p:spPr>
        <p:txBody>
          <a:bodyPr wrap="square" lIns="0" rIns="0" tIns="0" bIns="0" anchor="ctr">
            <a:spAutoFit/>
          </a:bodyPr>
          <a:lstStyle/>
          <a:p>
            <a:pPr algn="l">
              <a:lnSpc>
                <a:spcPct val="112000"/>
              </a:lnSpc>
            </a:pPr>
            <a:r>
              <a:rPr sz="2400" b="1" i="0">
                <a:solidFill>
                  <a:srgbClr val="38BDF8"/>
                </a:solidFill>
                <a:latin typeface="Arial"/>
              </a:rPr>
              <a:t>03</a:t>
            </a:r>
          </a:p>
        </p:txBody>
      </p:sp>
      <p:sp>
        <p:nvSpPr>
          <p:cNvPr id="17" name="TextBox 16" descr="Texte du point 3 : Vérifiez que dix questions utiles peuvent être traitées."/>
          <p:cNvSpPr txBox="1"/>
          <p:nvPr/>
        </p:nvSpPr>
        <p:spPr>
          <a:xfrm>
            <a:off x="1755648" y="4069079"/>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Vérifiez que dix questions utiles peuvent être traitées.</a:t>
            </a:r>
          </a:p>
        </p:txBody>
      </p:sp>
      <p:sp>
        <p:nvSpPr>
          <p:cNvPr id="18" name="Rounded Rectangle 17" descr="Point 4 : Parlez à quelques personnes concernées."/>
          <p:cNvSpPr/>
          <p:nvPr/>
        </p:nvSpPr>
        <p:spPr>
          <a:xfrm>
            <a:off x="566928" y="4855464"/>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descr="Repère décoratif de section"/>
          <p:cNvSpPr/>
          <p:nvPr/>
        </p:nvSpPr>
        <p:spPr>
          <a:xfrm>
            <a:off x="566928" y="4855464"/>
            <a:ext cx="64008" cy="713232"/>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descr="Numéro d'étape 4"/>
          <p:cNvSpPr txBox="1"/>
          <p:nvPr/>
        </p:nvSpPr>
        <p:spPr>
          <a:xfrm>
            <a:off x="841247" y="4937760"/>
            <a:ext cx="822960" cy="548640"/>
          </a:xfrm>
          <a:prstGeom prst="rect">
            <a:avLst/>
          </a:prstGeom>
          <a:noFill/>
        </p:spPr>
        <p:txBody>
          <a:bodyPr wrap="square" lIns="0" rIns="0" tIns="0" bIns="0" anchor="ctr">
            <a:spAutoFit/>
          </a:bodyPr>
          <a:lstStyle/>
          <a:p>
            <a:pPr algn="l">
              <a:lnSpc>
                <a:spcPct val="112000"/>
              </a:lnSpc>
            </a:pPr>
            <a:r>
              <a:rPr sz="2400" b="1" i="0">
                <a:solidFill>
                  <a:srgbClr val="38BDF8"/>
                </a:solidFill>
                <a:latin typeface="Arial"/>
              </a:rPr>
              <a:t>04</a:t>
            </a:r>
          </a:p>
        </p:txBody>
      </p:sp>
      <p:sp>
        <p:nvSpPr>
          <p:cNvPr id="21" name="TextBox 20" descr="Texte du point 4 : Parlez à quelques personnes concernées."/>
          <p:cNvSpPr txBox="1"/>
          <p:nvPr/>
        </p:nvSpPr>
        <p:spPr>
          <a:xfrm>
            <a:off x="1755648" y="4910328"/>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Parlez à quelques personnes concernées.</a:t>
            </a:r>
          </a:p>
        </p:txBody>
      </p:sp>
      <p:sp>
        <p:nvSpPr>
          <p:cNvPr id="22" name="Rounded Rectangle 21" descr="Élément graphique décoratif, sans information propre"/>
          <p:cNvSpPr/>
          <p:nvPr/>
        </p:nvSpPr>
        <p:spPr>
          <a:xfrm>
            <a:off x="0" y="0"/>
            <a:ext cx="201168" cy="6858000"/>
          </a:xfrm>
          <a:prstGeom prst="round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descr="Référence de source affichée en pied de diapositive : Chapitre 05 — Choisir une niche et une promesse"/>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 05 — Choisir une niche et une promesse</a:t>
            </a:r>
          </a:p>
        </p:txBody>
      </p:sp>
      <p:sp>
        <p:nvSpPr>
          <p:cNvPr id="24" name="TextBox 23" descr="Numéro de diapositive 12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12 / 84  ·  2 min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Atelier · partie 02 · chapitre 05"/>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38BDF8"/>
                </a:solidFill>
                <a:latin typeface="Arial"/>
              </a:rPr>
              <a:t>ATELIER · PARTIE 02 · CHAPITRE 05</a:t>
            </a:r>
          </a:p>
        </p:txBody>
      </p:sp>
      <p:sp>
        <p:nvSpPr>
          <p:cNvPr id="4" name="TextBox 3" descr="Titre de l'atelier : Atelier · Choisir une niche et une promesse"/>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400" b="1" i="0">
                <a:solidFill>
                  <a:srgbClr val="F2F6FC"/>
                </a:solidFill>
                <a:latin typeface="Arial"/>
              </a:rPr>
              <a:t>Atelier · Choisir une niche et une promesse</a:t>
            </a:r>
          </a:p>
        </p:txBody>
      </p:sp>
      <p:sp>
        <p:nvSpPr>
          <p:cNvPr id="5" name="TextBox 4" descr="Consigne cadre : Une décision à documenter, pas un résultat à promettre"/>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600" b="1" i="0">
                <a:solidFill>
                  <a:srgbClr val="38BDF8"/>
                </a:solidFill>
                <a:latin typeface="Arial"/>
              </a:rPr>
              <a:t>Une décision à documenter, pas un résultat à promettre</a:t>
            </a:r>
          </a:p>
        </p:txBody>
      </p:sp>
      <p:sp>
        <p:nvSpPr>
          <p:cNvPr id="6" name="Rounded Rectangle 5" descr="Consigne d'atelier : Écrivez un public, un problème, une compétence et une promesse sans garantie."/>
          <p:cNvSpPr/>
          <p:nvPr/>
        </p:nvSpPr>
        <p:spPr>
          <a:xfrm>
            <a:off x="566928" y="2377440"/>
            <a:ext cx="11064240" cy="219456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descr="Consigne d'atelier : Écrivez un public, un problème, une compétence et une promesse sans garantie."/>
          <p:cNvSpPr txBox="1"/>
          <p:nvPr/>
        </p:nvSpPr>
        <p:spPr>
          <a:xfrm>
            <a:off x="960120" y="2651760"/>
            <a:ext cx="10332720" cy="1737360"/>
          </a:xfrm>
          <a:prstGeom prst="rect">
            <a:avLst/>
          </a:prstGeom>
          <a:noFill/>
        </p:spPr>
        <p:txBody>
          <a:bodyPr wrap="square" lIns="0" rIns="0" tIns="0" bIns="0" anchor="ctr">
            <a:spAutoFit/>
          </a:bodyPr>
          <a:lstStyle/>
          <a:p>
            <a:pPr algn="l">
              <a:lnSpc>
                <a:spcPct val="112000"/>
              </a:lnSpc>
            </a:pPr>
            <a:r>
              <a:rPr sz="2400" b="1" i="0">
                <a:solidFill>
                  <a:srgbClr val="F2F6FC"/>
                </a:solidFill>
                <a:latin typeface="Arial"/>
              </a:rPr>
              <a:t>Écrivez un public, un problème, une compétence et une promesse sans garantie.</a:t>
            </a:r>
          </a:p>
        </p:txBody>
      </p:sp>
      <p:sp>
        <p:nvSpPr>
          <p:cNvPr id="8" name="Rounded Rectangle 7" descr="Bandeau d'information : Aucun exemple du livre ne doit être présenté comme un témoignage réel : il est annoncé comme simulation pédagogique."/>
          <p:cNvSpPr/>
          <p:nvPr/>
        </p:nvSpPr>
        <p:spPr>
          <a:xfrm>
            <a:off x="566928" y="5623560"/>
            <a:ext cx="11064240" cy="658368"/>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descr="Texte du bandeau : Aucun exemple du livre ne doit être présenté comme un témoignage réel : il est annoncé comme simulation pédagogique."/>
          <p:cNvSpPr txBox="1"/>
          <p:nvPr/>
        </p:nvSpPr>
        <p:spPr>
          <a:xfrm>
            <a:off x="822960" y="5669280"/>
            <a:ext cx="10607040" cy="566928"/>
          </a:xfrm>
          <a:prstGeom prst="rect">
            <a:avLst/>
          </a:prstGeom>
          <a:noFill/>
        </p:spPr>
        <p:txBody>
          <a:bodyPr wrap="square" lIns="0" rIns="0" tIns="0" bIns="0" anchor="ctr">
            <a:spAutoFit/>
          </a:bodyPr>
          <a:lstStyle/>
          <a:p>
            <a:pPr algn="l">
              <a:lnSpc>
                <a:spcPct val="112000"/>
              </a:lnSpc>
            </a:pPr>
            <a:r>
              <a:rPr sz="1550" b="1" i="0">
                <a:solidFill>
                  <a:srgbClr val="38BDF8"/>
                </a:solidFill>
                <a:latin typeface="Arial"/>
              </a:rPr>
              <a:t>Aucun exemple du livre ne doit être présenté comme un témoignage réel : il est annoncé comme simulation pédagogique.</a:t>
            </a:r>
          </a:p>
        </p:txBody>
      </p:sp>
      <p:sp>
        <p:nvSpPr>
          <p:cNvPr id="10" name="Rounded Rectangle 9" descr="Élément graphique décoratif, sans information propre"/>
          <p:cNvSpPr/>
          <p:nvPr/>
        </p:nvSpPr>
        <p:spPr>
          <a:xfrm>
            <a:off x="0" y="0"/>
            <a:ext cx="201168" cy="6858000"/>
          </a:xfrm>
          <a:prstGeom prst="round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descr="Référence de source affichée en pied de diapositive : Chapitre 05 (exemple/exercice adapté)"/>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 05 (exemple/exercice adapté)</a:t>
            </a:r>
          </a:p>
        </p:txBody>
      </p:sp>
      <p:sp>
        <p:nvSpPr>
          <p:cNvPr id="12" name="TextBox 11" descr="Numéro de diapositive 13 sur 84, durée prévue 4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13 / 84  ·  4 min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Partie 02 · chapitre 06"/>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38BDF8"/>
                </a:solidFill>
                <a:latin typeface="Arial"/>
              </a:rPr>
              <a:t>PARTIE 02 · CHAPITRE 06</a:t>
            </a:r>
          </a:p>
        </p:txBody>
      </p:sp>
      <p:sp>
        <p:nvSpPr>
          <p:cNvPr id="4" name="TextBox 3" descr="Titre du chapitre : 06 · Analyser un marché et une audience"/>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200" b="1" i="0">
                <a:solidFill>
                  <a:srgbClr val="F2F6FC"/>
                </a:solidFill>
                <a:latin typeface="Arial"/>
              </a:rPr>
              <a:t>06 · Analyser un marché et une audience</a:t>
            </a:r>
          </a:p>
        </p:txBody>
      </p:sp>
      <p:sp>
        <p:nvSpPr>
          <p:cNvPr id="5" name="TextBox 4" descr="Objectif du chapitre : Recueillir des signaux de demande sans fabriquer des statistiques."/>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550" b="1" i="0">
                <a:solidFill>
                  <a:srgbClr val="38BDF8"/>
                </a:solidFill>
                <a:latin typeface="Arial"/>
              </a:rPr>
              <a:t>Recueillir des signaux de demande sans fabriquer des statistiques.</a:t>
            </a:r>
          </a:p>
        </p:txBody>
      </p:sp>
      <p:sp>
        <p:nvSpPr>
          <p:cNvPr id="6" name="Rounded Rectangle 5" descr="Point 1 : Délimitez une zone et un public."/>
          <p:cNvSpPr/>
          <p:nvPr/>
        </p:nvSpPr>
        <p:spPr>
          <a:xfrm>
            <a:off x="566928" y="2331720"/>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de section"/>
          <p:cNvSpPr/>
          <p:nvPr/>
        </p:nvSpPr>
        <p:spPr>
          <a:xfrm>
            <a:off x="566928" y="2331720"/>
            <a:ext cx="64008" cy="713232"/>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Numéro d'étape 1"/>
          <p:cNvSpPr txBox="1"/>
          <p:nvPr/>
        </p:nvSpPr>
        <p:spPr>
          <a:xfrm>
            <a:off x="841247" y="2414016"/>
            <a:ext cx="822960" cy="548640"/>
          </a:xfrm>
          <a:prstGeom prst="rect">
            <a:avLst/>
          </a:prstGeom>
          <a:noFill/>
        </p:spPr>
        <p:txBody>
          <a:bodyPr wrap="square" lIns="0" rIns="0" tIns="0" bIns="0" anchor="ctr">
            <a:spAutoFit/>
          </a:bodyPr>
          <a:lstStyle/>
          <a:p>
            <a:pPr algn="l">
              <a:lnSpc>
                <a:spcPct val="112000"/>
              </a:lnSpc>
            </a:pPr>
            <a:r>
              <a:rPr sz="2400" b="1" i="0">
                <a:solidFill>
                  <a:srgbClr val="38BDF8"/>
                </a:solidFill>
                <a:latin typeface="Arial"/>
              </a:rPr>
              <a:t>01</a:t>
            </a:r>
          </a:p>
        </p:txBody>
      </p:sp>
      <p:sp>
        <p:nvSpPr>
          <p:cNvPr id="9" name="TextBox 8" descr="Texte du point 1 : Délimitez une zone et un public."/>
          <p:cNvSpPr txBox="1"/>
          <p:nvPr/>
        </p:nvSpPr>
        <p:spPr>
          <a:xfrm>
            <a:off x="1755648" y="2386584"/>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Délimitez une zone et un public.</a:t>
            </a:r>
          </a:p>
        </p:txBody>
      </p:sp>
      <p:sp>
        <p:nvSpPr>
          <p:cNvPr id="10" name="Rounded Rectangle 9" descr="Point 2 : Recueillez des questions anonymisées."/>
          <p:cNvSpPr/>
          <p:nvPr/>
        </p:nvSpPr>
        <p:spPr>
          <a:xfrm>
            <a:off x="566928" y="3172968"/>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de section"/>
          <p:cNvSpPr/>
          <p:nvPr/>
        </p:nvSpPr>
        <p:spPr>
          <a:xfrm>
            <a:off x="566928" y="3172968"/>
            <a:ext cx="64008" cy="713232"/>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Numéro d'étape 2"/>
          <p:cNvSpPr txBox="1"/>
          <p:nvPr/>
        </p:nvSpPr>
        <p:spPr>
          <a:xfrm>
            <a:off x="841247" y="3255264"/>
            <a:ext cx="822960" cy="548640"/>
          </a:xfrm>
          <a:prstGeom prst="rect">
            <a:avLst/>
          </a:prstGeom>
          <a:noFill/>
        </p:spPr>
        <p:txBody>
          <a:bodyPr wrap="square" lIns="0" rIns="0" tIns="0" bIns="0" anchor="ctr">
            <a:spAutoFit/>
          </a:bodyPr>
          <a:lstStyle/>
          <a:p>
            <a:pPr algn="l">
              <a:lnSpc>
                <a:spcPct val="112000"/>
              </a:lnSpc>
            </a:pPr>
            <a:r>
              <a:rPr sz="2400" b="1" i="0">
                <a:solidFill>
                  <a:srgbClr val="38BDF8"/>
                </a:solidFill>
                <a:latin typeface="Arial"/>
              </a:rPr>
              <a:t>02</a:t>
            </a:r>
          </a:p>
        </p:txBody>
      </p:sp>
      <p:sp>
        <p:nvSpPr>
          <p:cNvPr id="13" name="TextBox 12" descr="Texte du point 2 : Recueillez des questions anonymisées."/>
          <p:cNvSpPr txBox="1"/>
          <p:nvPr/>
        </p:nvSpPr>
        <p:spPr>
          <a:xfrm>
            <a:off x="1755648" y="3227832"/>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Recueillez des questions anonymisées.</a:t>
            </a:r>
          </a:p>
        </p:txBody>
      </p:sp>
      <p:sp>
        <p:nvSpPr>
          <p:cNvPr id="14" name="Rounded Rectangle 13" descr="Point 3 : Séparez citations et interprétations."/>
          <p:cNvSpPr/>
          <p:nvPr/>
        </p:nvSpPr>
        <p:spPr>
          <a:xfrm>
            <a:off x="566928" y="4014215"/>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Repère décoratif de section"/>
          <p:cNvSpPr/>
          <p:nvPr/>
        </p:nvSpPr>
        <p:spPr>
          <a:xfrm>
            <a:off x="566928" y="4014215"/>
            <a:ext cx="64008" cy="713232"/>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Numéro d'étape 3"/>
          <p:cNvSpPr txBox="1"/>
          <p:nvPr/>
        </p:nvSpPr>
        <p:spPr>
          <a:xfrm>
            <a:off x="841247" y="4096511"/>
            <a:ext cx="822960" cy="548640"/>
          </a:xfrm>
          <a:prstGeom prst="rect">
            <a:avLst/>
          </a:prstGeom>
          <a:noFill/>
        </p:spPr>
        <p:txBody>
          <a:bodyPr wrap="square" lIns="0" rIns="0" tIns="0" bIns="0" anchor="ctr">
            <a:spAutoFit/>
          </a:bodyPr>
          <a:lstStyle/>
          <a:p>
            <a:pPr algn="l">
              <a:lnSpc>
                <a:spcPct val="112000"/>
              </a:lnSpc>
            </a:pPr>
            <a:r>
              <a:rPr sz="2400" b="1" i="0">
                <a:solidFill>
                  <a:srgbClr val="38BDF8"/>
                </a:solidFill>
                <a:latin typeface="Arial"/>
              </a:rPr>
              <a:t>03</a:t>
            </a:r>
          </a:p>
        </p:txBody>
      </p:sp>
      <p:sp>
        <p:nvSpPr>
          <p:cNvPr id="17" name="TextBox 16" descr="Texte du point 3 : Séparez citations et interprétations."/>
          <p:cNvSpPr txBox="1"/>
          <p:nvPr/>
        </p:nvSpPr>
        <p:spPr>
          <a:xfrm>
            <a:off x="1755648" y="4069079"/>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Séparez citations et interprétations.</a:t>
            </a:r>
          </a:p>
        </p:txBody>
      </p:sp>
      <p:sp>
        <p:nvSpPr>
          <p:cNvPr id="18" name="Rounded Rectangle 17" descr="Point 4 : Observez les solutions existantes."/>
          <p:cNvSpPr/>
          <p:nvPr/>
        </p:nvSpPr>
        <p:spPr>
          <a:xfrm>
            <a:off x="566928" y="4855464"/>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descr="Repère décoratif de section"/>
          <p:cNvSpPr/>
          <p:nvPr/>
        </p:nvSpPr>
        <p:spPr>
          <a:xfrm>
            <a:off x="566928" y="4855464"/>
            <a:ext cx="64008" cy="713232"/>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descr="Numéro d'étape 4"/>
          <p:cNvSpPr txBox="1"/>
          <p:nvPr/>
        </p:nvSpPr>
        <p:spPr>
          <a:xfrm>
            <a:off x="841247" y="4937760"/>
            <a:ext cx="822960" cy="548640"/>
          </a:xfrm>
          <a:prstGeom prst="rect">
            <a:avLst/>
          </a:prstGeom>
          <a:noFill/>
        </p:spPr>
        <p:txBody>
          <a:bodyPr wrap="square" lIns="0" rIns="0" tIns="0" bIns="0" anchor="ctr">
            <a:spAutoFit/>
          </a:bodyPr>
          <a:lstStyle/>
          <a:p>
            <a:pPr algn="l">
              <a:lnSpc>
                <a:spcPct val="112000"/>
              </a:lnSpc>
            </a:pPr>
            <a:r>
              <a:rPr sz="2400" b="1" i="0">
                <a:solidFill>
                  <a:srgbClr val="38BDF8"/>
                </a:solidFill>
                <a:latin typeface="Arial"/>
              </a:rPr>
              <a:t>04</a:t>
            </a:r>
          </a:p>
        </p:txBody>
      </p:sp>
      <p:sp>
        <p:nvSpPr>
          <p:cNvPr id="21" name="TextBox 20" descr="Texte du point 4 : Observez les solutions existantes."/>
          <p:cNvSpPr txBox="1"/>
          <p:nvPr/>
        </p:nvSpPr>
        <p:spPr>
          <a:xfrm>
            <a:off x="1755648" y="4910328"/>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Observez les solutions existantes.</a:t>
            </a:r>
          </a:p>
        </p:txBody>
      </p:sp>
      <p:sp>
        <p:nvSpPr>
          <p:cNvPr id="22" name="Rounded Rectangle 21" descr="Élément graphique décoratif, sans information propre"/>
          <p:cNvSpPr/>
          <p:nvPr/>
        </p:nvSpPr>
        <p:spPr>
          <a:xfrm>
            <a:off x="0" y="0"/>
            <a:ext cx="201168" cy="6858000"/>
          </a:xfrm>
          <a:prstGeom prst="round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descr="Référence de source affichée en pied de diapositive : Chapitre 06 — Analyser un marché et une audience"/>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 06 — Analyser un marché et une audience</a:t>
            </a:r>
          </a:p>
        </p:txBody>
      </p:sp>
      <p:sp>
        <p:nvSpPr>
          <p:cNvPr id="24" name="TextBox 23" descr="Numéro de diapositive 14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14 / 84  ·  2 min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Partie 02 · chapitre 07"/>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38BDF8"/>
                </a:solidFill>
                <a:latin typeface="Arial"/>
              </a:rPr>
              <a:t>PARTIE 02 · CHAPITRE 07</a:t>
            </a:r>
          </a:p>
        </p:txBody>
      </p:sp>
      <p:sp>
        <p:nvSpPr>
          <p:cNvPr id="4" name="TextBox 3" descr="Titre du chapitre : 07 · Étudier les concurrents sans copier"/>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200" b="1" i="0">
                <a:solidFill>
                  <a:srgbClr val="F2F6FC"/>
                </a:solidFill>
                <a:latin typeface="Arial"/>
              </a:rPr>
              <a:t>07 · Étudier les concurrents sans copier</a:t>
            </a:r>
          </a:p>
        </p:txBody>
      </p:sp>
      <p:sp>
        <p:nvSpPr>
          <p:cNvPr id="5" name="TextBox 4" descr="Objectif du chapitre : Comprendre les angles du marché en préservant l’originalité."/>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550" b="1" i="0">
                <a:solidFill>
                  <a:srgbClr val="38BDF8"/>
                </a:solidFill>
                <a:latin typeface="Arial"/>
              </a:rPr>
              <a:t>Comprendre les angles du marché en préservant l’originalité.</a:t>
            </a:r>
          </a:p>
        </p:txBody>
      </p:sp>
      <p:sp>
        <p:nvSpPr>
          <p:cNvPr id="6" name="Rounded Rectangle 5" descr="Point 1 : Sélectionnez des comptes publics selon un critère écrit."/>
          <p:cNvSpPr/>
          <p:nvPr/>
        </p:nvSpPr>
        <p:spPr>
          <a:xfrm>
            <a:off x="566928" y="2331720"/>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de section"/>
          <p:cNvSpPr/>
          <p:nvPr/>
        </p:nvSpPr>
        <p:spPr>
          <a:xfrm>
            <a:off x="566928" y="2331720"/>
            <a:ext cx="64008" cy="713232"/>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Numéro d'étape 1"/>
          <p:cNvSpPr txBox="1"/>
          <p:nvPr/>
        </p:nvSpPr>
        <p:spPr>
          <a:xfrm>
            <a:off x="841247" y="2414016"/>
            <a:ext cx="822960" cy="548640"/>
          </a:xfrm>
          <a:prstGeom prst="rect">
            <a:avLst/>
          </a:prstGeom>
          <a:noFill/>
        </p:spPr>
        <p:txBody>
          <a:bodyPr wrap="square" lIns="0" rIns="0" tIns="0" bIns="0" anchor="ctr">
            <a:spAutoFit/>
          </a:bodyPr>
          <a:lstStyle/>
          <a:p>
            <a:pPr algn="l">
              <a:lnSpc>
                <a:spcPct val="112000"/>
              </a:lnSpc>
            </a:pPr>
            <a:r>
              <a:rPr sz="2400" b="1" i="0">
                <a:solidFill>
                  <a:srgbClr val="38BDF8"/>
                </a:solidFill>
                <a:latin typeface="Arial"/>
              </a:rPr>
              <a:t>01</a:t>
            </a:r>
          </a:p>
        </p:txBody>
      </p:sp>
      <p:sp>
        <p:nvSpPr>
          <p:cNvPr id="9" name="TextBox 8" descr="Texte du point 1 : Sélectionnez des comptes publics selon un critère écrit."/>
          <p:cNvSpPr txBox="1"/>
          <p:nvPr/>
        </p:nvSpPr>
        <p:spPr>
          <a:xfrm>
            <a:off x="1755648" y="2386584"/>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Sélectionnez des comptes publics selon un critère écrit.</a:t>
            </a:r>
          </a:p>
        </p:txBody>
      </p:sp>
      <p:sp>
        <p:nvSpPr>
          <p:cNvPr id="10" name="Rounded Rectangle 9" descr="Point 2 : Relevez thèmes et CTA sans copier."/>
          <p:cNvSpPr/>
          <p:nvPr/>
        </p:nvSpPr>
        <p:spPr>
          <a:xfrm>
            <a:off x="566928" y="3172968"/>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de section"/>
          <p:cNvSpPr/>
          <p:nvPr/>
        </p:nvSpPr>
        <p:spPr>
          <a:xfrm>
            <a:off x="566928" y="3172968"/>
            <a:ext cx="64008" cy="713232"/>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Numéro d'étape 2"/>
          <p:cNvSpPr txBox="1"/>
          <p:nvPr/>
        </p:nvSpPr>
        <p:spPr>
          <a:xfrm>
            <a:off x="841247" y="3255264"/>
            <a:ext cx="822960" cy="548640"/>
          </a:xfrm>
          <a:prstGeom prst="rect">
            <a:avLst/>
          </a:prstGeom>
          <a:noFill/>
        </p:spPr>
        <p:txBody>
          <a:bodyPr wrap="square" lIns="0" rIns="0" tIns="0" bIns="0" anchor="ctr">
            <a:spAutoFit/>
          </a:bodyPr>
          <a:lstStyle/>
          <a:p>
            <a:pPr algn="l">
              <a:lnSpc>
                <a:spcPct val="112000"/>
              </a:lnSpc>
            </a:pPr>
            <a:r>
              <a:rPr sz="2400" b="1" i="0">
                <a:solidFill>
                  <a:srgbClr val="38BDF8"/>
                </a:solidFill>
                <a:latin typeface="Arial"/>
              </a:rPr>
              <a:t>02</a:t>
            </a:r>
          </a:p>
        </p:txBody>
      </p:sp>
      <p:sp>
        <p:nvSpPr>
          <p:cNvPr id="13" name="TextBox 12" descr="Texte du point 2 : Relevez thèmes et CTA sans copier."/>
          <p:cNvSpPr txBox="1"/>
          <p:nvPr/>
        </p:nvSpPr>
        <p:spPr>
          <a:xfrm>
            <a:off x="1755648" y="3227832"/>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Relevez thèmes et CTA sans copier.</a:t>
            </a:r>
          </a:p>
        </p:txBody>
      </p:sp>
      <p:sp>
        <p:nvSpPr>
          <p:cNvPr id="14" name="Rounded Rectangle 13" descr="Point 3 : Marquez ce qui reste inconnu."/>
          <p:cNvSpPr/>
          <p:nvPr/>
        </p:nvSpPr>
        <p:spPr>
          <a:xfrm>
            <a:off x="566928" y="4014215"/>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Repère décoratif de section"/>
          <p:cNvSpPr/>
          <p:nvPr/>
        </p:nvSpPr>
        <p:spPr>
          <a:xfrm>
            <a:off x="566928" y="4014215"/>
            <a:ext cx="64008" cy="713232"/>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Numéro d'étape 3"/>
          <p:cNvSpPr txBox="1"/>
          <p:nvPr/>
        </p:nvSpPr>
        <p:spPr>
          <a:xfrm>
            <a:off x="841247" y="4096511"/>
            <a:ext cx="822960" cy="548640"/>
          </a:xfrm>
          <a:prstGeom prst="rect">
            <a:avLst/>
          </a:prstGeom>
          <a:noFill/>
        </p:spPr>
        <p:txBody>
          <a:bodyPr wrap="square" lIns="0" rIns="0" tIns="0" bIns="0" anchor="ctr">
            <a:spAutoFit/>
          </a:bodyPr>
          <a:lstStyle/>
          <a:p>
            <a:pPr algn="l">
              <a:lnSpc>
                <a:spcPct val="112000"/>
              </a:lnSpc>
            </a:pPr>
            <a:r>
              <a:rPr sz="2400" b="1" i="0">
                <a:solidFill>
                  <a:srgbClr val="38BDF8"/>
                </a:solidFill>
                <a:latin typeface="Arial"/>
              </a:rPr>
              <a:t>03</a:t>
            </a:r>
          </a:p>
        </p:txBody>
      </p:sp>
      <p:sp>
        <p:nvSpPr>
          <p:cNvPr id="17" name="TextBox 16" descr="Texte du point 3 : Marquez ce qui reste inconnu."/>
          <p:cNvSpPr txBox="1"/>
          <p:nvPr/>
        </p:nvSpPr>
        <p:spPr>
          <a:xfrm>
            <a:off x="1755648" y="4069079"/>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Marquez ce qui reste inconnu.</a:t>
            </a:r>
          </a:p>
        </p:txBody>
      </p:sp>
      <p:sp>
        <p:nvSpPr>
          <p:cNvPr id="18" name="Rounded Rectangle 17" descr="Point 4 : Trouvez une question mal expliquée."/>
          <p:cNvSpPr/>
          <p:nvPr/>
        </p:nvSpPr>
        <p:spPr>
          <a:xfrm>
            <a:off x="566928" y="4855464"/>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descr="Repère décoratif de section"/>
          <p:cNvSpPr/>
          <p:nvPr/>
        </p:nvSpPr>
        <p:spPr>
          <a:xfrm>
            <a:off x="566928" y="4855464"/>
            <a:ext cx="64008" cy="713232"/>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descr="Numéro d'étape 4"/>
          <p:cNvSpPr txBox="1"/>
          <p:nvPr/>
        </p:nvSpPr>
        <p:spPr>
          <a:xfrm>
            <a:off x="841247" y="4937760"/>
            <a:ext cx="822960" cy="548640"/>
          </a:xfrm>
          <a:prstGeom prst="rect">
            <a:avLst/>
          </a:prstGeom>
          <a:noFill/>
        </p:spPr>
        <p:txBody>
          <a:bodyPr wrap="square" lIns="0" rIns="0" tIns="0" bIns="0" anchor="ctr">
            <a:spAutoFit/>
          </a:bodyPr>
          <a:lstStyle/>
          <a:p>
            <a:pPr algn="l">
              <a:lnSpc>
                <a:spcPct val="112000"/>
              </a:lnSpc>
            </a:pPr>
            <a:r>
              <a:rPr sz="2400" b="1" i="0">
                <a:solidFill>
                  <a:srgbClr val="38BDF8"/>
                </a:solidFill>
                <a:latin typeface="Arial"/>
              </a:rPr>
              <a:t>04</a:t>
            </a:r>
          </a:p>
        </p:txBody>
      </p:sp>
      <p:sp>
        <p:nvSpPr>
          <p:cNvPr id="21" name="TextBox 20" descr="Texte du point 4 : Trouvez une question mal expliquée."/>
          <p:cNvSpPr txBox="1"/>
          <p:nvPr/>
        </p:nvSpPr>
        <p:spPr>
          <a:xfrm>
            <a:off x="1755648" y="4910328"/>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Trouvez une question mal expliquée.</a:t>
            </a:r>
          </a:p>
        </p:txBody>
      </p:sp>
      <p:sp>
        <p:nvSpPr>
          <p:cNvPr id="22" name="Rounded Rectangle 21" descr="Élément graphique décoratif, sans information propre"/>
          <p:cNvSpPr/>
          <p:nvPr/>
        </p:nvSpPr>
        <p:spPr>
          <a:xfrm>
            <a:off x="0" y="0"/>
            <a:ext cx="201168" cy="6858000"/>
          </a:xfrm>
          <a:prstGeom prst="round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descr="Référence de source affichée en pied de diapositive : Chapitre 07 — Étudier les concurrents sans copier"/>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 07 — Étudier les concurrents sans copier</a:t>
            </a:r>
          </a:p>
        </p:txBody>
      </p:sp>
      <p:sp>
        <p:nvSpPr>
          <p:cNvPr id="24" name="TextBox 23" descr="Numéro de diapositive 15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15 / 84  ·  2 min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Partie 02 · chapitre 08"/>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38BDF8"/>
                </a:solidFill>
                <a:latin typeface="Arial"/>
              </a:rPr>
              <a:t>PARTIE 02 · CHAPITRE 08</a:t>
            </a:r>
          </a:p>
        </p:txBody>
      </p:sp>
      <p:sp>
        <p:nvSpPr>
          <p:cNvPr id="4" name="TextBox 3" descr="Titre du chapitre : 08 · Choisir TikTok, YouTube, Instagram ou Facebook"/>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000" b="1" i="0">
                <a:solidFill>
                  <a:srgbClr val="F2F6FC"/>
                </a:solidFill>
                <a:latin typeface="Arial"/>
              </a:rPr>
              <a:t>08 · Choisir TikTok, YouTube, Instagram ou Facebook</a:t>
            </a:r>
          </a:p>
        </p:txBody>
      </p:sp>
      <p:sp>
        <p:nvSpPr>
          <p:cNvPr id="5" name="TextBox 4" descr="Objectif du chapitre : Choisir un canal principal plutôt que courir après une plateforme populaire."/>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550" b="1" i="0">
                <a:solidFill>
                  <a:srgbClr val="38BDF8"/>
                </a:solidFill>
                <a:latin typeface="Arial"/>
              </a:rPr>
              <a:t>Choisir un canal principal plutôt que courir après une plateforme populaire.</a:t>
            </a:r>
          </a:p>
        </p:txBody>
      </p:sp>
      <p:sp>
        <p:nvSpPr>
          <p:cNvPr id="6" name="Rounded Rectangle 5" descr="Point 1 : Repérez où le public échange."/>
          <p:cNvSpPr/>
          <p:nvPr/>
        </p:nvSpPr>
        <p:spPr>
          <a:xfrm>
            <a:off x="566928" y="2331720"/>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de section"/>
          <p:cNvSpPr/>
          <p:nvPr/>
        </p:nvSpPr>
        <p:spPr>
          <a:xfrm>
            <a:off x="566928" y="2331720"/>
            <a:ext cx="64008" cy="713232"/>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Numéro d'étape 1"/>
          <p:cNvSpPr txBox="1"/>
          <p:nvPr/>
        </p:nvSpPr>
        <p:spPr>
          <a:xfrm>
            <a:off x="841247" y="2414016"/>
            <a:ext cx="822960" cy="548640"/>
          </a:xfrm>
          <a:prstGeom prst="rect">
            <a:avLst/>
          </a:prstGeom>
          <a:noFill/>
        </p:spPr>
        <p:txBody>
          <a:bodyPr wrap="square" lIns="0" rIns="0" tIns="0" bIns="0" anchor="ctr">
            <a:spAutoFit/>
          </a:bodyPr>
          <a:lstStyle/>
          <a:p>
            <a:pPr algn="l">
              <a:lnSpc>
                <a:spcPct val="112000"/>
              </a:lnSpc>
            </a:pPr>
            <a:r>
              <a:rPr sz="2400" b="1" i="0">
                <a:solidFill>
                  <a:srgbClr val="38BDF8"/>
                </a:solidFill>
                <a:latin typeface="Arial"/>
              </a:rPr>
              <a:t>01</a:t>
            </a:r>
          </a:p>
        </p:txBody>
      </p:sp>
      <p:sp>
        <p:nvSpPr>
          <p:cNvPr id="9" name="TextBox 8" descr="Texte du point 1 : Repérez où le public échange."/>
          <p:cNvSpPr txBox="1"/>
          <p:nvPr/>
        </p:nvSpPr>
        <p:spPr>
          <a:xfrm>
            <a:off x="1755648" y="2386584"/>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Repérez où le public échange.</a:t>
            </a:r>
          </a:p>
        </p:txBody>
      </p:sp>
      <p:sp>
        <p:nvSpPr>
          <p:cNvPr id="10" name="Rounded Rectangle 9" descr="Point 2 : Choisissez un format soutenable."/>
          <p:cNvSpPr/>
          <p:nvPr/>
        </p:nvSpPr>
        <p:spPr>
          <a:xfrm>
            <a:off x="566928" y="3172968"/>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de section"/>
          <p:cNvSpPr/>
          <p:nvPr/>
        </p:nvSpPr>
        <p:spPr>
          <a:xfrm>
            <a:off x="566928" y="3172968"/>
            <a:ext cx="64008" cy="713232"/>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Numéro d'étape 2"/>
          <p:cNvSpPr txBox="1"/>
          <p:nvPr/>
        </p:nvSpPr>
        <p:spPr>
          <a:xfrm>
            <a:off x="841247" y="3255264"/>
            <a:ext cx="822960" cy="548640"/>
          </a:xfrm>
          <a:prstGeom prst="rect">
            <a:avLst/>
          </a:prstGeom>
          <a:noFill/>
        </p:spPr>
        <p:txBody>
          <a:bodyPr wrap="square" lIns="0" rIns="0" tIns="0" bIns="0" anchor="ctr">
            <a:spAutoFit/>
          </a:bodyPr>
          <a:lstStyle/>
          <a:p>
            <a:pPr algn="l">
              <a:lnSpc>
                <a:spcPct val="112000"/>
              </a:lnSpc>
            </a:pPr>
            <a:r>
              <a:rPr sz="2400" b="1" i="0">
                <a:solidFill>
                  <a:srgbClr val="38BDF8"/>
                </a:solidFill>
                <a:latin typeface="Arial"/>
              </a:rPr>
              <a:t>02</a:t>
            </a:r>
          </a:p>
        </p:txBody>
      </p:sp>
      <p:sp>
        <p:nvSpPr>
          <p:cNvPr id="13" name="TextBox 12" descr="Texte du point 2 : Choisissez un format soutenable."/>
          <p:cNvSpPr txBox="1"/>
          <p:nvPr/>
        </p:nvSpPr>
        <p:spPr>
          <a:xfrm>
            <a:off x="1755648" y="3227832"/>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Choisissez un format soutenable.</a:t>
            </a:r>
          </a:p>
        </p:txBody>
      </p:sp>
      <p:sp>
        <p:nvSpPr>
          <p:cNvPr id="14" name="Rounded Rectangle 13" descr="Point 3 : Fixez une métrique reliée à l’objectif."/>
          <p:cNvSpPr/>
          <p:nvPr/>
        </p:nvSpPr>
        <p:spPr>
          <a:xfrm>
            <a:off x="566928" y="4014215"/>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Repère décoratif de section"/>
          <p:cNvSpPr/>
          <p:nvPr/>
        </p:nvSpPr>
        <p:spPr>
          <a:xfrm>
            <a:off x="566928" y="4014215"/>
            <a:ext cx="64008" cy="713232"/>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Numéro d'étape 3"/>
          <p:cNvSpPr txBox="1"/>
          <p:nvPr/>
        </p:nvSpPr>
        <p:spPr>
          <a:xfrm>
            <a:off x="841247" y="4096511"/>
            <a:ext cx="822960" cy="548640"/>
          </a:xfrm>
          <a:prstGeom prst="rect">
            <a:avLst/>
          </a:prstGeom>
          <a:noFill/>
        </p:spPr>
        <p:txBody>
          <a:bodyPr wrap="square" lIns="0" rIns="0" tIns="0" bIns="0" anchor="ctr">
            <a:spAutoFit/>
          </a:bodyPr>
          <a:lstStyle/>
          <a:p>
            <a:pPr algn="l">
              <a:lnSpc>
                <a:spcPct val="112000"/>
              </a:lnSpc>
            </a:pPr>
            <a:r>
              <a:rPr sz="2400" b="1" i="0">
                <a:solidFill>
                  <a:srgbClr val="38BDF8"/>
                </a:solidFill>
                <a:latin typeface="Arial"/>
              </a:rPr>
              <a:t>03</a:t>
            </a:r>
          </a:p>
        </p:txBody>
      </p:sp>
      <p:sp>
        <p:nvSpPr>
          <p:cNvPr id="17" name="TextBox 16" descr="Texte du point 3 : Fixez une métrique reliée à l’objectif."/>
          <p:cNvSpPr txBox="1"/>
          <p:nvPr/>
        </p:nvSpPr>
        <p:spPr>
          <a:xfrm>
            <a:off x="1755648" y="4069079"/>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Fixez une métrique reliée à l’objectif.</a:t>
            </a:r>
          </a:p>
        </p:txBody>
      </p:sp>
      <p:sp>
        <p:nvSpPr>
          <p:cNvPr id="18" name="Rounded Rectangle 17" descr="Point 4 : Testez un canal principal et éventuellement un secondaire."/>
          <p:cNvSpPr/>
          <p:nvPr/>
        </p:nvSpPr>
        <p:spPr>
          <a:xfrm>
            <a:off x="566928" y="4855464"/>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descr="Repère décoratif de section"/>
          <p:cNvSpPr/>
          <p:nvPr/>
        </p:nvSpPr>
        <p:spPr>
          <a:xfrm>
            <a:off x="566928" y="4855464"/>
            <a:ext cx="64008" cy="713232"/>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descr="Numéro d'étape 4"/>
          <p:cNvSpPr txBox="1"/>
          <p:nvPr/>
        </p:nvSpPr>
        <p:spPr>
          <a:xfrm>
            <a:off x="841247" y="4937760"/>
            <a:ext cx="822960" cy="548640"/>
          </a:xfrm>
          <a:prstGeom prst="rect">
            <a:avLst/>
          </a:prstGeom>
          <a:noFill/>
        </p:spPr>
        <p:txBody>
          <a:bodyPr wrap="square" lIns="0" rIns="0" tIns="0" bIns="0" anchor="ctr">
            <a:spAutoFit/>
          </a:bodyPr>
          <a:lstStyle/>
          <a:p>
            <a:pPr algn="l">
              <a:lnSpc>
                <a:spcPct val="112000"/>
              </a:lnSpc>
            </a:pPr>
            <a:r>
              <a:rPr sz="2400" b="1" i="0">
                <a:solidFill>
                  <a:srgbClr val="38BDF8"/>
                </a:solidFill>
                <a:latin typeface="Arial"/>
              </a:rPr>
              <a:t>04</a:t>
            </a:r>
          </a:p>
        </p:txBody>
      </p:sp>
      <p:sp>
        <p:nvSpPr>
          <p:cNvPr id="21" name="TextBox 20" descr="Texte du point 4 : Testez un canal principal et éventuellement un secondaire."/>
          <p:cNvSpPr txBox="1"/>
          <p:nvPr/>
        </p:nvSpPr>
        <p:spPr>
          <a:xfrm>
            <a:off x="1755648" y="4910328"/>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Testez un canal principal et éventuellement un secondaire.</a:t>
            </a:r>
          </a:p>
        </p:txBody>
      </p:sp>
      <p:sp>
        <p:nvSpPr>
          <p:cNvPr id="22" name="Rounded Rectangle 21" descr="Élément graphique décoratif, sans information propre"/>
          <p:cNvSpPr/>
          <p:nvPr/>
        </p:nvSpPr>
        <p:spPr>
          <a:xfrm>
            <a:off x="0" y="0"/>
            <a:ext cx="201168" cy="6858000"/>
          </a:xfrm>
          <a:prstGeom prst="round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descr="Référence de source affichée en pied de diapositive : Chapitre 08 — Choisir TikTok, YouTube, Instagram ou Facebook"/>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 08 — Choisir TikTok, YouTube, Instagram ou Facebook</a:t>
            </a:r>
          </a:p>
        </p:txBody>
      </p:sp>
      <p:sp>
        <p:nvSpPr>
          <p:cNvPr id="24" name="TextBox 23" descr="Numéro de diapositive 16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16 / 84  ·  2 min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Synthèse · partie 02"/>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38BDF8"/>
                </a:solidFill>
                <a:latin typeface="Arial"/>
              </a:rPr>
              <a:t>SYNTHÈSE · PARTIE 02</a:t>
            </a:r>
          </a:p>
        </p:txBody>
      </p:sp>
      <p:sp>
        <p:nvSpPr>
          <p:cNvPr id="4" name="TextBox 3" descr="Titre : À retenir · partie 02"/>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600" b="1" i="0">
                <a:solidFill>
                  <a:srgbClr val="F2F6FC"/>
                </a:solidFill>
                <a:latin typeface="Arial"/>
              </a:rPr>
              <a:t>À retenir · partie 02</a:t>
            </a:r>
          </a:p>
        </p:txBody>
      </p:sp>
      <p:sp>
        <p:nvSpPr>
          <p:cNvPr id="5" name="TextBox 4" descr="Sous-titre : DE L’IDÉE À L’OPPORTUNITÉ"/>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600" b="1" i="0">
                <a:solidFill>
                  <a:srgbClr val="38BDF8"/>
                </a:solidFill>
                <a:latin typeface="Arial"/>
              </a:rPr>
              <a:t>DE L’IDÉE À L’OPPORTUNITÉ</a:t>
            </a:r>
          </a:p>
        </p:txBody>
      </p:sp>
      <p:sp>
        <p:nvSpPr>
          <p:cNvPr id="6" name="Rounded Rectangle 5" descr="Point 1 : Définir un point de départ réel et démontrable."/>
          <p:cNvSpPr/>
          <p:nvPr/>
        </p:nvSpPr>
        <p:spPr>
          <a:xfrm>
            <a:off x="566928" y="2212848"/>
            <a:ext cx="11064240" cy="59436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de section"/>
          <p:cNvSpPr/>
          <p:nvPr/>
        </p:nvSpPr>
        <p:spPr>
          <a:xfrm>
            <a:off x="566928" y="2212848"/>
            <a:ext cx="64008" cy="59436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Numéro d'étape 1"/>
          <p:cNvSpPr txBox="1"/>
          <p:nvPr/>
        </p:nvSpPr>
        <p:spPr>
          <a:xfrm>
            <a:off x="841247" y="2235708"/>
            <a:ext cx="822960" cy="548640"/>
          </a:xfrm>
          <a:prstGeom prst="rect">
            <a:avLst/>
          </a:prstGeom>
          <a:noFill/>
        </p:spPr>
        <p:txBody>
          <a:bodyPr wrap="square" lIns="0" rIns="0" tIns="0" bIns="0" anchor="ctr">
            <a:spAutoFit/>
          </a:bodyPr>
          <a:lstStyle/>
          <a:p>
            <a:pPr algn="l">
              <a:lnSpc>
                <a:spcPct val="112000"/>
              </a:lnSpc>
            </a:pPr>
            <a:r>
              <a:rPr sz="2400" b="1" i="0">
                <a:solidFill>
                  <a:srgbClr val="38BDF8"/>
                </a:solidFill>
                <a:latin typeface="Arial"/>
              </a:rPr>
              <a:t>01</a:t>
            </a:r>
          </a:p>
        </p:txBody>
      </p:sp>
      <p:sp>
        <p:nvSpPr>
          <p:cNvPr id="9" name="TextBox 8" descr="Texte du point 1 : Définir un point de départ réel et démontrable."/>
          <p:cNvSpPr txBox="1"/>
          <p:nvPr/>
        </p:nvSpPr>
        <p:spPr>
          <a:xfrm>
            <a:off x="1755648" y="2267712"/>
            <a:ext cx="9646919" cy="484632"/>
          </a:xfrm>
          <a:prstGeom prst="rect">
            <a:avLst/>
          </a:prstGeom>
          <a:noFill/>
        </p:spPr>
        <p:txBody>
          <a:bodyPr wrap="square" lIns="0" rIns="0" tIns="0" bIns="0" anchor="ctr">
            <a:spAutoFit/>
          </a:bodyPr>
          <a:lstStyle/>
          <a:p>
            <a:pPr algn="l">
              <a:lnSpc>
                <a:spcPct val="112000"/>
              </a:lnSpc>
            </a:pPr>
            <a:r>
              <a:rPr sz="1500" b="0" i="0">
                <a:solidFill>
                  <a:srgbClr val="F2F6FC"/>
                </a:solidFill>
                <a:latin typeface="Arial"/>
              </a:rPr>
              <a:t>Définir un point de départ réel et démontrable.</a:t>
            </a:r>
          </a:p>
        </p:txBody>
      </p:sp>
      <p:sp>
        <p:nvSpPr>
          <p:cNvPr id="10" name="Rounded Rectangle 9" descr="Point 2 : Choisir un public, un problème et un angle testables."/>
          <p:cNvSpPr/>
          <p:nvPr/>
        </p:nvSpPr>
        <p:spPr>
          <a:xfrm>
            <a:off x="566928" y="2916936"/>
            <a:ext cx="11064240" cy="59436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de section"/>
          <p:cNvSpPr/>
          <p:nvPr/>
        </p:nvSpPr>
        <p:spPr>
          <a:xfrm>
            <a:off x="566928" y="2916936"/>
            <a:ext cx="64008" cy="59436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Numéro d'étape 2"/>
          <p:cNvSpPr txBox="1"/>
          <p:nvPr/>
        </p:nvSpPr>
        <p:spPr>
          <a:xfrm>
            <a:off x="841247" y="2939796"/>
            <a:ext cx="822960" cy="548640"/>
          </a:xfrm>
          <a:prstGeom prst="rect">
            <a:avLst/>
          </a:prstGeom>
          <a:noFill/>
        </p:spPr>
        <p:txBody>
          <a:bodyPr wrap="square" lIns="0" rIns="0" tIns="0" bIns="0" anchor="ctr">
            <a:spAutoFit/>
          </a:bodyPr>
          <a:lstStyle/>
          <a:p>
            <a:pPr algn="l">
              <a:lnSpc>
                <a:spcPct val="112000"/>
              </a:lnSpc>
            </a:pPr>
            <a:r>
              <a:rPr sz="2400" b="1" i="0">
                <a:solidFill>
                  <a:srgbClr val="38BDF8"/>
                </a:solidFill>
                <a:latin typeface="Arial"/>
              </a:rPr>
              <a:t>02</a:t>
            </a:r>
          </a:p>
        </p:txBody>
      </p:sp>
      <p:sp>
        <p:nvSpPr>
          <p:cNvPr id="13" name="TextBox 12" descr="Texte du point 2 : Choisir un public, un problème et un angle testables."/>
          <p:cNvSpPr txBox="1"/>
          <p:nvPr/>
        </p:nvSpPr>
        <p:spPr>
          <a:xfrm>
            <a:off x="1755648" y="2971800"/>
            <a:ext cx="9646919" cy="484632"/>
          </a:xfrm>
          <a:prstGeom prst="rect">
            <a:avLst/>
          </a:prstGeom>
          <a:noFill/>
        </p:spPr>
        <p:txBody>
          <a:bodyPr wrap="square" lIns="0" rIns="0" tIns="0" bIns="0" anchor="ctr">
            <a:spAutoFit/>
          </a:bodyPr>
          <a:lstStyle/>
          <a:p>
            <a:pPr algn="l">
              <a:lnSpc>
                <a:spcPct val="112000"/>
              </a:lnSpc>
            </a:pPr>
            <a:r>
              <a:rPr sz="1500" b="0" i="0">
                <a:solidFill>
                  <a:srgbClr val="F2F6FC"/>
                </a:solidFill>
                <a:latin typeface="Arial"/>
              </a:rPr>
              <a:t>Choisir un public, un problème et un angle testables.</a:t>
            </a:r>
          </a:p>
        </p:txBody>
      </p:sp>
      <p:sp>
        <p:nvSpPr>
          <p:cNvPr id="14" name="Rounded Rectangle 13" descr="Point 3 : Recueillir des signaux de demande sans fabriquer des statistiques."/>
          <p:cNvSpPr/>
          <p:nvPr/>
        </p:nvSpPr>
        <p:spPr>
          <a:xfrm>
            <a:off x="566928" y="3621024"/>
            <a:ext cx="11064240" cy="59436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Repère décoratif de section"/>
          <p:cNvSpPr/>
          <p:nvPr/>
        </p:nvSpPr>
        <p:spPr>
          <a:xfrm>
            <a:off x="566928" y="3621024"/>
            <a:ext cx="64008" cy="59436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Numéro d'étape 3"/>
          <p:cNvSpPr txBox="1"/>
          <p:nvPr/>
        </p:nvSpPr>
        <p:spPr>
          <a:xfrm>
            <a:off x="841247" y="3643884"/>
            <a:ext cx="822960" cy="548640"/>
          </a:xfrm>
          <a:prstGeom prst="rect">
            <a:avLst/>
          </a:prstGeom>
          <a:noFill/>
        </p:spPr>
        <p:txBody>
          <a:bodyPr wrap="square" lIns="0" rIns="0" tIns="0" bIns="0" anchor="ctr">
            <a:spAutoFit/>
          </a:bodyPr>
          <a:lstStyle/>
          <a:p>
            <a:pPr algn="l">
              <a:lnSpc>
                <a:spcPct val="112000"/>
              </a:lnSpc>
            </a:pPr>
            <a:r>
              <a:rPr sz="2400" b="1" i="0">
                <a:solidFill>
                  <a:srgbClr val="38BDF8"/>
                </a:solidFill>
                <a:latin typeface="Arial"/>
              </a:rPr>
              <a:t>03</a:t>
            </a:r>
          </a:p>
        </p:txBody>
      </p:sp>
      <p:sp>
        <p:nvSpPr>
          <p:cNvPr id="17" name="TextBox 16" descr="Texte du point 3 : Recueillir des signaux de demande sans fabriquer des statistiques."/>
          <p:cNvSpPr txBox="1"/>
          <p:nvPr/>
        </p:nvSpPr>
        <p:spPr>
          <a:xfrm>
            <a:off x="1755648" y="3675887"/>
            <a:ext cx="9646919" cy="484632"/>
          </a:xfrm>
          <a:prstGeom prst="rect">
            <a:avLst/>
          </a:prstGeom>
          <a:noFill/>
        </p:spPr>
        <p:txBody>
          <a:bodyPr wrap="square" lIns="0" rIns="0" tIns="0" bIns="0" anchor="ctr">
            <a:spAutoFit/>
          </a:bodyPr>
          <a:lstStyle/>
          <a:p>
            <a:pPr algn="l">
              <a:lnSpc>
                <a:spcPct val="112000"/>
              </a:lnSpc>
            </a:pPr>
            <a:r>
              <a:rPr sz="1500" b="0" i="0">
                <a:solidFill>
                  <a:srgbClr val="F2F6FC"/>
                </a:solidFill>
                <a:latin typeface="Arial"/>
              </a:rPr>
              <a:t>Recueillir des signaux de demande sans fabriquer des statistiques.</a:t>
            </a:r>
          </a:p>
        </p:txBody>
      </p:sp>
      <p:sp>
        <p:nvSpPr>
          <p:cNvPr id="18" name="Rounded Rectangle 17" descr="Point 4 : Comprendre les angles du marché en préservant l’originalité."/>
          <p:cNvSpPr/>
          <p:nvPr/>
        </p:nvSpPr>
        <p:spPr>
          <a:xfrm>
            <a:off x="566928" y="4325112"/>
            <a:ext cx="11064240" cy="59436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descr="Repère décoratif de section"/>
          <p:cNvSpPr/>
          <p:nvPr/>
        </p:nvSpPr>
        <p:spPr>
          <a:xfrm>
            <a:off x="566928" y="4325112"/>
            <a:ext cx="64008" cy="59436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descr="Numéro d'étape 4"/>
          <p:cNvSpPr txBox="1"/>
          <p:nvPr/>
        </p:nvSpPr>
        <p:spPr>
          <a:xfrm>
            <a:off x="841247" y="4347972"/>
            <a:ext cx="822960" cy="548640"/>
          </a:xfrm>
          <a:prstGeom prst="rect">
            <a:avLst/>
          </a:prstGeom>
          <a:noFill/>
        </p:spPr>
        <p:txBody>
          <a:bodyPr wrap="square" lIns="0" rIns="0" tIns="0" bIns="0" anchor="ctr">
            <a:spAutoFit/>
          </a:bodyPr>
          <a:lstStyle/>
          <a:p>
            <a:pPr algn="l">
              <a:lnSpc>
                <a:spcPct val="112000"/>
              </a:lnSpc>
            </a:pPr>
            <a:r>
              <a:rPr sz="2400" b="1" i="0">
                <a:solidFill>
                  <a:srgbClr val="38BDF8"/>
                </a:solidFill>
                <a:latin typeface="Arial"/>
              </a:rPr>
              <a:t>04</a:t>
            </a:r>
          </a:p>
        </p:txBody>
      </p:sp>
      <p:sp>
        <p:nvSpPr>
          <p:cNvPr id="21" name="TextBox 20" descr="Texte du point 4 : Comprendre les angles du marché en préservant l’originalité."/>
          <p:cNvSpPr txBox="1"/>
          <p:nvPr/>
        </p:nvSpPr>
        <p:spPr>
          <a:xfrm>
            <a:off x="1755648" y="4379976"/>
            <a:ext cx="9646919" cy="484632"/>
          </a:xfrm>
          <a:prstGeom prst="rect">
            <a:avLst/>
          </a:prstGeom>
          <a:noFill/>
        </p:spPr>
        <p:txBody>
          <a:bodyPr wrap="square" lIns="0" rIns="0" tIns="0" bIns="0" anchor="ctr">
            <a:spAutoFit/>
          </a:bodyPr>
          <a:lstStyle/>
          <a:p>
            <a:pPr algn="l">
              <a:lnSpc>
                <a:spcPct val="112000"/>
              </a:lnSpc>
            </a:pPr>
            <a:r>
              <a:rPr sz="1500" b="0" i="0">
                <a:solidFill>
                  <a:srgbClr val="F2F6FC"/>
                </a:solidFill>
                <a:latin typeface="Arial"/>
              </a:rPr>
              <a:t>Comprendre les angles du marché en préservant l’originalité.</a:t>
            </a:r>
          </a:p>
        </p:txBody>
      </p:sp>
      <p:sp>
        <p:nvSpPr>
          <p:cNvPr id="22" name="Rounded Rectangle 21" descr="Point 5 : Choisir un canal principal plutôt que courir après une plateforme populaire."/>
          <p:cNvSpPr/>
          <p:nvPr/>
        </p:nvSpPr>
        <p:spPr>
          <a:xfrm>
            <a:off x="566928" y="5029200"/>
            <a:ext cx="11064240" cy="59436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descr="Repère décoratif de section"/>
          <p:cNvSpPr/>
          <p:nvPr/>
        </p:nvSpPr>
        <p:spPr>
          <a:xfrm>
            <a:off x="566928" y="5029200"/>
            <a:ext cx="64008" cy="59436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descr="Numéro d'étape 5"/>
          <p:cNvSpPr txBox="1"/>
          <p:nvPr/>
        </p:nvSpPr>
        <p:spPr>
          <a:xfrm>
            <a:off x="841247" y="5052060"/>
            <a:ext cx="822960" cy="548640"/>
          </a:xfrm>
          <a:prstGeom prst="rect">
            <a:avLst/>
          </a:prstGeom>
          <a:noFill/>
        </p:spPr>
        <p:txBody>
          <a:bodyPr wrap="square" lIns="0" rIns="0" tIns="0" bIns="0" anchor="ctr">
            <a:spAutoFit/>
          </a:bodyPr>
          <a:lstStyle/>
          <a:p>
            <a:pPr algn="l">
              <a:lnSpc>
                <a:spcPct val="112000"/>
              </a:lnSpc>
            </a:pPr>
            <a:r>
              <a:rPr sz="2400" b="1" i="0">
                <a:solidFill>
                  <a:srgbClr val="38BDF8"/>
                </a:solidFill>
                <a:latin typeface="Arial"/>
              </a:rPr>
              <a:t>05</a:t>
            </a:r>
          </a:p>
        </p:txBody>
      </p:sp>
      <p:sp>
        <p:nvSpPr>
          <p:cNvPr id="25" name="TextBox 24" descr="Texte du point 5 : Choisir un canal principal plutôt que courir après une plateforme populaire."/>
          <p:cNvSpPr txBox="1"/>
          <p:nvPr/>
        </p:nvSpPr>
        <p:spPr>
          <a:xfrm>
            <a:off x="1755648" y="5084064"/>
            <a:ext cx="9646919" cy="484632"/>
          </a:xfrm>
          <a:prstGeom prst="rect">
            <a:avLst/>
          </a:prstGeom>
          <a:noFill/>
        </p:spPr>
        <p:txBody>
          <a:bodyPr wrap="square" lIns="0" rIns="0" tIns="0" bIns="0" anchor="ctr">
            <a:spAutoFit/>
          </a:bodyPr>
          <a:lstStyle/>
          <a:p>
            <a:pPr algn="l">
              <a:lnSpc>
                <a:spcPct val="112000"/>
              </a:lnSpc>
            </a:pPr>
            <a:r>
              <a:rPr sz="1500" b="0" i="0">
                <a:solidFill>
                  <a:srgbClr val="F2F6FC"/>
                </a:solidFill>
                <a:latin typeface="Arial"/>
              </a:rPr>
              <a:t>Choisir un canal principal plutôt que courir après une plateforme populaire.</a:t>
            </a:r>
          </a:p>
        </p:txBody>
      </p:sp>
      <p:sp>
        <p:nvSpPr>
          <p:cNvPr id="26" name="Rounded Rectangle 25" descr="Élément graphique décoratif, sans information propre"/>
          <p:cNvSpPr/>
          <p:nvPr/>
        </p:nvSpPr>
        <p:spPr>
          <a:xfrm>
            <a:off x="0" y="0"/>
            <a:ext cx="201168" cy="6858000"/>
          </a:xfrm>
          <a:prstGeom prst="round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descr="Référence de source affichée en pied de diapositive : Chapitres 04–08"/>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Chapitres 04–08</a:t>
            </a:r>
          </a:p>
        </p:txBody>
      </p:sp>
      <p:sp>
        <p:nvSpPr>
          <p:cNvPr id="28" name="TextBox 27" descr="Numéro de diapositive 17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17 / 84  ·  2 min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descr="Élément graphique décoratif, sans information propr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descr="Bandeau supérieur de partie"/>
          <p:cNvSpPr/>
          <p:nvPr/>
        </p:nvSpPr>
        <p:spPr>
          <a:xfrm>
            <a:off x="0" y="0"/>
            <a:ext cx="12191695" cy="256032"/>
          </a:xfrm>
          <a:prstGeom prst="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descr="Titre de section : PARTIE 03"/>
          <p:cNvSpPr txBox="1"/>
          <p:nvPr/>
        </p:nvSpPr>
        <p:spPr>
          <a:xfrm>
            <a:off x="822960" y="2148840"/>
            <a:ext cx="8357616" cy="1097280"/>
          </a:xfrm>
          <a:prstGeom prst="rect">
            <a:avLst/>
          </a:prstGeom>
          <a:noFill/>
        </p:spPr>
        <p:txBody>
          <a:bodyPr wrap="square" lIns="0" rIns="0" tIns="0" bIns="0" anchor="t">
            <a:spAutoFit/>
          </a:bodyPr>
          <a:lstStyle/>
          <a:p>
            <a:pPr algn="l">
              <a:lnSpc>
                <a:spcPct val="106000"/>
              </a:lnSpc>
            </a:pPr>
            <a:r>
              <a:rPr sz="5600" b="1" i="0">
                <a:solidFill>
                  <a:srgbClr val="F2F6FC"/>
                </a:solidFill>
                <a:latin typeface="Arial"/>
              </a:rPr>
              <a:t>PARTIE 03</a:t>
            </a:r>
          </a:p>
        </p:txBody>
      </p:sp>
      <p:sp>
        <p:nvSpPr>
          <p:cNvPr id="6" name="TextBox 5" descr="Sous-titre de section : CONSTRUIRE SON SYSTÈME DE CONTENU"/>
          <p:cNvSpPr txBox="1"/>
          <p:nvPr/>
        </p:nvSpPr>
        <p:spPr>
          <a:xfrm>
            <a:off x="822960" y="3291840"/>
            <a:ext cx="10058400" cy="1463040"/>
          </a:xfrm>
          <a:prstGeom prst="rect">
            <a:avLst/>
          </a:prstGeom>
          <a:noFill/>
        </p:spPr>
        <p:txBody>
          <a:bodyPr wrap="square" lIns="0" rIns="0" tIns="0" bIns="0" anchor="t">
            <a:spAutoFit/>
          </a:bodyPr>
          <a:lstStyle/>
          <a:p>
            <a:pPr algn="l">
              <a:lnSpc>
                <a:spcPct val="112000"/>
              </a:lnSpc>
            </a:pPr>
            <a:r>
              <a:rPr sz="3000" b="1" i="0">
                <a:solidFill>
                  <a:srgbClr val="818CF8"/>
                </a:solidFill>
                <a:latin typeface="Arial"/>
              </a:rPr>
              <a:t>CONSTRUIRE SON SYSTÈME DE CONTENU</a:t>
            </a:r>
          </a:p>
        </p:txBody>
      </p:sp>
      <p:sp>
        <p:nvSpPr>
          <p:cNvPr id="7" name="Rounded Rectangle 6" descr="Élément graphique décoratif, sans information propre"/>
          <p:cNvSpPr/>
          <p:nvPr/>
        </p:nvSpPr>
        <p:spPr>
          <a:xfrm>
            <a:off x="0" y="0"/>
            <a:ext cx="201168" cy="6858000"/>
          </a:xfrm>
          <a:prstGeom prst="round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Référence de source affichée en pied de diapositive : Partie 3 du DOCX"/>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Partie 3 du DOCX</a:t>
            </a:r>
          </a:p>
        </p:txBody>
      </p:sp>
      <p:sp>
        <p:nvSpPr>
          <p:cNvPr id="9" name="TextBox 8" descr="Numéro de diapositive 18 sur 84, durée prévue 1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18 / 84  ·  1 min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Partie 03 · chapitre 09"/>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818CF8"/>
                </a:solidFill>
                <a:latin typeface="Arial"/>
              </a:rPr>
              <a:t>PARTIE 03 · CHAPITRE 09</a:t>
            </a:r>
          </a:p>
        </p:txBody>
      </p:sp>
      <p:sp>
        <p:nvSpPr>
          <p:cNvPr id="4" name="TextBox 3" descr="Titre du chapitre : 09 · Positionnement et identité"/>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200" b="1" i="0">
                <a:solidFill>
                  <a:srgbClr val="F2F6FC"/>
                </a:solidFill>
                <a:latin typeface="Arial"/>
              </a:rPr>
              <a:t>09 · Positionnement et identité</a:t>
            </a:r>
          </a:p>
        </p:txBody>
      </p:sp>
      <p:sp>
        <p:nvSpPr>
          <p:cNvPr id="5" name="TextBox 4" descr="Objectif du chapitre : Exprimer une promesse crédible et reconnaissable."/>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550" b="1" i="0">
                <a:solidFill>
                  <a:srgbClr val="818CF8"/>
                </a:solidFill>
                <a:latin typeface="Arial"/>
              </a:rPr>
              <a:t>Exprimer une promesse crédible et reconnaissable.</a:t>
            </a:r>
          </a:p>
        </p:txBody>
      </p:sp>
      <p:sp>
        <p:nvSpPr>
          <p:cNvPr id="6" name="Rounded Rectangle 5" descr="Point 1 : Écrivez public et problème dans leurs mots."/>
          <p:cNvSpPr/>
          <p:nvPr/>
        </p:nvSpPr>
        <p:spPr>
          <a:xfrm>
            <a:off x="566928" y="2331720"/>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de section"/>
          <p:cNvSpPr/>
          <p:nvPr/>
        </p:nvSpPr>
        <p:spPr>
          <a:xfrm>
            <a:off x="566928" y="2331720"/>
            <a:ext cx="64008" cy="713232"/>
          </a:xfrm>
          <a:prstGeom prst="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Numéro d'étape 1"/>
          <p:cNvSpPr txBox="1"/>
          <p:nvPr/>
        </p:nvSpPr>
        <p:spPr>
          <a:xfrm>
            <a:off x="841247" y="2414016"/>
            <a:ext cx="822960" cy="548640"/>
          </a:xfrm>
          <a:prstGeom prst="rect">
            <a:avLst/>
          </a:prstGeom>
          <a:noFill/>
        </p:spPr>
        <p:txBody>
          <a:bodyPr wrap="square" lIns="0" rIns="0" tIns="0" bIns="0" anchor="ctr">
            <a:spAutoFit/>
          </a:bodyPr>
          <a:lstStyle/>
          <a:p>
            <a:pPr algn="l">
              <a:lnSpc>
                <a:spcPct val="112000"/>
              </a:lnSpc>
            </a:pPr>
            <a:r>
              <a:rPr sz="2400" b="1" i="0">
                <a:solidFill>
                  <a:srgbClr val="818CF8"/>
                </a:solidFill>
                <a:latin typeface="Arial"/>
              </a:rPr>
              <a:t>01</a:t>
            </a:r>
          </a:p>
        </p:txBody>
      </p:sp>
      <p:sp>
        <p:nvSpPr>
          <p:cNvPr id="9" name="TextBox 8" descr="Texte du point 1 : Écrivez public et problème dans leurs mots."/>
          <p:cNvSpPr txBox="1"/>
          <p:nvPr/>
        </p:nvSpPr>
        <p:spPr>
          <a:xfrm>
            <a:off x="1755648" y="2386584"/>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Écrivez public et problème dans leurs mots.</a:t>
            </a:r>
          </a:p>
        </p:txBody>
      </p:sp>
      <p:sp>
        <p:nvSpPr>
          <p:cNvPr id="10" name="Rounded Rectangle 9" descr="Point 2 : Décrivez votre méthode."/>
          <p:cNvSpPr/>
          <p:nvPr/>
        </p:nvSpPr>
        <p:spPr>
          <a:xfrm>
            <a:off x="566928" y="3172968"/>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de section"/>
          <p:cNvSpPr/>
          <p:nvPr/>
        </p:nvSpPr>
        <p:spPr>
          <a:xfrm>
            <a:off x="566928" y="3172968"/>
            <a:ext cx="64008" cy="713232"/>
          </a:xfrm>
          <a:prstGeom prst="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Numéro d'étape 2"/>
          <p:cNvSpPr txBox="1"/>
          <p:nvPr/>
        </p:nvSpPr>
        <p:spPr>
          <a:xfrm>
            <a:off x="841247" y="3255264"/>
            <a:ext cx="822960" cy="548640"/>
          </a:xfrm>
          <a:prstGeom prst="rect">
            <a:avLst/>
          </a:prstGeom>
          <a:noFill/>
        </p:spPr>
        <p:txBody>
          <a:bodyPr wrap="square" lIns="0" rIns="0" tIns="0" bIns="0" anchor="ctr">
            <a:spAutoFit/>
          </a:bodyPr>
          <a:lstStyle/>
          <a:p>
            <a:pPr algn="l">
              <a:lnSpc>
                <a:spcPct val="112000"/>
              </a:lnSpc>
            </a:pPr>
            <a:r>
              <a:rPr sz="2400" b="1" i="0">
                <a:solidFill>
                  <a:srgbClr val="818CF8"/>
                </a:solidFill>
                <a:latin typeface="Arial"/>
              </a:rPr>
              <a:t>02</a:t>
            </a:r>
          </a:p>
        </p:txBody>
      </p:sp>
      <p:sp>
        <p:nvSpPr>
          <p:cNvPr id="13" name="TextBox 12" descr="Texte du point 2 : Décrivez votre méthode."/>
          <p:cNvSpPr txBox="1"/>
          <p:nvPr/>
        </p:nvSpPr>
        <p:spPr>
          <a:xfrm>
            <a:off x="1755648" y="3227832"/>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Décrivez votre méthode.</a:t>
            </a:r>
          </a:p>
        </p:txBody>
      </p:sp>
      <p:sp>
        <p:nvSpPr>
          <p:cNvPr id="14" name="Rounded Rectangle 13" descr="Point 3 : Rassemblez des preuves autorisées."/>
          <p:cNvSpPr/>
          <p:nvPr/>
        </p:nvSpPr>
        <p:spPr>
          <a:xfrm>
            <a:off x="566928" y="4014215"/>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Repère décoratif de section"/>
          <p:cNvSpPr/>
          <p:nvPr/>
        </p:nvSpPr>
        <p:spPr>
          <a:xfrm>
            <a:off x="566928" y="4014215"/>
            <a:ext cx="64008" cy="713232"/>
          </a:xfrm>
          <a:prstGeom prst="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Numéro d'étape 3"/>
          <p:cNvSpPr txBox="1"/>
          <p:nvPr/>
        </p:nvSpPr>
        <p:spPr>
          <a:xfrm>
            <a:off x="841247" y="4096511"/>
            <a:ext cx="822960" cy="548640"/>
          </a:xfrm>
          <a:prstGeom prst="rect">
            <a:avLst/>
          </a:prstGeom>
          <a:noFill/>
        </p:spPr>
        <p:txBody>
          <a:bodyPr wrap="square" lIns="0" rIns="0" tIns="0" bIns="0" anchor="ctr">
            <a:spAutoFit/>
          </a:bodyPr>
          <a:lstStyle/>
          <a:p>
            <a:pPr algn="l">
              <a:lnSpc>
                <a:spcPct val="112000"/>
              </a:lnSpc>
            </a:pPr>
            <a:r>
              <a:rPr sz="2400" b="1" i="0">
                <a:solidFill>
                  <a:srgbClr val="818CF8"/>
                </a:solidFill>
                <a:latin typeface="Arial"/>
              </a:rPr>
              <a:t>03</a:t>
            </a:r>
          </a:p>
        </p:txBody>
      </p:sp>
      <p:sp>
        <p:nvSpPr>
          <p:cNvPr id="17" name="TextBox 16" descr="Texte du point 3 : Rassemblez des preuves autorisées."/>
          <p:cNvSpPr txBox="1"/>
          <p:nvPr/>
        </p:nvSpPr>
        <p:spPr>
          <a:xfrm>
            <a:off x="1755648" y="4069079"/>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Rassemblez des preuves autorisées.</a:t>
            </a:r>
          </a:p>
        </p:txBody>
      </p:sp>
      <p:sp>
        <p:nvSpPr>
          <p:cNvPr id="18" name="Rounded Rectangle 17" descr="Point 4 : Indiquez les limites."/>
          <p:cNvSpPr/>
          <p:nvPr/>
        </p:nvSpPr>
        <p:spPr>
          <a:xfrm>
            <a:off x="566928" y="4855464"/>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descr="Repère décoratif de section"/>
          <p:cNvSpPr/>
          <p:nvPr/>
        </p:nvSpPr>
        <p:spPr>
          <a:xfrm>
            <a:off x="566928" y="4855464"/>
            <a:ext cx="64008" cy="713232"/>
          </a:xfrm>
          <a:prstGeom prst="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descr="Numéro d'étape 4"/>
          <p:cNvSpPr txBox="1"/>
          <p:nvPr/>
        </p:nvSpPr>
        <p:spPr>
          <a:xfrm>
            <a:off x="841247" y="4937760"/>
            <a:ext cx="822960" cy="548640"/>
          </a:xfrm>
          <a:prstGeom prst="rect">
            <a:avLst/>
          </a:prstGeom>
          <a:noFill/>
        </p:spPr>
        <p:txBody>
          <a:bodyPr wrap="square" lIns="0" rIns="0" tIns="0" bIns="0" anchor="ctr">
            <a:spAutoFit/>
          </a:bodyPr>
          <a:lstStyle/>
          <a:p>
            <a:pPr algn="l">
              <a:lnSpc>
                <a:spcPct val="112000"/>
              </a:lnSpc>
            </a:pPr>
            <a:r>
              <a:rPr sz="2400" b="1" i="0">
                <a:solidFill>
                  <a:srgbClr val="818CF8"/>
                </a:solidFill>
                <a:latin typeface="Arial"/>
              </a:rPr>
              <a:t>04</a:t>
            </a:r>
          </a:p>
        </p:txBody>
      </p:sp>
      <p:sp>
        <p:nvSpPr>
          <p:cNvPr id="21" name="TextBox 20" descr="Texte du point 4 : Indiquez les limites."/>
          <p:cNvSpPr txBox="1"/>
          <p:nvPr/>
        </p:nvSpPr>
        <p:spPr>
          <a:xfrm>
            <a:off x="1755648" y="4910328"/>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Indiquez les limites.</a:t>
            </a:r>
          </a:p>
        </p:txBody>
      </p:sp>
      <p:sp>
        <p:nvSpPr>
          <p:cNvPr id="22" name="Rounded Rectangle 21" descr="Élément graphique décoratif, sans information propre"/>
          <p:cNvSpPr/>
          <p:nvPr/>
        </p:nvSpPr>
        <p:spPr>
          <a:xfrm>
            <a:off x="0" y="0"/>
            <a:ext cx="201168" cy="6858000"/>
          </a:xfrm>
          <a:prstGeom prst="round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descr="Référence de source affichée en pied de diapositive : Chapitre 09 — Positionnement et identité"/>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 09 — Positionnement et identité</a:t>
            </a:r>
          </a:p>
        </p:txBody>
      </p:sp>
      <p:sp>
        <p:nvSpPr>
          <p:cNvPr id="24" name="TextBox 23" descr="Numéro de diapositive 19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19 / 84  ·  2 min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Partie 03 · chapitre 10"/>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818CF8"/>
                </a:solidFill>
                <a:latin typeface="Arial"/>
              </a:rPr>
              <a:t>PARTIE 03 · CHAPITRE 10</a:t>
            </a:r>
          </a:p>
        </p:txBody>
      </p:sp>
      <p:sp>
        <p:nvSpPr>
          <p:cNvPr id="4" name="TextBox 3" descr="Titre du chapitre : 10 · Piliers éditoriaux et types de contenus TikTok"/>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200" b="1" i="0">
                <a:solidFill>
                  <a:srgbClr val="F2F6FC"/>
                </a:solidFill>
                <a:latin typeface="Arial"/>
              </a:rPr>
              <a:t>10 · Piliers éditoriaux et types de contenus TikTok</a:t>
            </a:r>
          </a:p>
        </p:txBody>
      </p:sp>
      <p:sp>
        <p:nvSpPr>
          <p:cNvPr id="5" name="TextBox 4" descr="Objectif du chapitre : Organiser découverte, confiance, communauté et conversion."/>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550" b="1" i="0">
                <a:solidFill>
                  <a:srgbClr val="818CF8"/>
                </a:solidFill>
                <a:latin typeface="Arial"/>
              </a:rPr>
              <a:t>Organiser découverte, confiance, communauté et conversion.</a:t>
            </a:r>
          </a:p>
        </p:txBody>
      </p:sp>
      <p:sp>
        <p:nvSpPr>
          <p:cNvPr id="6" name="Rounded Rectangle 5" descr="Point 1 : Regroupez questions réelles en trois à cinq piliers."/>
          <p:cNvSpPr/>
          <p:nvPr/>
        </p:nvSpPr>
        <p:spPr>
          <a:xfrm>
            <a:off x="566928" y="2331720"/>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de section"/>
          <p:cNvSpPr/>
          <p:nvPr/>
        </p:nvSpPr>
        <p:spPr>
          <a:xfrm>
            <a:off x="566928" y="2331720"/>
            <a:ext cx="64008" cy="713232"/>
          </a:xfrm>
          <a:prstGeom prst="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Numéro d'étape 1"/>
          <p:cNvSpPr txBox="1"/>
          <p:nvPr/>
        </p:nvSpPr>
        <p:spPr>
          <a:xfrm>
            <a:off x="841247" y="2414016"/>
            <a:ext cx="822960" cy="548640"/>
          </a:xfrm>
          <a:prstGeom prst="rect">
            <a:avLst/>
          </a:prstGeom>
          <a:noFill/>
        </p:spPr>
        <p:txBody>
          <a:bodyPr wrap="square" lIns="0" rIns="0" tIns="0" bIns="0" anchor="ctr">
            <a:spAutoFit/>
          </a:bodyPr>
          <a:lstStyle/>
          <a:p>
            <a:pPr algn="l">
              <a:lnSpc>
                <a:spcPct val="112000"/>
              </a:lnSpc>
            </a:pPr>
            <a:r>
              <a:rPr sz="2400" b="1" i="0">
                <a:solidFill>
                  <a:srgbClr val="818CF8"/>
                </a:solidFill>
                <a:latin typeface="Arial"/>
              </a:rPr>
              <a:t>01</a:t>
            </a:r>
          </a:p>
        </p:txBody>
      </p:sp>
      <p:sp>
        <p:nvSpPr>
          <p:cNvPr id="9" name="TextBox 8" descr="Texte du point 1 : Regroupez questions réelles en trois à cinq piliers."/>
          <p:cNvSpPr txBox="1"/>
          <p:nvPr/>
        </p:nvSpPr>
        <p:spPr>
          <a:xfrm>
            <a:off x="1755648" y="2386584"/>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Regroupez questions réelles en trois à cinq piliers.</a:t>
            </a:r>
          </a:p>
        </p:txBody>
      </p:sp>
      <p:sp>
        <p:nvSpPr>
          <p:cNvPr id="10" name="Rounded Rectangle 9" descr="Point 2 : Pour chacun, indiquez format et preuve."/>
          <p:cNvSpPr/>
          <p:nvPr/>
        </p:nvSpPr>
        <p:spPr>
          <a:xfrm>
            <a:off x="566928" y="3172968"/>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de section"/>
          <p:cNvSpPr/>
          <p:nvPr/>
        </p:nvSpPr>
        <p:spPr>
          <a:xfrm>
            <a:off x="566928" y="3172968"/>
            <a:ext cx="64008" cy="713232"/>
          </a:xfrm>
          <a:prstGeom prst="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Numéro d'étape 2"/>
          <p:cNvSpPr txBox="1"/>
          <p:nvPr/>
        </p:nvSpPr>
        <p:spPr>
          <a:xfrm>
            <a:off x="841247" y="3255264"/>
            <a:ext cx="822960" cy="548640"/>
          </a:xfrm>
          <a:prstGeom prst="rect">
            <a:avLst/>
          </a:prstGeom>
          <a:noFill/>
        </p:spPr>
        <p:txBody>
          <a:bodyPr wrap="square" lIns="0" rIns="0" tIns="0" bIns="0" anchor="ctr">
            <a:spAutoFit/>
          </a:bodyPr>
          <a:lstStyle/>
          <a:p>
            <a:pPr algn="l">
              <a:lnSpc>
                <a:spcPct val="112000"/>
              </a:lnSpc>
            </a:pPr>
            <a:r>
              <a:rPr sz="2400" b="1" i="0">
                <a:solidFill>
                  <a:srgbClr val="818CF8"/>
                </a:solidFill>
                <a:latin typeface="Arial"/>
              </a:rPr>
              <a:t>02</a:t>
            </a:r>
          </a:p>
        </p:txBody>
      </p:sp>
      <p:sp>
        <p:nvSpPr>
          <p:cNvPr id="13" name="TextBox 12" descr="Texte du point 2 : Pour chacun, indiquez format et preuve."/>
          <p:cNvSpPr txBox="1"/>
          <p:nvPr/>
        </p:nvSpPr>
        <p:spPr>
          <a:xfrm>
            <a:off x="1755648" y="3227832"/>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Pour chacun, indiquez format et preuve.</a:t>
            </a:r>
          </a:p>
        </p:txBody>
      </p:sp>
      <p:sp>
        <p:nvSpPr>
          <p:cNvPr id="14" name="Rounded Rectangle 13" descr="Point 3 : Préparez plusieurs idées par pilier."/>
          <p:cNvSpPr/>
          <p:nvPr/>
        </p:nvSpPr>
        <p:spPr>
          <a:xfrm>
            <a:off x="566928" y="4014215"/>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Repère décoratif de section"/>
          <p:cNvSpPr/>
          <p:nvPr/>
        </p:nvSpPr>
        <p:spPr>
          <a:xfrm>
            <a:off x="566928" y="4014215"/>
            <a:ext cx="64008" cy="713232"/>
          </a:xfrm>
          <a:prstGeom prst="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Numéro d'étape 3"/>
          <p:cNvSpPr txBox="1"/>
          <p:nvPr/>
        </p:nvSpPr>
        <p:spPr>
          <a:xfrm>
            <a:off x="841247" y="4096511"/>
            <a:ext cx="822960" cy="548640"/>
          </a:xfrm>
          <a:prstGeom prst="rect">
            <a:avLst/>
          </a:prstGeom>
          <a:noFill/>
        </p:spPr>
        <p:txBody>
          <a:bodyPr wrap="square" lIns="0" rIns="0" tIns="0" bIns="0" anchor="ctr">
            <a:spAutoFit/>
          </a:bodyPr>
          <a:lstStyle/>
          <a:p>
            <a:pPr algn="l">
              <a:lnSpc>
                <a:spcPct val="112000"/>
              </a:lnSpc>
            </a:pPr>
            <a:r>
              <a:rPr sz="2400" b="1" i="0">
                <a:solidFill>
                  <a:srgbClr val="818CF8"/>
                </a:solidFill>
                <a:latin typeface="Arial"/>
              </a:rPr>
              <a:t>03</a:t>
            </a:r>
          </a:p>
        </p:txBody>
      </p:sp>
      <p:sp>
        <p:nvSpPr>
          <p:cNvPr id="17" name="TextBox 16" descr="Texte du point 3 : Préparez plusieurs idées par pilier."/>
          <p:cNvSpPr txBox="1"/>
          <p:nvPr/>
        </p:nvSpPr>
        <p:spPr>
          <a:xfrm>
            <a:off x="1755648" y="4069079"/>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Préparez plusieurs idées par pilier.</a:t>
            </a:r>
          </a:p>
        </p:txBody>
      </p:sp>
      <p:sp>
        <p:nvSpPr>
          <p:cNvPr id="18" name="Rounded Rectangle 17" descr="Point 4 : Planifiez une cadence durable."/>
          <p:cNvSpPr/>
          <p:nvPr/>
        </p:nvSpPr>
        <p:spPr>
          <a:xfrm>
            <a:off x="566928" y="4855464"/>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descr="Repère décoratif de section"/>
          <p:cNvSpPr/>
          <p:nvPr/>
        </p:nvSpPr>
        <p:spPr>
          <a:xfrm>
            <a:off x="566928" y="4855464"/>
            <a:ext cx="64008" cy="713232"/>
          </a:xfrm>
          <a:prstGeom prst="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descr="Numéro d'étape 4"/>
          <p:cNvSpPr txBox="1"/>
          <p:nvPr/>
        </p:nvSpPr>
        <p:spPr>
          <a:xfrm>
            <a:off x="841247" y="4937760"/>
            <a:ext cx="822960" cy="548640"/>
          </a:xfrm>
          <a:prstGeom prst="rect">
            <a:avLst/>
          </a:prstGeom>
          <a:noFill/>
        </p:spPr>
        <p:txBody>
          <a:bodyPr wrap="square" lIns="0" rIns="0" tIns="0" bIns="0" anchor="ctr">
            <a:spAutoFit/>
          </a:bodyPr>
          <a:lstStyle/>
          <a:p>
            <a:pPr algn="l">
              <a:lnSpc>
                <a:spcPct val="112000"/>
              </a:lnSpc>
            </a:pPr>
            <a:r>
              <a:rPr sz="2400" b="1" i="0">
                <a:solidFill>
                  <a:srgbClr val="818CF8"/>
                </a:solidFill>
                <a:latin typeface="Arial"/>
              </a:rPr>
              <a:t>04</a:t>
            </a:r>
          </a:p>
        </p:txBody>
      </p:sp>
      <p:sp>
        <p:nvSpPr>
          <p:cNvPr id="21" name="TextBox 20" descr="Texte du point 4 : Planifiez une cadence durable."/>
          <p:cNvSpPr txBox="1"/>
          <p:nvPr/>
        </p:nvSpPr>
        <p:spPr>
          <a:xfrm>
            <a:off x="1755648" y="4910328"/>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Planifiez une cadence durable.</a:t>
            </a:r>
          </a:p>
        </p:txBody>
      </p:sp>
      <p:sp>
        <p:nvSpPr>
          <p:cNvPr id="22" name="Rounded Rectangle 21" descr="Élément graphique décoratif, sans information propre"/>
          <p:cNvSpPr/>
          <p:nvPr/>
        </p:nvSpPr>
        <p:spPr>
          <a:xfrm>
            <a:off x="0" y="0"/>
            <a:ext cx="201168" cy="6858000"/>
          </a:xfrm>
          <a:prstGeom prst="round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descr="Référence de source affichée en pied de diapositive : Chapitre 10 — Piliers éditoriaux et types de contenus TikTok"/>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 10 — Piliers éditoriaux et types de contenus TikTok</a:t>
            </a:r>
          </a:p>
        </p:txBody>
      </p:sp>
      <p:sp>
        <p:nvSpPr>
          <p:cNvPr id="24" name="TextBox 23" descr="Numéro de diapositive 20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20 / 84  ·  2 min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Partie 03 · chapitre 11"/>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818CF8"/>
                </a:solidFill>
                <a:latin typeface="Arial"/>
              </a:rPr>
              <a:t>PARTIE 03 · CHAPITRE 11</a:t>
            </a:r>
          </a:p>
        </p:txBody>
      </p:sp>
      <p:sp>
        <p:nvSpPr>
          <p:cNvPr id="4" name="TextBox 3" descr="Titre du chapitre : 11 · Trouver et classer les idées"/>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200" b="1" i="0">
                <a:solidFill>
                  <a:srgbClr val="F2F6FC"/>
                </a:solidFill>
                <a:latin typeface="Arial"/>
              </a:rPr>
              <a:t>11 · Trouver et classer les idées</a:t>
            </a:r>
          </a:p>
        </p:txBody>
      </p:sp>
      <p:sp>
        <p:nvSpPr>
          <p:cNvPr id="5" name="TextBox 4" descr="Objectif du chapitre : Créer une banque d’idées avec source, statut et action."/>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550" b="1" i="0">
                <a:solidFill>
                  <a:srgbClr val="818CF8"/>
                </a:solidFill>
                <a:latin typeface="Arial"/>
              </a:rPr>
              <a:t>Créer une banque d’idées avec source, statut et action.</a:t>
            </a:r>
          </a:p>
        </p:txBody>
      </p:sp>
      <p:sp>
        <p:nvSpPr>
          <p:cNvPr id="6" name="Rounded Rectangle 5" descr="Point 1 : Collectez les questions avec autorisation."/>
          <p:cNvSpPr/>
          <p:nvPr/>
        </p:nvSpPr>
        <p:spPr>
          <a:xfrm>
            <a:off x="566928" y="2331720"/>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de section"/>
          <p:cNvSpPr/>
          <p:nvPr/>
        </p:nvSpPr>
        <p:spPr>
          <a:xfrm>
            <a:off x="566928" y="2331720"/>
            <a:ext cx="64008" cy="713232"/>
          </a:xfrm>
          <a:prstGeom prst="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Numéro d'étape 1"/>
          <p:cNvSpPr txBox="1"/>
          <p:nvPr/>
        </p:nvSpPr>
        <p:spPr>
          <a:xfrm>
            <a:off x="841247" y="2414016"/>
            <a:ext cx="822960" cy="548640"/>
          </a:xfrm>
          <a:prstGeom prst="rect">
            <a:avLst/>
          </a:prstGeom>
          <a:noFill/>
        </p:spPr>
        <p:txBody>
          <a:bodyPr wrap="square" lIns="0" rIns="0" tIns="0" bIns="0" anchor="ctr">
            <a:spAutoFit/>
          </a:bodyPr>
          <a:lstStyle/>
          <a:p>
            <a:pPr algn="l">
              <a:lnSpc>
                <a:spcPct val="112000"/>
              </a:lnSpc>
            </a:pPr>
            <a:r>
              <a:rPr sz="2400" b="1" i="0">
                <a:solidFill>
                  <a:srgbClr val="818CF8"/>
                </a:solidFill>
                <a:latin typeface="Arial"/>
              </a:rPr>
              <a:t>01</a:t>
            </a:r>
          </a:p>
        </p:txBody>
      </p:sp>
      <p:sp>
        <p:nvSpPr>
          <p:cNvPr id="9" name="TextBox 8" descr="Texte du point 1 : Collectez les questions avec autorisation."/>
          <p:cNvSpPr txBox="1"/>
          <p:nvPr/>
        </p:nvSpPr>
        <p:spPr>
          <a:xfrm>
            <a:off x="1755648" y="2386584"/>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Collectez les questions avec autorisation.</a:t>
            </a:r>
          </a:p>
        </p:txBody>
      </p:sp>
      <p:sp>
        <p:nvSpPr>
          <p:cNvPr id="10" name="Rounded Rectangle 9" descr="Point 2 : Reformulez en un angle précis."/>
          <p:cNvSpPr/>
          <p:nvPr/>
        </p:nvSpPr>
        <p:spPr>
          <a:xfrm>
            <a:off x="566928" y="3172968"/>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de section"/>
          <p:cNvSpPr/>
          <p:nvPr/>
        </p:nvSpPr>
        <p:spPr>
          <a:xfrm>
            <a:off x="566928" y="3172968"/>
            <a:ext cx="64008" cy="713232"/>
          </a:xfrm>
          <a:prstGeom prst="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Numéro d'étape 2"/>
          <p:cNvSpPr txBox="1"/>
          <p:nvPr/>
        </p:nvSpPr>
        <p:spPr>
          <a:xfrm>
            <a:off x="841247" y="3255264"/>
            <a:ext cx="822960" cy="548640"/>
          </a:xfrm>
          <a:prstGeom prst="rect">
            <a:avLst/>
          </a:prstGeom>
          <a:noFill/>
        </p:spPr>
        <p:txBody>
          <a:bodyPr wrap="square" lIns="0" rIns="0" tIns="0" bIns="0" anchor="ctr">
            <a:spAutoFit/>
          </a:bodyPr>
          <a:lstStyle/>
          <a:p>
            <a:pPr algn="l">
              <a:lnSpc>
                <a:spcPct val="112000"/>
              </a:lnSpc>
            </a:pPr>
            <a:r>
              <a:rPr sz="2400" b="1" i="0">
                <a:solidFill>
                  <a:srgbClr val="818CF8"/>
                </a:solidFill>
                <a:latin typeface="Arial"/>
              </a:rPr>
              <a:t>02</a:t>
            </a:r>
          </a:p>
        </p:txBody>
      </p:sp>
      <p:sp>
        <p:nvSpPr>
          <p:cNvPr id="13" name="TextBox 12" descr="Texte du point 2 : Reformulez en un angle précis."/>
          <p:cNvSpPr txBox="1"/>
          <p:nvPr/>
        </p:nvSpPr>
        <p:spPr>
          <a:xfrm>
            <a:off x="1755648" y="3227832"/>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Reformulez en un angle précis.</a:t>
            </a:r>
          </a:p>
        </p:txBody>
      </p:sp>
      <p:sp>
        <p:nvSpPr>
          <p:cNvPr id="14" name="Rounded Rectangle 13" descr="Point 3 : Notez source et preuve."/>
          <p:cNvSpPr/>
          <p:nvPr/>
        </p:nvSpPr>
        <p:spPr>
          <a:xfrm>
            <a:off x="566928" y="4014215"/>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Repère décoratif de section"/>
          <p:cNvSpPr/>
          <p:nvPr/>
        </p:nvSpPr>
        <p:spPr>
          <a:xfrm>
            <a:off x="566928" y="4014215"/>
            <a:ext cx="64008" cy="713232"/>
          </a:xfrm>
          <a:prstGeom prst="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Numéro d'étape 3"/>
          <p:cNvSpPr txBox="1"/>
          <p:nvPr/>
        </p:nvSpPr>
        <p:spPr>
          <a:xfrm>
            <a:off x="841247" y="4096511"/>
            <a:ext cx="822960" cy="548640"/>
          </a:xfrm>
          <a:prstGeom prst="rect">
            <a:avLst/>
          </a:prstGeom>
          <a:noFill/>
        </p:spPr>
        <p:txBody>
          <a:bodyPr wrap="square" lIns="0" rIns="0" tIns="0" bIns="0" anchor="ctr">
            <a:spAutoFit/>
          </a:bodyPr>
          <a:lstStyle/>
          <a:p>
            <a:pPr algn="l">
              <a:lnSpc>
                <a:spcPct val="112000"/>
              </a:lnSpc>
            </a:pPr>
            <a:r>
              <a:rPr sz="2400" b="1" i="0">
                <a:solidFill>
                  <a:srgbClr val="818CF8"/>
                </a:solidFill>
                <a:latin typeface="Arial"/>
              </a:rPr>
              <a:t>03</a:t>
            </a:r>
          </a:p>
        </p:txBody>
      </p:sp>
      <p:sp>
        <p:nvSpPr>
          <p:cNvPr id="17" name="TextBox 16" descr="Texte du point 3 : Notez source et preuve."/>
          <p:cNvSpPr txBox="1"/>
          <p:nvPr/>
        </p:nvSpPr>
        <p:spPr>
          <a:xfrm>
            <a:off x="1755648" y="4069079"/>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Notez source et preuve.</a:t>
            </a:r>
          </a:p>
        </p:txBody>
      </p:sp>
      <p:sp>
        <p:nvSpPr>
          <p:cNvPr id="18" name="Rounded Rectangle 17" descr="Point 4 : Marquez les sujets hors expertise."/>
          <p:cNvSpPr/>
          <p:nvPr/>
        </p:nvSpPr>
        <p:spPr>
          <a:xfrm>
            <a:off x="566928" y="4855464"/>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descr="Repère décoratif de section"/>
          <p:cNvSpPr/>
          <p:nvPr/>
        </p:nvSpPr>
        <p:spPr>
          <a:xfrm>
            <a:off x="566928" y="4855464"/>
            <a:ext cx="64008" cy="713232"/>
          </a:xfrm>
          <a:prstGeom prst="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descr="Numéro d'étape 4"/>
          <p:cNvSpPr txBox="1"/>
          <p:nvPr/>
        </p:nvSpPr>
        <p:spPr>
          <a:xfrm>
            <a:off x="841247" y="4937760"/>
            <a:ext cx="822960" cy="548640"/>
          </a:xfrm>
          <a:prstGeom prst="rect">
            <a:avLst/>
          </a:prstGeom>
          <a:noFill/>
        </p:spPr>
        <p:txBody>
          <a:bodyPr wrap="square" lIns="0" rIns="0" tIns="0" bIns="0" anchor="ctr">
            <a:spAutoFit/>
          </a:bodyPr>
          <a:lstStyle/>
          <a:p>
            <a:pPr algn="l">
              <a:lnSpc>
                <a:spcPct val="112000"/>
              </a:lnSpc>
            </a:pPr>
            <a:r>
              <a:rPr sz="2400" b="1" i="0">
                <a:solidFill>
                  <a:srgbClr val="818CF8"/>
                </a:solidFill>
                <a:latin typeface="Arial"/>
              </a:rPr>
              <a:t>04</a:t>
            </a:r>
          </a:p>
        </p:txBody>
      </p:sp>
      <p:sp>
        <p:nvSpPr>
          <p:cNvPr id="21" name="TextBox 20" descr="Texte du point 4 : Marquez les sujets hors expertise."/>
          <p:cNvSpPr txBox="1"/>
          <p:nvPr/>
        </p:nvSpPr>
        <p:spPr>
          <a:xfrm>
            <a:off x="1755648" y="4910328"/>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Marquez les sujets hors expertise.</a:t>
            </a:r>
          </a:p>
        </p:txBody>
      </p:sp>
      <p:sp>
        <p:nvSpPr>
          <p:cNvPr id="22" name="Rounded Rectangle 21" descr="Élément graphique décoratif, sans information propre"/>
          <p:cNvSpPr/>
          <p:nvPr/>
        </p:nvSpPr>
        <p:spPr>
          <a:xfrm>
            <a:off x="0" y="0"/>
            <a:ext cx="201168" cy="6858000"/>
          </a:xfrm>
          <a:prstGeom prst="round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descr="Référence de source affichée en pied de diapositive : Chapitre 11 — Trouver et classer les idées"/>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 11 — Trouver et classer les idées</a:t>
            </a:r>
          </a:p>
        </p:txBody>
      </p:sp>
      <p:sp>
        <p:nvSpPr>
          <p:cNvPr id="24" name="TextBox 23" descr="Numéro de diapositive 21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21 / 84  ·  2 min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Partie 03 · chapitre 12"/>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818CF8"/>
                </a:solidFill>
                <a:latin typeface="Arial"/>
              </a:rPr>
              <a:t>PARTIE 03 · CHAPITRE 12</a:t>
            </a:r>
          </a:p>
        </p:txBody>
      </p:sp>
      <p:sp>
        <p:nvSpPr>
          <p:cNvPr id="4" name="TextBox 3" descr="Titre du chapitre : 12 · Hooks, storytelling et scripts"/>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200" b="1" i="0">
                <a:solidFill>
                  <a:srgbClr val="F2F6FC"/>
                </a:solidFill>
                <a:latin typeface="Arial"/>
              </a:rPr>
              <a:t>12 · Hooks, storytelling et scripts</a:t>
            </a:r>
          </a:p>
        </p:txBody>
      </p:sp>
      <p:sp>
        <p:nvSpPr>
          <p:cNvPr id="5" name="TextBox 4" descr="Objectif du chapitre : Écrire une ouverture honnête et une démonstration qui tient sa promesse."/>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550" b="1" i="0">
                <a:solidFill>
                  <a:srgbClr val="818CF8"/>
                </a:solidFill>
                <a:latin typeface="Arial"/>
              </a:rPr>
              <a:t>Écrire une ouverture honnête et une démonstration qui tient sa promesse.</a:t>
            </a:r>
          </a:p>
        </p:txBody>
      </p:sp>
      <p:sp>
        <p:nvSpPr>
          <p:cNvPr id="6" name="Rounded Rectangle 5" descr="Point 1 : Formulez la question centrale."/>
          <p:cNvSpPr/>
          <p:nvPr/>
        </p:nvSpPr>
        <p:spPr>
          <a:xfrm>
            <a:off x="566928" y="2331720"/>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de section"/>
          <p:cNvSpPr/>
          <p:nvPr/>
        </p:nvSpPr>
        <p:spPr>
          <a:xfrm>
            <a:off x="566928" y="2331720"/>
            <a:ext cx="64008" cy="713232"/>
          </a:xfrm>
          <a:prstGeom prst="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Numéro d'étape 1"/>
          <p:cNvSpPr txBox="1"/>
          <p:nvPr/>
        </p:nvSpPr>
        <p:spPr>
          <a:xfrm>
            <a:off x="841247" y="2414016"/>
            <a:ext cx="822960" cy="548640"/>
          </a:xfrm>
          <a:prstGeom prst="rect">
            <a:avLst/>
          </a:prstGeom>
          <a:noFill/>
        </p:spPr>
        <p:txBody>
          <a:bodyPr wrap="square" lIns="0" rIns="0" tIns="0" bIns="0" anchor="ctr">
            <a:spAutoFit/>
          </a:bodyPr>
          <a:lstStyle/>
          <a:p>
            <a:pPr algn="l">
              <a:lnSpc>
                <a:spcPct val="112000"/>
              </a:lnSpc>
            </a:pPr>
            <a:r>
              <a:rPr sz="2400" b="1" i="0">
                <a:solidFill>
                  <a:srgbClr val="818CF8"/>
                </a:solidFill>
                <a:latin typeface="Arial"/>
              </a:rPr>
              <a:t>01</a:t>
            </a:r>
          </a:p>
        </p:txBody>
      </p:sp>
      <p:sp>
        <p:nvSpPr>
          <p:cNvPr id="9" name="TextBox 8" descr="Texte du point 1 : Formulez la question centrale."/>
          <p:cNvSpPr txBox="1"/>
          <p:nvPr/>
        </p:nvSpPr>
        <p:spPr>
          <a:xfrm>
            <a:off x="1755648" y="2386584"/>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Formulez la question centrale.</a:t>
            </a:r>
          </a:p>
        </p:txBody>
      </p:sp>
      <p:sp>
        <p:nvSpPr>
          <p:cNvPr id="10" name="Rounded Rectangle 9" descr="Point 2 : Écrivez trois hooks exacts."/>
          <p:cNvSpPr/>
          <p:nvPr/>
        </p:nvSpPr>
        <p:spPr>
          <a:xfrm>
            <a:off x="566928" y="3172968"/>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de section"/>
          <p:cNvSpPr/>
          <p:nvPr/>
        </p:nvSpPr>
        <p:spPr>
          <a:xfrm>
            <a:off x="566928" y="3172968"/>
            <a:ext cx="64008" cy="713232"/>
          </a:xfrm>
          <a:prstGeom prst="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Numéro d'étape 2"/>
          <p:cNvSpPr txBox="1"/>
          <p:nvPr/>
        </p:nvSpPr>
        <p:spPr>
          <a:xfrm>
            <a:off x="841247" y="3255264"/>
            <a:ext cx="822960" cy="548640"/>
          </a:xfrm>
          <a:prstGeom prst="rect">
            <a:avLst/>
          </a:prstGeom>
          <a:noFill/>
        </p:spPr>
        <p:txBody>
          <a:bodyPr wrap="square" lIns="0" rIns="0" tIns="0" bIns="0" anchor="ctr">
            <a:spAutoFit/>
          </a:bodyPr>
          <a:lstStyle/>
          <a:p>
            <a:pPr algn="l">
              <a:lnSpc>
                <a:spcPct val="112000"/>
              </a:lnSpc>
            </a:pPr>
            <a:r>
              <a:rPr sz="2400" b="1" i="0">
                <a:solidFill>
                  <a:srgbClr val="818CF8"/>
                </a:solidFill>
                <a:latin typeface="Arial"/>
              </a:rPr>
              <a:t>02</a:t>
            </a:r>
          </a:p>
        </p:txBody>
      </p:sp>
      <p:sp>
        <p:nvSpPr>
          <p:cNvPr id="13" name="TextBox 12" descr="Texte du point 2 : Écrivez trois hooks exacts."/>
          <p:cNvSpPr txBox="1"/>
          <p:nvPr/>
        </p:nvSpPr>
        <p:spPr>
          <a:xfrm>
            <a:off x="1755648" y="3227832"/>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Écrivez trois hooks exacts.</a:t>
            </a:r>
          </a:p>
        </p:txBody>
      </p:sp>
      <p:sp>
        <p:nvSpPr>
          <p:cNvPr id="14" name="Rounded Rectangle 13" descr="Point 3 : Gardez une seule idée."/>
          <p:cNvSpPr/>
          <p:nvPr/>
        </p:nvSpPr>
        <p:spPr>
          <a:xfrm>
            <a:off x="566928" y="4014215"/>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Repère décoratif de section"/>
          <p:cNvSpPr/>
          <p:nvPr/>
        </p:nvSpPr>
        <p:spPr>
          <a:xfrm>
            <a:off x="566928" y="4014215"/>
            <a:ext cx="64008" cy="713232"/>
          </a:xfrm>
          <a:prstGeom prst="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Numéro d'étape 3"/>
          <p:cNvSpPr txBox="1"/>
          <p:nvPr/>
        </p:nvSpPr>
        <p:spPr>
          <a:xfrm>
            <a:off x="841247" y="4096511"/>
            <a:ext cx="822960" cy="548640"/>
          </a:xfrm>
          <a:prstGeom prst="rect">
            <a:avLst/>
          </a:prstGeom>
          <a:noFill/>
        </p:spPr>
        <p:txBody>
          <a:bodyPr wrap="square" lIns="0" rIns="0" tIns="0" bIns="0" anchor="ctr">
            <a:spAutoFit/>
          </a:bodyPr>
          <a:lstStyle/>
          <a:p>
            <a:pPr algn="l">
              <a:lnSpc>
                <a:spcPct val="112000"/>
              </a:lnSpc>
            </a:pPr>
            <a:r>
              <a:rPr sz="2400" b="1" i="0">
                <a:solidFill>
                  <a:srgbClr val="818CF8"/>
                </a:solidFill>
                <a:latin typeface="Arial"/>
              </a:rPr>
              <a:t>03</a:t>
            </a:r>
          </a:p>
        </p:txBody>
      </p:sp>
      <p:sp>
        <p:nvSpPr>
          <p:cNvPr id="17" name="TextBox 16" descr="Texte du point 3 : Gardez une seule idée."/>
          <p:cNvSpPr txBox="1"/>
          <p:nvPr/>
        </p:nvSpPr>
        <p:spPr>
          <a:xfrm>
            <a:off x="1755648" y="4069079"/>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Gardez une seule idée.</a:t>
            </a:r>
          </a:p>
        </p:txBody>
      </p:sp>
      <p:sp>
        <p:nvSpPr>
          <p:cNvPr id="18" name="Rounded Rectangle 17" descr="Point 4 : Ajoutez exemple et limite."/>
          <p:cNvSpPr/>
          <p:nvPr/>
        </p:nvSpPr>
        <p:spPr>
          <a:xfrm>
            <a:off x="566928" y="4855464"/>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descr="Repère décoratif de section"/>
          <p:cNvSpPr/>
          <p:nvPr/>
        </p:nvSpPr>
        <p:spPr>
          <a:xfrm>
            <a:off x="566928" y="4855464"/>
            <a:ext cx="64008" cy="713232"/>
          </a:xfrm>
          <a:prstGeom prst="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descr="Numéro d'étape 4"/>
          <p:cNvSpPr txBox="1"/>
          <p:nvPr/>
        </p:nvSpPr>
        <p:spPr>
          <a:xfrm>
            <a:off x="841247" y="4937760"/>
            <a:ext cx="822960" cy="548640"/>
          </a:xfrm>
          <a:prstGeom prst="rect">
            <a:avLst/>
          </a:prstGeom>
          <a:noFill/>
        </p:spPr>
        <p:txBody>
          <a:bodyPr wrap="square" lIns="0" rIns="0" tIns="0" bIns="0" anchor="ctr">
            <a:spAutoFit/>
          </a:bodyPr>
          <a:lstStyle/>
          <a:p>
            <a:pPr algn="l">
              <a:lnSpc>
                <a:spcPct val="112000"/>
              </a:lnSpc>
            </a:pPr>
            <a:r>
              <a:rPr sz="2400" b="1" i="0">
                <a:solidFill>
                  <a:srgbClr val="818CF8"/>
                </a:solidFill>
                <a:latin typeface="Arial"/>
              </a:rPr>
              <a:t>04</a:t>
            </a:r>
          </a:p>
        </p:txBody>
      </p:sp>
      <p:sp>
        <p:nvSpPr>
          <p:cNvPr id="21" name="TextBox 20" descr="Texte du point 4 : Ajoutez exemple et limite."/>
          <p:cNvSpPr txBox="1"/>
          <p:nvPr/>
        </p:nvSpPr>
        <p:spPr>
          <a:xfrm>
            <a:off x="1755648" y="4910328"/>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Ajoutez exemple et limite.</a:t>
            </a:r>
          </a:p>
        </p:txBody>
      </p:sp>
      <p:sp>
        <p:nvSpPr>
          <p:cNvPr id="22" name="Rounded Rectangle 21" descr="Élément graphique décoratif, sans information propre"/>
          <p:cNvSpPr/>
          <p:nvPr/>
        </p:nvSpPr>
        <p:spPr>
          <a:xfrm>
            <a:off x="0" y="0"/>
            <a:ext cx="201168" cy="6858000"/>
          </a:xfrm>
          <a:prstGeom prst="round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descr="Référence de source affichée en pied de diapositive : Chapitre 12 — Hooks, storytelling et scripts"/>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 12 — Hooks, storytelling et scripts</a:t>
            </a:r>
          </a:p>
        </p:txBody>
      </p:sp>
      <p:sp>
        <p:nvSpPr>
          <p:cNvPr id="24" name="TextBox 23" descr="Numéro de diapositive 22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22 / 84  ·  2 min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Atelier · partie 03 · chapitre 12"/>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818CF8"/>
                </a:solidFill>
                <a:latin typeface="Arial"/>
              </a:rPr>
              <a:t>ATELIER · PARTIE 03 · CHAPITRE 12</a:t>
            </a:r>
          </a:p>
        </p:txBody>
      </p:sp>
      <p:sp>
        <p:nvSpPr>
          <p:cNvPr id="4" name="TextBox 3" descr="Titre de l'atelier : Atelier · Hooks, storytelling et scripts"/>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400" b="1" i="0">
                <a:solidFill>
                  <a:srgbClr val="F2F6FC"/>
                </a:solidFill>
                <a:latin typeface="Arial"/>
              </a:rPr>
              <a:t>Atelier · Hooks, storytelling et scripts</a:t>
            </a:r>
          </a:p>
        </p:txBody>
      </p:sp>
      <p:sp>
        <p:nvSpPr>
          <p:cNvPr id="5" name="TextBox 4" descr="Consigne cadre : Une décision à documenter, pas un résultat à promettre"/>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600" b="1" i="0">
                <a:solidFill>
                  <a:srgbClr val="818CF8"/>
                </a:solidFill>
                <a:latin typeface="Arial"/>
              </a:rPr>
              <a:t>Une décision à documenter, pas un résultat à promettre</a:t>
            </a:r>
          </a:p>
        </p:txBody>
      </p:sp>
      <p:sp>
        <p:nvSpPr>
          <p:cNvPr id="6" name="Rounded Rectangle 5" descr="Consigne d'atelier : Écrivez une ouverture honnête puis la démonstration qui la justifie."/>
          <p:cNvSpPr/>
          <p:nvPr/>
        </p:nvSpPr>
        <p:spPr>
          <a:xfrm>
            <a:off x="566928" y="2377440"/>
            <a:ext cx="11064240" cy="219456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descr="Consigne d'atelier : Écrivez une ouverture honnête puis la démonstration qui la justifie."/>
          <p:cNvSpPr txBox="1"/>
          <p:nvPr/>
        </p:nvSpPr>
        <p:spPr>
          <a:xfrm>
            <a:off x="960120" y="2651760"/>
            <a:ext cx="10332720" cy="1737360"/>
          </a:xfrm>
          <a:prstGeom prst="rect">
            <a:avLst/>
          </a:prstGeom>
          <a:noFill/>
        </p:spPr>
        <p:txBody>
          <a:bodyPr wrap="square" lIns="0" rIns="0" tIns="0" bIns="0" anchor="ctr">
            <a:spAutoFit/>
          </a:bodyPr>
          <a:lstStyle/>
          <a:p>
            <a:pPr algn="l">
              <a:lnSpc>
                <a:spcPct val="112000"/>
              </a:lnSpc>
            </a:pPr>
            <a:r>
              <a:rPr sz="2400" b="1" i="0">
                <a:solidFill>
                  <a:srgbClr val="F2F6FC"/>
                </a:solidFill>
                <a:latin typeface="Arial"/>
              </a:rPr>
              <a:t>Écrivez une ouverture honnête puis la démonstration qui la justifie.</a:t>
            </a:r>
          </a:p>
        </p:txBody>
      </p:sp>
      <p:sp>
        <p:nvSpPr>
          <p:cNvPr id="8" name="Rounded Rectangle 7" descr="Bandeau d'information : Aucun exemple du livre ne doit être présenté comme un témoignage réel : il est annoncé comme simulation pédagogique."/>
          <p:cNvSpPr/>
          <p:nvPr/>
        </p:nvSpPr>
        <p:spPr>
          <a:xfrm>
            <a:off x="566928" y="5623560"/>
            <a:ext cx="11064240" cy="658368"/>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descr="Texte du bandeau : Aucun exemple du livre ne doit être présenté comme un témoignage réel : il est annoncé comme simulation pédagogique."/>
          <p:cNvSpPr txBox="1"/>
          <p:nvPr/>
        </p:nvSpPr>
        <p:spPr>
          <a:xfrm>
            <a:off x="822960" y="5669280"/>
            <a:ext cx="10607040" cy="566928"/>
          </a:xfrm>
          <a:prstGeom prst="rect">
            <a:avLst/>
          </a:prstGeom>
          <a:noFill/>
        </p:spPr>
        <p:txBody>
          <a:bodyPr wrap="square" lIns="0" rIns="0" tIns="0" bIns="0" anchor="ctr">
            <a:spAutoFit/>
          </a:bodyPr>
          <a:lstStyle/>
          <a:p>
            <a:pPr algn="l">
              <a:lnSpc>
                <a:spcPct val="112000"/>
              </a:lnSpc>
            </a:pPr>
            <a:r>
              <a:rPr sz="1550" b="1" i="0">
                <a:solidFill>
                  <a:srgbClr val="818CF8"/>
                </a:solidFill>
                <a:latin typeface="Arial"/>
              </a:rPr>
              <a:t>Aucun exemple du livre ne doit être présenté comme un témoignage réel : il est annoncé comme simulation pédagogique.</a:t>
            </a:r>
          </a:p>
        </p:txBody>
      </p:sp>
      <p:sp>
        <p:nvSpPr>
          <p:cNvPr id="10" name="Rounded Rectangle 9" descr="Élément graphique décoratif, sans information propre"/>
          <p:cNvSpPr/>
          <p:nvPr/>
        </p:nvSpPr>
        <p:spPr>
          <a:xfrm>
            <a:off x="0" y="0"/>
            <a:ext cx="201168" cy="6858000"/>
          </a:xfrm>
          <a:prstGeom prst="round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descr="Référence de source affichée en pied de diapositive : Chapitre 12 (exemple/exercice adapté)"/>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 12 (exemple/exercice adapté)</a:t>
            </a:r>
          </a:p>
        </p:txBody>
      </p:sp>
      <p:sp>
        <p:nvSpPr>
          <p:cNvPr id="12" name="TextBox 11" descr="Numéro de diapositive 23 sur 84, durée prévue 4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23 / 84  ·  4 min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Partie 03 · chapitre 13"/>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818CF8"/>
                </a:solidFill>
                <a:latin typeface="Arial"/>
              </a:rPr>
              <a:t>PARTIE 03 · CHAPITRE 13</a:t>
            </a:r>
          </a:p>
        </p:txBody>
      </p:sp>
      <p:sp>
        <p:nvSpPr>
          <p:cNvPr id="4" name="TextBox 3" descr="Titre du chapitre : 13 · Créer avec un simple téléphone"/>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200" b="1" i="0">
                <a:solidFill>
                  <a:srgbClr val="F2F6FC"/>
                </a:solidFill>
                <a:latin typeface="Arial"/>
              </a:rPr>
              <a:t>13 · Créer avec un simple téléphone</a:t>
            </a:r>
          </a:p>
        </p:txBody>
      </p:sp>
      <p:sp>
        <p:nvSpPr>
          <p:cNvPr id="5" name="TextBox 4" descr="Objectif du chapitre : Filmer une idée claire avec une lumière et un son contrôlés."/>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550" b="1" i="0">
                <a:solidFill>
                  <a:srgbClr val="818CF8"/>
                </a:solidFill>
                <a:latin typeface="Arial"/>
              </a:rPr>
              <a:t>Filmer une idée claire avec une lumière et un son contrôlés.</a:t>
            </a:r>
          </a:p>
        </p:txBody>
      </p:sp>
      <p:sp>
        <p:nvSpPr>
          <p:cNvPr id="6" name="Rounded Rectangle 5" descr="Point 1 : Préparez l’espace et l’objectif."/>
          <p:cNvSpPr/>
          <p:nvPr/>
        </p:nvSpPr>
        <p:spPr>
          <a:xfrm>
            <a:off x="566928" y="2331720"/>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de section"/>
          <p:cNvSpPr/>
          <p:nvPr/>
        </p:nvSpPr>
        <p:spPr>
          <a:xfrm>
            <a:off x="566928" y="2331720"/>
            <a:ext cx="64008" cy="713232"/>
          </a:xfrm>
          <a:prstGeom prst="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Numéro d'étape 1"/>
          <p:cNvSpPr txBox="1"/>
          <p:nvPr/>
        </p:nvSpPr>
        <p:spPr>
          <a:xfrm>
            <a:off x="841247" y="2414016"/>
            <a:ext cx="822960" cy="548640"/>
          </a:xfrm>
          <a:prstGeom prst="rect">
            <a:avLst/>
          </a:prstGeom>
          <a:noFill/>
        </p:spPr>
        <p:txBody>
          <a:bodyPr wrap="square" lIns="0" rIns="0" tIns="0" bIns="0" anchor="ctr">
            <a:spAutoFit/>
          </a:bodyPr>
          <a:lstStyle/>
          <a:p>
            <a:pPr algn="l">
              <a:lnSpc>
                <a:spcPct val="112000"/>
              </a:lnSpc>
            </a:pPr>
            <a:r>
              <a:rPr sz="2400" b="1" i="0">
                <a:solidFill>
                  <a:srgbClr val="818CF8"/>
                </a:solidFill>
                <a:latin typeface="Arial"/>
              </a:rPr>
              <a:t>01</a:t>
            </a:r>
          </a:p>
        </p:txBody>
      </p:sp>
      <p:sp>
        <p:nvSpPr>
          <p:cNvPr id="9" name="TextBox 8" descr="Texte du point 1 : Préparez l’espace et l’objectif."/>
          <p:cNvSpPr txBox="1"/>
          <p:nvPr/>
        </p:nvSpPr>
        <p:spPr>
          <a:xfrm>
            <a:off x="1755648" y="2386584"/>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Préparez l’espace et l’objectif.</a:t>
            </a:r>
          </a:p>
        </p:txBody>
      </p:sp>
      <p:sp>
        <p:nvSpPr>
          <p:cNvPr id="10" name="Rounded Rectangle 9" descr="Point 2 : Faites un essai son/image."/>
          <p:cNvSpPr/>
          <p:nvPr/>
        </p:nvSpPr>
        <p:spPr>
          <a:xfrm>
            <a:off x="566928" y="3172968"/>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de section"/>
          <p:cNvSpPr/>
          <p:nvPr/>
        </p:nvSpPr>
        <p:spPr>
          <a:xfrm>
            <a:off x="566928" y="3172968"/>
            <a:ext cx="64008" cy="713232"/>
          </a:xfrm>
          <a:prstGeom prst="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Numéro d'étape 2"/>
          <p:cNvSpPr txBox="1"/>
          <p:nvPr/>
        </p:nvSpPr>
        <p:spPr>
          <a:xfrm>
            <a:off x="841247" y="3255264"/>
            <a:ext cx="822960" cy="548640"/>
          </a:xfrm>
          <a:prstGeom prst="rect">
            <a:avLst/>
          </a:prstGeom>
          <a:noFill/>
        </p:spPr>
        <p:txBody>
          <a:bodyPr wrap="square" lIns="0" rIns="0" tIns="0" bIns="0" anchor="ctr">
            <a:spAutoFit/>
          </a:bodyPr>
          <a:lstStyle/>
          <a:p>
            <a:pPr algn="l">
              <a:lnSpc>
                <a:spcPct val="112000"/>
              </a:lnSpc>
            </a:pPr>
            <a:r>
              <a:rPr sz="2400" b="1" i="0">
                <a:solidFill>
                  <a:srgbClr val="818CF8"/>
                </a:solidFill>
                <a:latin typeface="Arial"/>
              </a:rPr>
              <a:t>02</a:t>
            </a:r>
          </a:p>
        </p:txBody>
      </p:sp>
      <p:sp>
        <p:nvSpPr>
          <p:cNvPr id="13" name="TextBox 12" descr="Texte du point 2 : Faites un essai son/image."/>
          <p:cNvSpPr txBox="1"/>
          <p:nvPr/>
        </p:nvSpPr>
        <p:spPr>
          <a:xfrm>
            <a:off x="1755648" y="3227832"/>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Faites un essai son/image.</a:t>
            </a:r>
          </a:p>
        </p:txBody>
      </p:sp>
      <p:sp>
        <p:nvSpPr>
          <p:cNvPr id="14" name="Rounded Rectangle 13" descr="Point 3 : Découpez la prise par segment."/>
          <p:cNvSpPr/>
          <p:nvPr/>
        </p:nvSpPr>
        <p:spPr>
          <a:xfrm>
            <a:off x="566928" y="4014215"/>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Repère décoratif de section"/>
          <p:cNvSpPr/>
          <p:nvPr/>
        </p:nvSpPr>
        <p:spPr>
          <a:xfrm>
            <a:off x="566928" y="4014215"/>
            <a:ext cx="64008" cy="713232"/>
          </a:xfrm>
          <a:prstGeom prst="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Numéro d'étape 3"/>
          <p:cNvSpPr txBox="1"/>
          <p:nvPr/>
        </p:nvSpPr>
        <p:spPr>
          <a:xfrm>
            <a:off x="841247" y="4096511"/>
            <a:ext cx="822960" cy="548640"/>
          </a:xfrm>
          <a:prstGeom prst="rect">
            <a:avLst/>
          </a:prstGeom>
          <a:noFill/>
        </p:spPr>
        <p:txBody>
          <a:bodyPr wrap="square" lIns="0" rIns="0" tIns="0" bIns="0" anchor="ctr">
            <a:spAutoFit/>
          </a:bodyPr>
          <a:lstStyle/>
          <a:p>
            <a:pPr algn="l">
              <a:lnSpc>
                <a:spcPct val="112000"/>
              </a:lnSpc>
            </a:pPr>
            <a:r>
              <a:rPr sz="2400" b="1" i="0">
                <a:solidFill>
                  <a:srgbClr val="818CF8"/>
                </a:solidFill>
                <a:latin typeface="Arial"/>
              </a:rPr>
              <a:t>03</a:t>
            </a:r>
          </a:p>
        </p:txBody>
      </p:sp>
      <p:sp>
        <p:nvSpPr>
          <p:cNvPr id="17" name="TextBox 16" descr="Texte du point 3 : Découpez la prise par segment."/>
          <p:cNvSpPr txBox="1"/>
          <p:nvPr/>
        </p:nvSpPr>
        <p:spPr>
          <a:xfrm>
            <a:off x="1755648" y="4069079"/>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Découpez la prise par segment.</a:t>
            </a:r>
          </a:p>
        </p:txBody>
      </p:sp>
      <p:sp>
        <p:nvSpPr>
          <p:cNvPr id="18" name="Rounded Rectangle 17" descr="Point 4 : Vérifiez lumière, stabilité et consentements."/>
          <p:cNvSpPr/>
          <p:nvPr/>
        </p:nvSpPr>
        <p:spPr>
          <a:xfrm>
            <a:off x="566928" y="4855464"/>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descr="Repère décoratif de section"/>
          <p:cNvSpPr/>
          <p:nvPr/>
        </p:nvSpPr>
        <p:spPr>
          <a:xfrm>
            <a:off x="566928" y="4855464"/>
            <a:ext cx="64008" cy="713232"/>
          </a:xfrm>
          <a:prstGeom prst="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descr="Numéro d'étape 4"/>
          <p:cNvSpPr txBox="1"/>
          <p:nvPr/>
        </p:nvSpPr>
        <p:spPr>
          <a:xfrm>
            <a:off x="841247" y="4937760"/>
            <a:ext cx="822960" cy="548640"/>
          </a:xfrm>
          <a:prstGeom prst="rect">
            <a:avLst/>
          </a:prstGeom>
          <a:noFill/>
        </p:spPr>
        <p:txBody>
          <a:bodyPr wrap="square" lIns="0" rIns="0" tIns="0" bIns="0" anchor="ctr">
            <a:spAutoFit/>
          </a:bodyPr>
          <a:lstStyle/>
          <a:p>
            <a:pPr algn="l">
              <a:lnSpc>
                <a:spcPct val="112000"/>
              </a:lnSpc>
            </a:pPr>
            <a:r>
              <a:rPr sz="2400" b="1" i="0">
                <a:solidFill>
                  <a:srgbClr val="818CF8"/>
                </a:solidFill>
                <a:latin typeface="Arial"/>
              </a:rPr>
              <a:t>04</a:t>
            </a:r>
          </a:p>
        </p:txBody>
      </p:sp>
      <p:sp>
        <p:nvSpPr>
          <p:cNvPr id="21" name="TextBox 20" descr="Texte du point 4 : Vérifiez lumière, stabilité et consentements."/>
          <p:cNvSpPr txBox="1"/>
          <p:nvPr/>
        </p:nvSpPr>
        <p:spPr>
          <a:xfrm>
            <a:off x="1755648" y="4910328"/>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Vérifiez lumière, stabilité et consentements.</a:t>
            </a:r>
          </a:p>
        </p:txBody>
      </p:sp>
      <p:sp>
        <p:nvSpPr>
          <p:cNvPr id="22" name="Rounded Rectangle 21" descr="Élément graphique décoratif, sans information propre"/>
          <p:cNvSpPr/>
          <p:nvPr/>
        </p:nvSpPr>
        <p:spPr>
          <a:xfrm>
            <a:off x="0" y="0"/>
            <a:ext cx="201168" cy="6858000"/>
          </a:xfrm>
          <a:prstGeom prst="round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descr="Référence de source affichée en pied de diapositive : Chapitre 13 — Créer avec un simple téléphone"/>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 13 — Créer avec un simple téléphone</a:t>
            </a:r>
          </a:p>
        </p:txBody>
      </p:sp>
      <p:sp>
        <p:nvSpPr>
          <p:cNvPr id="24" name="TextBox 23" descr="Numéro de diapositive 24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24 / 84  ·  2 min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Atelier · partie 03 · chapitre 13"/>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818CF8"/>
                </a:solidFill>
                <a:latin typeface="Arial"/>
              </a:rPr>
              <a:t>ATELIER · PARTIE 03 · CHAPITRE 13</a:t>
            </a:r>
          </a:p>
        </p:txBody>
      </p:sp>
      <p:sp>
        <p:nvSpPr>
          <p:cNvPr id="4" name="TextBox 3" descr="Titre de l'atelier : Atelier · Créer avec un simple téléphone"/>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400" b="1" i="0">
                <a:solidFill>
                  <a:srgbClr val="F2F6FC"/>
                </a:solidFill>
                <a:latin typeface="Arial"/>
              </a:rPr>
              <a:t>Atelier · Créer avec un simple téléphone</a:t>
            </a:r>
          </a:p>
        </p:txBody>
      </p:sp>
      <p:sp>
        <p:nvSpPr>
          <p:cNvPr id="5" name="TextBox 4" descr="Consigne cadre : Une décision à documenter, pas un résultat à promettre"/>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600" b="1" i="0">
                <a:solidFill>
                  <a:srgbClr val="818CF8"/>
                </a:solidFill>
                <a:latin typeface="Arial"/>
              </a:rPr>
              <a:t>Une décision à documenter, pas un résultat à promettre</a:t>
            </a:r>
          </a:p>
        </p:txBody>
      </p:sp>
      <p:sp>
        <p:nvSpPr>
          <p:cNvPr id="6" name="Rounded Rectangle 5" descr="Consigne d'atelier : Enregistrez dix secondes ; vérifiez le son, la lumière et la confidentialité."/>
          <p:cNvSpPr/>
          <p:nvPr/>
        </p:nvSpPr>
        <p:spPr>
          <a:xfrm>
            <a:off x="566928" y="2377440"/>
            <a:ext cx="11064240" cy="219456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descr="Consigne d'atelier : Enregistrez dix secondes ; vérifiez le son, la lumière et la confidentialité."/>
          <p:cNvSpPr txBox="1"/>
          <p:nvPr/>
        </p:nvSpPr>
        <p:spPr>
          <a:xfrm>
            <a:off x="960120" y="2651760"/>
            <a:ext cx="10332720" cy="1737360"/>
          </a:xfrm>
          <a:prstGeom prst="rect">
            <a:avLst/>
          </a:prstGeom>
          <a:noFill/>
        </p:spPr>
        <p:txBody>
          <a:bodyPr wrap="square" lIns="0" rIns="0" tIns="0" bIns="0" anchor="ctr">
            <a:spAutoFit/>
          </a:bodyPr>
          <a:lstStyle/>
          <a:p>
            <a:pPr algn="l">
              <a:lnSpc>
                <a:spcPct val="112000"/>
              </a:lnSpc>
            </a:pPr>
            <a:r>
              <a:rPr sz="2400" b="1" i="0">
                <a:solidFill>
                  <a:srgbClr val="F2F6FC"/>
                </a:solidFill>
                <a:latin typeface="Arial"/>
              </a:rPr>
              <a:t>Enregistrez dix secondes ; vérifiez le son, la lumière et la confidentialité.</a:t>
            </a:r>
          </a:p>
        </p:txBody>
      </p:sp>
      <p:sp>
        <p:nvSpPr>
          <p:cNvPr id="8" name="Rounded Rectangle 7" descr="Bandeau d'information : Aucun exemple du livre ne doit être présenté comme un témoignage réel : il est annoncé comme simulation pédagogique."/>
          <p:cNvSpPr/>
          <p:nvPr/>
        </p:nvSpPr>
        <p:spPr>
          <a:xfrm>
            <a:off x="566928" y="5623560"/>
            <a:ext cx="11064240" cy="658368"/>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descr="Texte du bandeau : Aucun exemple du livre ne doit être présenté comme un témoignage réel : il est annoncé comme simulation pédagogique."/>
          <p:cNvSpPr txBox="1"/>
          <p:nvPr/>
        </p:nvSpPr>
        <p:spPr>
          <a:xfrm>
            <a:off x="822960" y="5669280"/>
            <a:ext cx="10607040" cy="566928"/>
          </a:xfrm>
          <a:prstGeom prst="rect">
            <a:avLst/>
          </a:prstGeom>
          <a:noFill/>
        </p:spPr>
        <p:txBody>
          <a:bodyPr wrap="square" lIns="0" rIns="0" tIns="0" bIns="0" anchor="ctr">
            <a:spAutoFit/>
          </a:bodyPr>
          <a:lstStyle/>
          <a:p>
            <a:pPr algn="l">
              <a:lnSpc>
                <a:spcPct val="112000"/>
              </a:lnSpc>
            </a:pPr>
            <a:r>
              <a:rPr sz="1550" b="1" i="0">
                <a:solidFill>
                  <a:srgbClr val="818CF8"/>
                </a:solidFill>
                <a:latin typeface="Arial"/>
              </a:rPr>
              <a:t>Aucun exemple du livre ne doit être présenté comme un témoignage réel : il est annoncé comme simulation pédagogique.</a:t>
            </a:r>
          </a:p>
        </p:txBody>
      </p:sp>
      <p:sp>
        <p:nvSpPr>
          <p:cNvPr id="10" name="Rounded Rectangle 9" descr="Élément graphique décoratif, sans information propre"/>
          <p:cNvSpPr/>
          <p:nvPr/>
        </p:nvSpPr>
        <p:spPr>
          <a:xfrm>
            <a:off x="0" y="0"/>
            <a:ext cx="201168" cy="6858000"/>
          </a:xfrm>
          <a:prstGeom prst="round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descr="Référence de source affichée en pied de diapositive : Chapitre 13 (exemple/exercice adapté)"/>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 13 (exemple/exercice adapté)</a:t>
            </a:r>
          </a:p>
        </p:txBody>
      </p:sp>
      <p:sp>
        <p:nvSpPr>
          <p:cNvPr id="12" name="TextBox 11" descr="Numéro de diapositive 25 sur 84, durée prévue 4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25 / 84  ·  4 min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Partie 03 · chapitre 14"/>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818CF8"/>
                </a:solidFill>
                <a:latin typeface="Arial"/>
              </a:rPr>
              <a:t>PARTIE 03 · CHAPITRE 14</a:t>
            </a:r>
          </a:p>
        </p:txBody>
      </p:sp>
      <p:sp>
        <p:nvSpPr>
          <p:cNvPr id="4" name="TextBox 3" descr="Titre du chapitre : 14 · Publier, interagir et construire une communauté"/>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050" b="1" i="0">
                <a:solidFill>
                  <a:srgbClr val="F2F6FC"/>
                </a:solidFill>
                <a:latin typeface="Arial"/>
              </a:rPr>
              <a:t>14 · Publier, interagir et construire une communauté</a:t>
            </a:r>
          </a:p>
        </p:txBody>
      </p:sp>
      <p:sp>
        <p:nvSpPr>
          <p:cNvPr id="5" name="TextBox 4" descr="Objectif du chapitre : Publier de façon soutenable et répondre sans automatisation abusive."/>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550" b="1" i="0">
                <a:solidFill>
                  <a:srgbClr val="818CF8"/>
                </a:solidFill>
                <a:latin typeface="Arial"/>
              </a:rPr>
              <a:t>Publier de façon soutenable et répondre sans automatisation abusive.</a:t>
            </a:r>
          </a:p>
        </p:txBody>
      </p:sp>
      <p:sp>
        <p:nvSpPr>
          <p:cNvPr id="6" name="Rounded Rectangle 5" descr="Point 1 : Appliquez la checklist prépublication."/>
          <p:cNvSpPr/>
          <p:nvPr/>
        </p:nvSpPr>
        <p:spPr>
          <a:xfrm>
            <a:off x="566928" y="2331720"/>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de section"/>
          <p:cNvSpPr/>
          <p:nvPr/>
        </p:nvSpPr>
        <p:spPr>
          <a:xfrm>
            <a:off x="566928" y="2331720"/>
            <a:ext cx="64008" cy="713232"/>
          </a:xfrm>
          <a:prstGeom prst="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Numéro d'étape 1"/>
          <p:cNvSpPr txBox="1"/>
          <p:nvPr/>
        </p:nvSpPr>
        <p:spPr>
          <a:xfrm>
            <a:off x="841247" y="2414016"/>
            <a:ext cx="822960" cy="548640"/>
          </a:xfrm>
          <a:prstGeom prst="rect">
            <a:avLst/>
          </a:prstGeom>
          <a:noFill/>
        </p:spPr>
        <p:txBody>
          <a:bodyPr wrap="square" lIns="0" rIns="0" tIns="0" bIns="0" anchor="ctr">
            <a:spAutoFit/>
          </a:bodyPr>
          <a:lstStyle/>
          <a:p>
            <a:pPr algn="l">
              <a:lnSpc>
                <a:spcPct val="112000"/>
              </a:lnSpc>
            </a:pPr>
            <a:r>
              <a:rPr sz="2400" b="1" i="0">
                <a:solidFill>
                  <a:srgbClr val="818CF8"/>
                </a:solidFill>
                <a:latin typeface="Arial"/>
              </a:rPr>
              <a:t>01</a:t>
            </a:r>
          </a:p>
        </p:txBody>
      </p:sp>
      <p:sp>
        <p:nvSpPr>
          <p:cNvPr id="9" name="TextBox 8" descr="Texte du point 1 : Appliquez la checklist prépublication."/>
          <p:cNvSpPr txBox="1"/>
          <p:nvPr/>
        </p:nvSpPr>
        <p:spPr>
          <a:xfrm>
            <a:off x="1755648" y="2386584"/>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Appliquez la checklist prépublication.</a:t>
            </a:r>
          </a:p>
        </p:txBody>
      </p:sp>
      <p:sp>
        <p:nvSpPr>
          <p:cNvPr id="10" name="Rounded Rectangle 9" descr="Point 2 : Publiez à cadence réaliste."/>
          <p:cNvSpPr/>
          <p:nvPr/>
        </p:nvSpPr>
        <p:spPr>
          <a:xfrm>
            <a:off x="566928" y="3172968"/>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de section"/>
          <p:cNvSpPr/>
          <p:nvPr/>
        </p:nvSpPr>
        <p:spPr>
          <a:xfrm>
            <a:off x="566928" y="3172968"/>
            <a:ext cx="64008" cy="713232"/>
          </a:xfrm>
          <a:prstGeom prst="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Numéro d'étape 2"/>
          <p:cNvSpPr txBox="1"/>
          <p:nvPr/>
        </p:nvSpPr>
        <p:spPr>
          <a:xfrm>
            <a:off x="841247" y="3255264"/>
            <a:ext cx="822960" cy="548640"/>
          </a:xfrm>
          <a:prstGeom prst="rect">
            <a:avLst/>
          </a:prstGeom>
          <a:noFill/>
        </p:spPr>
        <p:txBody>
          <a:bodyPr wrap="square" lIns="0" rIns="0" tIns="0" bIns="0" anchor="ctr">
            <a:spAutoFit/>
          </a:bodyPr>
          <a:lstStyle/>
          <a:p>
            <a:pPr algn="l">
              <a:lnSpc>
                <a:spcPct val="112000"/>
              </a:lnSpc>
            </a:pPr>
            <a:r>
              <a:rPr sz="2400" b="1" i="0">
                <a:solidFill>
                  <a:srgbClr val="818CF8"/>
                </a:solidFill>
                <a:latin typeface="Arial"/>
              </a:rPr>
              <a:t>02</a:t>
            </a:r>
          </a:p>
        </p:txBody>
      </p:sp>
      <p:sp>
        <p:nvSpPr>
          <p:cNvPr id="13" name="TextBox 12" descr="Texte du point 2 : Publiez à cadence réaliste."/>
          <p:cNvSpPr txBox="1"/>
          <p:nvPr/>
        </p:nvSpPr>
        <p:spPr>
          <a:xfrm>
            <a:off x="1755648" y="3227832"/>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Publiez à cadence réaliste.</a:t>
            </a:r>
          </a:p>
        </p:txBody>
      </p:sp>
      <p:sp>
        <p:nvSpPr>
          <p:cNvPr id="14" name="Rounded Rectangle 13" descr="Point 3 : Consignez URL et objectif."/>
          <p:cNvSpPr/>
          <p:nvPr/>
        </p:nvSpPr>
        <p:spPr>
          <a:xfrm>
            <a:off x="566928" y="4014215"/>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Repère décoratif de section"/>
          <p:cNvSpPr/>
          <p:nvPr/>
        </p:nvSpPr>
        <p:spPr>
          <a:xfrm>
            <a:off x="566928" y="4014215"/>
            <a:ext cx="64008" cy="713232"/>
          </a:xfrm>
          <a:prstGeom prst="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Numéro d'étape 3"/>
          <p:cNvSpPr txBox="1"/>
          <p:nvPr/>
        </p:nvSpPr>
        <p:spPr>
          <a:xfrm>
            <a:off x="841247" y="4096511"/>
            <a:ext cx="822960" cy="548640"/>
          </a:xfrm>
          <a:prstGeom prst="rect">
            <a:avLst/>
          </a:prstGeom>
          <a:noFill/>
        </p:spPr>
        <p:txBody>
          <a:bodyPr wrap="square" lIns="0" rIns="0" tIns="0" bIns="0" anchor="ctr">
            <a:spAutoFit/>
          </a:bodyPr>
          <a:lstStyle/>
          <a:p>
            <a:pPr algn="l">
              <a:lnSpc>
                <a:spcPct val="112000"/>
              </a:lnSpc>
            </a:pPr>
            <a:r>
              <a:rPr sz="2400" b="1" i="0">
                <a:solidFill>
                  <a:srgbClr val="818CF8"/>
                </a:solidFill>
                <a:latin typeface="Arial"/>
              </a:rPr>
              <a:t>03</a:t>
            </a:r>
          </a:p>
        </p:txBody>
      </p:sp>
      <p:sp>
        <p:nvSpPr>
          <p:cNvPr id="17" name="TextBox 16" descr="Texte du point 3 : Consignez URL et objectif."/>
          <p:cNvSpPr txBox="1"/>
          <p:nvPr/>
        </p:nvSpPr>
        <p:spPr>
          <a:xfrm>
            <a:off x="1755648" y="4069079"/>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Consignez URL et objectif.</a:t>
            </a:r>
          </a:p>
        </p:txBody>
      </p:sp>
      <p:sp>
        <p:nvSpPr>
          <p:cNvPr id="18" name="Rounded Rectangle 17" descr="Point 4 : Triez questions et demandes."/>
          <p:cNvSpPr/>
          <p:nvPr/>
        </p:nvSpPr>
        <p:spPr>
          <a:xfrm>
            <a:off x="566928" y="4855464"/>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descr="Repère décoratif de section"/>
          <p:cNvSpPr/>
          <p:nvPr/>
        </p:nvSpPr>
        <p:spPr>
          <a:xfrm>
            <a:off x="566928" y="4855464"/>
            <a:ext cx="64008" cy="713232"/>
          </a:xfrm>
          <a:prstGeom prst="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descr="Numéro d'étape 4"/>
          <p:cNvSpPr txBox="1"/>
          <p:nvPr/>
        </p:nvSpPr>
        <p:spPr>
          <a:xfrm>
            <a:off x="841247" y="4937760"/>
            <a:ext cx="822960" cy="548640"/>
          </a:xfrm>
          <a:prstGeom prst="rect">
            <a:avLst/>
          </a:prstGeom>
          <a:noFill/>
        </p:spPr>
        <p:txBody>
          <a:bodyPr wrap="square" lIns="0" rIns="0" tIns="0" bIns="0" anchor="ctr">
            <a:spAutoFit/>
          </a:bodyPr>
          <a:lstStyle/>
          <a:p>
            <a:pPr algn="l">
              <a:lnSpc>
                <a:spcPct val="112000"/>
              </a:lnSpc>
            </a:pPr>
            <a:r>
              <a:rPr sz="2400" b="1" i="0">
                <a:solidFill>
                  <a:srgbClr val="818CF8"/>
                </a:solidFill>
                <a:latin typeface="Arial"/>
              </a:rPr>
              <a:t>04</a:t>
            </a:r>
          </a:p>
        </p:txBody>
      </p:sp>
      <p:sp>
        <p:nvSpPr>
          <p:cNvPr id="21" name="TextBox 20" descr="Texte du point 4 : Triez questions et demandes."/>
          <p:cNvSpPr txBox="1"/>
          <p:nvPr/>
        </p:nvSpPr>
        <p:spPr>
          <a:xfrm>
            <a:off x="1755648" y="4910328"/>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Triez questions et demandes.</a:t>
            </a:r>
          </a:p>
        </p:txBody>
      </p:sp>
      <p:sp>
        <p:nvSpPr>
          <p:cNvPr id="22" name="Rounded Rectangle 21" descr="Élément graphique décoratif, sans information propre"/>
          <p:cNvSpPr/>
          <p:nvPr/>
        </p:nvSpPr>
        <p:spPr>
          <a:xfrm>
            <a:off x="0" y="0"/>
            <a:ext cx="201168" cy="6858000"/>
          </a:xfrm>
          <a:prstGeom prst="round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descr="Référence de source affichée en pied de diapositive : Chapitre 14 — Publier, interagir et construire une communauté"/>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 14 — Publier, interagir et construire une communauté</a:t>
            </a:r>
          </a:p>
        </p:txBody>
      </p:sp>
      <p:sp>
        <p:nvSpPr>
          <p:cNvPr id="24" name="TextBox 23" descr="Numéro de diapositive 26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26 / 84  ·  2 min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Synthèse · partie 03"/>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818CF8"/>
                </a:solidFill>
                <a:latin typeface="Arial"/>
              </a:rPr>
              <a:t>SYNTHÈSE · PARTIE 03</a:t>
            </a:r>
          </a:p>
        </p:txBody>
      </p:sp>
      <p:sp>
        <p:nvSpPr>
          <p:cNvPr id="4" name="TextBox 3" descr="Titre : À retenir · partie 03"/>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600" b="1" i="0">
                <a:solidFill>
                  <a:srgbClr val="F2F6FC"/>
                </a:solidFill>
                <a:latin typeface="Arial"/>
              </a:rPr>
              <a:t>À retenir · partie 03</a:t>
            </a:r>
          </a:p>
        </p:txBody>
      </p:sp>
      <p:sp>
        <p:nvSpPr>
          <p:cNvPr id="5" name="TextBox 4" descr="Sous-titre : CONSTRUIRE SON SYSTÈME DE CONTENU"/>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600" b="1" i="0">
                <a:solidFill>
                  <a:srgbClr val="818CF8"/>
                </a:solidFill>
                <a:latin typeface="Arial"/>
              </a:rPr>
              <a:t>CONSTRUIRE SON SYSTÈME DE CONTENU</a:t>
            </a:r>
          </a:p>
        </p:txBody>
      </p:sp>
      <p:sp>
        <p:nvSpPr>
          <p:cNvPr id="6" name="Rounded Rectangle 5" descr="Point 1 : Exprimer une promesse crédible et reconnaissable."/>
          <p:cNvSpPr/>
          <p:nvPr/>
        </p:nvSpPr>
        <p:spPr>
          <a:xfrm>
            <a:off x="566928" y="2212848"/>
            <a:ext cx="11064240" cy="59436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de section"/>
          <p:cNvSpPr/>
          <p:nvPr/>
        </p:nvSpPr>
        <p:spPr>
          <a:xfrm>
            <a:off x="566928" y="2212848"/>
            <a:ext cx="64008" cy="594360"/>
          </a:xfrm>
          <a:prstGeom prst="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Numéro d'étape 1"/>
          <p:cNvSpPr txBox="1"/>
          <p:nvPr/>
        </p:nvSpPr>
        <p:spPr>
          <a:xfrm>
            <a:off x="841247" y="2235708"/>
            <a:ext cx="822960" cy="548640"/>
          </a:xfrm>
          <a:prstGeom prst="rect">
            <a:avLst/>
          </a:prstGeom>
          <a:noFill/>
        </p:spPr>
        <p:txBody>
          <a:bodyPr wrap="square" lIns="0" rIns="0" tIns="0" bIns="0" anchor="ctr">
            <a:spAutoFit/>
          </a:bodyPr>
          <a:lstStyle/>
          <a:p>
            <a:pPr algn="l">
              <a:lnSpc>
                <a:spcPct val="112000"/>
              </a:lnSpc>
            </a:pPr>
            <a:r>
              <a:rPr sz="2400" b="1" i="0">
                <a:solidFill>
                  <a:srgbClr val="818CF8"/>
                </a:solidFill>
                <a:latin typeface="Arial"/>
              </a:rPr>
              <a:t>01</a:t>
            </a:r>
          </a:p>
        </p:txBody>
      </p:sp>
      <p:sp>
        <p:nvSpPr>
          <p:cNvPr id="9" name="TextBox 8" descr="Texte du point 1 : Exprimer une promesse crédible et reconnaissable."/>
          <p:cNvSpPr txBox="1"/>
          <p:nvPr/>
        </p:nvSpPr>
        <p:spPr>
          <a:xfrm>
            <a:off x="1755648" y="2267712"/>
            <a:ext cx="9646919" cy="484632"/>
          </a:xfrm>
          <a:prstGeom prst="rect">
            <a:avLst/>
          </a:prstGeom>
          <a:noFill/>
        </p:spPr>
        <p:txBody>
          <a:bodyPr wrap="square" lIns="0" rIns="0" tIns="0" bIns="0" anchor="ctr">
            <a:spAutoFit/>
          </a:bodyPr>
          <a:lstStyle/>
          <a:p>
            <a:pPr algn="l">
              <a:lnSpc>
                <a:spcPct val="112000"/>
              </a:lnSpc>
            </a:pPr>
            <a:r>
              <a:rPr sz="1500" b="0" i="0">
                <a:solidFill>
                  <a:srgbClr val="F2F6FC"/>
                </a:solidFill>
                <a:latin typeface="Arial"/>
              </a:rPr>
              <a:t>Exprimer une promesse crédible et reconnaissable.</a:t>
            </a:r>
          </a:p>
        </p:txBody>
      </p:sp>
      <p:sp>
        <p:nvSpPr>
          <p:cNvPr id="10" name="Rounded Rectangle 9" descr="Point 2 : Organiser découverte, confiance, communauté et conversion."/>
          <p:cNvSpPr/>
          <p:nvPr/>
        </p:nvSpPr>
        <p:spPr>
          <a:xfrm>
            <a:off x="566928" y="2916936"/>
            <a:ext cx="11064240" cy="59436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de section"/>
          <p:cNvSpPr/>
          <p:nvPr/>
        </p:nvSpPr>
        <p:spPr>
          <a:xfrm>
            <a:off x="566928" y="2916936"/>
            <a:ext cx="64008" cy="594360"/>
          </a:xfrm>
          <a:prstGeom prst="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Numéro d'étape 2"/>
          <p:cNvSpPr txBox="1"/>
          <p:nvPr/>
        </p:nvSpPr>
        <p:spPr>
          <a:xfrm>
            <a:off x="841247" y="2939796"/>
            <a:ext cx="822960" cy="548640"/>
          </a:xfrm>
          <a:prstGeom prst="rect">
            <a:avLst/>
          </a:prstGeom>
          <a:noFill/>
        </p:spPr>
        <p:txBody>
          <a:bodyPr wrap="square" lIns="0" rIns="0" tIns="0" bIns="0" anchor="ctr">
            <a:spAutoFit/>
          </a:bodyPr>
          <a:lstStyle/>
          <a:p>
            <a:pPr algn="l">
              <a:lnSpc>
                <a:spcPct val="112000"/>
              </a:lnSpc>
            </a:pPr>
            <a:r>
              <a:rPr sz="2400" b="1" i="0">
                <a:solidFill>
                  <a:srgbClr val="818CF8"/>
                </a:solidFill>
                <a:latin typeface="Arial"/>
              </a:rPr>
              <a:t>02</a:t>
            </a:r>
          </a:p>
        </p:txBody>
      </p:sp>
      <p:sp>
        <p:nvSpPr>
          <p:cNvPr id="13" name="TextBox 12" descr="Texte du point 2 : Organiser découverte, confiance, communauté et conversion."/>
          <p:cNvSpPr txBox="1"/>
          <p:nvPr/>
        </p:nvSpPr>
        <p:spPr>
          <a:xfrm>
            <a:off x="1755648" y="2971800"/>
            <a:ext cx="9646919" cy="484632"/>
          </a:xfrm>
          <a:prstGeom prst="rect">
            <a:avLst/>
          </a:prstGeom>
          <a:noFill/>
        </p:spPr>
        <p:txBody>
          <a:bodyPr wrap="square" lIns="0" rIns="0" tIns="0" bIns="0" anchor="ctr">
            <a:spAutoFit/>
          </a:bodyPr>
          <a:lstStyle/>
          <a:p>
            <a:pPr algn="l">
              <a:lnSpc>
                <a:spcPct val="112000"/>
              </a:lnSpc>
            </a:pPr>
            <a:r>
              <a:rPr sz="1500" b="0" i="0">
                <a:solidFill>
                  <a:srgbClr val="F2F6FC"/>
                </a:solidFill>
                <a:latin typeface="Arial"/>
              </a:rPr>
              <a:t>Organiser découverte, confiance, communauté et conversion.</a:t>
            </a:r>
          </a:p>
        </p:txBody>
      </p:sp>
      <p:sp>
        <p:nvSpPr>
          <p:cNvPr id="14" name="Rounded Rectangle 13" descr="Point 3 : Créer une banque d’idées avec source, statut et action."/>
          <p:cNvSpPr/>
          <p:nvPr/>
        </p:nvSpPr>
        <p:spPr>
          <a:xfrm>
            <a:off x="566928" y="3621024"/>
            <a:ext cx="11064240" cy="59436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Repère décoratif de section"/>
          <p:cNvSpPr/>
          <p:nvPr/>
        </p:nvSpPr>
        <p:spPr>
          <a:xfrm>
            <a:off x="566928" y="3621024"/>
            <a:ext cx="64008" cy="594360"/>
          </a:xfrm>
          <a:prstGeom prst="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Numéro d'étape 3"/>
          <p:cNvSpPr txBox="1"/>
          <p:nvPr/>
        </p:nvSpPr>
        <p:spPr>
          <a:xfrm>
            <a:off x="841247" y="3643884"/>
            <a:ext cx="822960" cy="548640"/>
          </a:xfrm>
          <a:prstGeom prst="rect">
            <a:avLst/>
          </a:prstGeom>
          <a:noFill/>
        </p:spPr>
        <p:txBody>
          <a:bodyPr wrap="square" lIns="0" rIns="0" tIns="0" bIns="0" anchor="ctr">
            <a:spAutoFit/>
          </a:bodyPr>
          <a:lstStyle/>
          <a:p>
            <a:pPr algn="l">
              <a:lnSpc>
                <a:spcPct val="112000"/>
              </a:lnSpc>
            </a:pPr>
            <a:r>
              <a:rPr sz="2400" b="1" i="0">
                <a:solidFill>
                  <a:srgbClr val="818CF8"/>
                </a:solidFill>
                <a:latin typeface="Arial"/>
              </a:rPr>
              <a:t>03</a:t>
            </a:r>
          </a:p>
        </p:txBody>
      </p:sp>
      <p:sp>
        <p:nvSpPr>
          <p:cNvPr id="17" name="TextBox 16" descr="Texte du point 3 : Créer une banque d’idées avec source, statut et action."/>
          <p:cNvSpPr txBox="1"/>
          <p:nvPr/>
        </p:nvSpPr>
        <p:spPr>
          <a:xfrm>
            <a:off x="1755648" y="3675887"/>
            <a:ext cx="9646919" cy="484632"/>
          </a:xfrm>
          <a:prstGeom prst="rect">
            <a:avLst/>
          </a:prstGeom>
          <a:noFill/>
        </p:spPr>
        <p:txBody>
          <a:bodyPr wrap="square" lIns="0" rIns="0" tIns="0" bIns="0" anchor="ctr">
            <a:spAutoFit/>
          </a:bodyPr>
          <a:lstStyle/>
          <a:p>
            <a:pPr algn="l">
              <a:lnSpc>
                <a:spcPct val="112000"/>
              </a:lnSpc>
            </a:pPr>
            <a:r>
              <a:rPr sz="1500" b="0" i="0">
                <a:solidFill>
                  <a:srgbClr val="F2F6FC"/>
                </a:solidFill>
                <a:latin typeface="Arial"/>
              </a:rPr>
              <a:t>Créer une banque d’idées avec source, statut et action.</a:t>
            </a:r>
          </a:p>
        </p:txBody>
      </p:sp>
      <p:sp>
        <p:nvSpPr>
          <p:cNvPr id="18" name="Rounded Rectangle 17" descr="Point 4 : Écrire une ouverture honnête et une démonstration qui tient sa promesse."/>
          <p:cNvSpPr/>
          <p:nvPr/>
        </p:nvSpPr>
        <p:spPr>
          <a:xfrm>
            <a:off x="566928" y="4325112"/>
            <a:ext cx="11064240" cy="59436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descr="Repère décoratif de section"/>
          <p:cNvSpPr/>
          <p:nvPr/>
        </p:nvSpPr>
        <p:spPr>
          <a:xfrm>
            <a:off x="566928" y="4325112"/>
            <a:ext cx="64008" cy="594360"/>
          </a:xfrm>
          <a:prstGeom prst="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descr="Numéro d'étape 4"/>
          <p:cNvSpPr txBox="1"/>
          <p:nvPr/>
        </p:nvSpPr>
        <p:spPr>
          <a:xfrm>
            <a:off x="841247" y="4347972"/>
            <a:ext cx="822960" cy="548640"/>
          </a:xfrm>
          <a:prstGeom prst="rect">
            <a:avLst/>
          </a:prstGeom>
          <a:noFill/>
        </p:spPr>
        <p:txBody>
          <a:bodyPr wrap="square" lIns="0" rIns="0" tIns="0" bIns="0" anchor="ctr">
            <a:spAutoFit/>
          </a:bodyPr>
          <a:lstStyle/>
          <a:p>
            <a:pPr algn="l">
              <a:lnSpc>
                <a:spcPct val="112000"/>
              </a:lnSpc>
            </a:pPr>
            <a:r>
              <a:rPr sz="2400" b="1" i="0">
                <a:solidFill>
                  <a:srgbClr val="818CF8"/>
                </a:solidFill>
                <a:latin typeface="Arial"/>
              </a:rPr>
              <a:t>04</a:t>
            </a:r>
          </a:p>
        </p:txBody>
      </p:sp>
      <p:sp>
        <p:nvSpPr>
          <p:cNvPr id="21" name="TextBox 20" descr="Texte du point 4 : Écrire une ouverture honnête et une démonstration qui tient sa promesse."/>
          <p:cNvSpPr txBox="1"/>
          <p:nvPr/>
        </p:nvSpPr>
        <p:spPr>
          <a:xfrm>
            <a:off x="1755648" y="4379976"/>
            <a:ext cx="9646919" cy="484632"/>
          </a:xfrm>
          <a:prstGeom prst="rect">
            <a:avLst/>
          </a:prstGeom>
          <a:noFill/>
        </p:spPr>
        <p:txBody>
          <a:bodyPr wrap="square" lIns="0" rIns="0" tIns="0" bIns="0" anchor="ctr">
            <a:spAutoFit/>
          </a:bodyPr>
          <a:lstStyle/>
          <a:p>
            <a:pPr algn="l">
              <a:lnSpc>
                <a:spcPct val="112000"/>
              </a:lnSpc>
            </a:pPr>
            <a:r>
              <a:rPr sz="1500" b="0" i="0">
                <a:solidFill>
                  <a:srgbClr val="F2F6FC"/>
                </a:solidFill>
                <a:latin typeface="Arial"/>
              </a:rPr>
              <a:t>Écrire une ouverture honnête et une démonstration qui tient sa promesse.</a:t>
            </a:r>
          </a:p>
        </p:txBody>
      </p:sp>
      <p:sp>
        <p:nvSpPr>
          <p:cNvPr id="22" name="Rounded Rectangle 21" descr="Point 5 : Filmer une idée claire avec une lumière et un son contrôlés."/>
          <p:cNvSpPr/>
          <p:nvPr/>
        </p:nvSpPr>
        <p:spPr>
          <a:xfrm>
            <a:off x="566928" y="5029200"/>
            <a:ext cx="11064240" cy="59436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descr="Repère décoratif de section"/>
          <p:cNvSpPr/>
          <p:nvPr/>
        </p:nvSpPr>
        <p:spPr>
          <a:xfrm>
            <a:off x="566928" y="5029200"/>
            <a:ext cx="64008" cy="594360"/>
          </a:xfrm>
          <a:prstGeom prst="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descr="Numéro d'étape 5"/>
          <p:cNvSpPr txBox="1"/>
          <p:nvPr/>
        </p:nvSpPr>
        <p:spPr>
          <a:xfrm>
            <a:off x="841247" y="5052060"/>
            <a:ext cx="822960" cy="548640"/>
          </a:xfrm>
          <a:prstGeom prst="rect">
            <a:avLst/>
          </a:prstGeom>
          <a:noFill/>
        </p:spPr>
        <p:txBody>
          <a:bodyPr wrap="square" lIns="0" rIns="0" tIns="0" bIns="0" anchor="ctr">
            <a:spAutoFit/>
          </a:bodyPr>
          <a:lstStyle/>
          <a:p>
            <a:pPr algn="l">
              <a:lnSpc>
                <a:spcPct val="112000"/>
              </a:lnSpc>
            </a:pPr>
            <a:r>
              <a:rPr sz="2400" b="1" i="0">
                <a:solidFill>
                  <a:srgbClr val="818CF8"/>
                </a:solidFill>
                <a:latin typeface="Arial"/>
              </a:rPr>
              <a:t>05</a:t>
            </a:r>
          </a:p>
        </p:txBody>
      </p:sp>
      <p:sp>
        <p:nvSpPr>
          <p:cNvPr id="25" name="TextBox 24" descr="Texte du point 5 : Filmer une idée claire avec une lumière et un son contrôlés."/>
          <p:cNvSpPr txBox="1"/>
          <p:nvPr/>
        </p:nvSpPr>
        <p:spPr>
          <a:xfrm>
            <a:off x="1755648" y="5084064"/>
            <a:ext cx="9646919" cy="484632"/>
          </a:xfrm>
          <a:prstGeom prst="rect">
            <a:avLst/>
          </a:prstGeom>
          <a:noFill/>
        </p:spPr>
        <p:txBody>
          <a:bodyPr wrap="square" lIns="0" rIns="0" tIns="0" bIns="0" anchor="ctr">
            <a:spAutoFit/>
          </a:bodyPr>
          <a:lstStyle/>
          <a:p>
            <a:pPr algn="l">
              <a:lnSpc>
                <a:spcPct val="112000"/>
              </a:lnSpc>
            </a:pPr>
            <a:r>
              <a:rPr sz="1500" b="0" i="0">
                <a:solidFill>
                  <a:srgbClr val="F2F6FC"/>
                </a:solidFill>
                <a:latin typeface="Arial"/>
              </a:rPr>
              <a:t>Filmer une idée claire avec une lumière et un son contrôlés.</a:t>
            </a:r>
          </a:p>
        </p:txBody>
      </p:sp>
      <p:sp>
        <p:nvSpPr>
          <p:cNvPr id="26" name="Rounded Rectangle 25" descr="Élément graphique décoratif, sans information propre"/>
          <p:cNvSpPr/>
          <p:nvPr/>
        </p:nvSpPr>
        <p:spPr>
          <a:xfrm>
            <a:off x="0" y="0"/>
            <a:ext cx="201168" cy="6858000"/>
          </a:xfrm>
          <a:prstGeom prst="round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descr="Référence de source affichée en pied de diapositive : Chapitres 09–14"/>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Chapitres 09–14</a:t>
            </a:r>
          </a:p>
        </p:txBody>
      </p:sp>
      <p:sp>
        <p:nvSpPr>
          <p:cNvPr id="28" name="TextBox 27" descr="Numéro de diapositive 27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27 / 84  ·  2 min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descr="Élément graphique décoratif, sans information propr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descr="Bandeau supérieur de partie"/>
          <p:cNvSpPr/>
          <p:nvPr/>
        </p:nvSpPr>
        <p:spPr>
          <a:xfrm>
            <a:off x="0" y="0"/>
            <a:ext cx="12191695" cy="25603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descr="Titre de section : PARTIE 04"/>
          <p:cNvSpPr txBox="1"/>
          <p:nvPr/>
        </p:nvSpPr>
        <p:spPr>
          <a:xfrm>
            <a:off x="822960" y="2148840"/>
            <a:ext cx="8357616" cy="1097280"/>
          </a:xfrm>
          <a:prstGeom prst="rect">
            <a:avLst/>
          </a:prstGeom>
          <a:noFill/>
        </p:spPr>
        <p:txBody>
          <a:bodyPr wrap="square" lIns="0" rIns="0" tIns="0" bIns="0" anchor="t">
            <a:spAutoFit/>
          </a:bodyPr>
          <a:lstStyle/>
          <a:p>
            <a:pPr algn="l">
              <a:lnSpc>
                <a:spcPct val="106000"/>
              </a:lnSpc>
            </a:pPr>
            <a:r>
              <a:rPr sz="5600" b="1" i="0">
                <a:solidFill>
                  <a:srgbClr val="F2F6FC"/>
                </a:solidFill>
                <a:latin typeface="Arial"/>
              </a:rPr>
              <a:t>PARTIE 04</a:t>
            </a:r>
          </a:p>
        </p:txBody>
      </p:sp>
      <p:sp>
        <p:nvSpPr>
          <p:cNvPr id="6" name="TextBox 5" descr="Sous-titre de section : PRODUIRE AVEC L’IA"/>
          <p:cNvSpPr txBox="1"/>
          <p:nvPr/>
        </p:nvSpPr>
        <p:spPr>
          <a:xfrm>
            <a:off x="822960" y="3291840"/>
            <a:ext cx="10058400" cy="1463040"/>
          </a:xfrm>
          <a:prstGeom prst="rect">
            <a:avLst/>
          </a:prstGeom>
          <a:noFill/>
        </p:spPr>
        <p:txBody>
          <a:bodyPr wrap="square" lIns="0" rIns="0" tIns="0" bIns="0" anchor="t">
            <a:spAutoFit/>
          </a:bodyPr>
          <a:lstStyle/>
          <a:p>
            <a:pPr algn="l">
              <a:lnSpc>
                <a:spcPct val="112000"/>
              </a:lnSpc>
            </a:pPr>
            <a:r>
              <a:rPr sz="3000" b="1" i="0">
                <a:solidFill>
                  <a:srgbClr val="A78BFA"/>
                </a:solidFill>
                <a:latin typeface="Arial"/>
              </a:rPr>
              <a:t>PRODUIRE AVEC L’IA</a:t>
            </a:r>
          </a:p>
        </p:txBody>
      </p:sp>
      <p:sp>
        <p:nvSpPr>
          <p:cNvPr id="7" name="Rounded Rectangle 6" descr="Élément graphique décoratif, sans information propre"/>
          <p:cNvSpPr/>
          <p:nvPr/>
        </p:nvSpPr>
        <p:spPr>
          <a:xfrm>
            <a:off x="0" y="0"/>
            <a:ext cx="201168" cy="6858000"/>
          </a:xfrm>
          <a:prstGeom prst="round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Référence de source affichée en pied de diapositive : Partie 4 du DOCX"/>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Partie 4 du DOCX</a:t>
            </a:r>
          </a:p>
        </p:txBody>
      </p:sp>
      <p:sp>
        <p:nvSpPr>
          <p:cNvPr id="9" name="TextBox 8" descr="Numéro de diapositive 28 sur 84, durée prévue 1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28 / 84  ·  1 min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Partie 04 · chapitre 15"/>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A78BFA"/>
                </a:solidFill>
                <a:latin typeface="Arial"/>
              </a:rPr>
              <a:t>PARTIE 04 · CHAPITRE 15</a:t>
            </a:r>
          </a:p>
        </p:txBody>
      </p:sp>
      <p:sp>
        <p:nvSpPr>
          <p:cNvPr id="4" name="TextBox 3" descr="Titre du chapitre : 15 · Recherche, brief, script et prompts"/>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200" b="1" i="0">
                <a:solidFill>
                  <a:srgbClr val="F2F6FC"/>
                </a:solidFill>
                <a:latin typeface="Arial"/>
              </a:rPr>
              <a:t>15 · Recherche, brief, script et prompts</a:t>
            </a:r>
          </a:p>
        </p:txBody>
      </p:sp>
      <p:sp>
        <p:nvSpPr>
          <p:cNvPr id="5" name="TextBox 4" descr="Objectif du chapitre : Transformer une demande vague en brief vérifiable."/>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550" b="1" i="0">
                <a:solidFill>
                  <a:srgbClr val="A78BFA"/>
                </a:solidFill>
                <a:latin typeface="Arial"/>
              </a:rPr>
              <a:t>Transformer une demande vague en brief vérifiable.</a:t>
            </a:r>
          </a:p>
        </p:txBody>
      </p:sp>
      <p:sp>
        <p:nvSpPr>
          <p:cNvPr id="6" name="Rounded Rectangle 5" descr="Point 1 : Définissez l’objectif en une phrase."/>
          <p:cNvSpPr/>
          <p:nvPr/>
        </p:nvSpPr>
        <p:spPr>
          <a:xfrm>
            <a:off x="566928" y="2331720"/>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de section"/>
          <p:cNvSpPr/>
          <p:nvPr/>
        </p:nvSpPr>
        <p:spPr>
          <a:xfrm>
            <a:off x="566928" y="2331720"/>
            <a:ext cx="64008" cy="71323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Numéro d'étape 1"/>
          <p:cNvSpPr txBox="1"/>
          <p:nvPr/>
        </p:nvSpPr>
        <p:spPr>
          <a:xfrm>
            <a:off x="841247" y="2414016"/>
            <a:ext cx="822960" cy="548640"/>
          </a:xfrm>
          <a:prstGeom prst="rect">
            <a:avLst/>
          </a:prstGeom>
          <a:noFill/>
        </p:spPr>
        <p:txBody>
          <a:bodyPr wrap="square" lIns="0" rIns="0" tIns="0" bIns="0" anchor="ctr">
            <a:spAutoFit/>
          </a:bodyPr>
          <a:lstStyle/>
          <a:p>
            <a:pPr algn="l">
              <a:lnSpc>
                <a:spcPct val="112000"/>
              </a:lnSpc>
            </a:pPr>
            <a:r>
              <a:rPr sz="2400" b="1" i="0">
                <a:solidFill>
                  <a:srgbClr val="A78BFA"/>
                </a:solidFill>
                <a:latin typeface="Arial"/>
              </a:rPr>
              <a:t>01</a:t>
            </a:r>
          </a:p>
        </p:txBody>
      </p:sp>
      <p:sp>
        <p:nvSpPr>
          <p:cNvPr id="9" name="TextBox 8" descr="Texte du point 1 : Définissez l’objectif en une phrase."/>
          <p:cNvSpPr txBox="1"/>
          <p:nvPr/>
        </p:nvSpPr>
        <p:spPr>
          <a:xfrm>
            <a:off x="1755648" y="2386584"/>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Définissez l’objectif en une phrase.</a:t>
            </a:r>
          </a:p>
        </p:txBody>
      </p:sp>
      <p:sp>
        <p:nvSpPr>
          <p:cNvPr id="10" name="Rounded Rectangle 9" descr="Point 2 : Fournissez contexte réel et autorisé."/>
          <p:cNvSpPr/>
          <p:nvPr/>
        </p:nvSpPr>
        <p:spPr>
          <a:xfrm>
            <a:off x="566928" y="3172968"/>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de section"/>
          <p:cNvSpPr/>
          <p:nvPr/>
        </p:nvSpPr>
        <p:spPr>
          <a:xfrm>
            <a:off x="566928" y="3172968"/>
            <a:ext cx="64008" cy="71323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Numéro d'étape 2"/>
          <p:cNvSpPr txBox="1"/>
          <p:nvPr/>
        </p:nvSpPr>
        <p:spPr>
          <a:xfrm>
            <a:off x="841247" y="3255264"/>
            <a:ext cx="822960" cy="548640"/>
          </a:xfrm>
          <a:prstGeom prst="rect">
            <a:avLst/>
          </a:prstGeom>
          <a:noFill/>
        </p:spPr>
        <p:txBody>
          <a:bodyPr wrap="square" lIns="0" rIns="0" tIns="0" bIns="0" anchor="ctr">
            <a:spAutoFit/>
          </a:bodyPr>
          <a:lstStyle/>
          <a:p>
            <a:pPr algn="l">
              <a:lnSpc>
                <a:spcPct val="112000"/>
              </a:lnSpc>
            </a:pPr>
            <a:r>
              <a:rPr sz="2400" b="1" i="0">
                <a:solidFill>
                  <a:srgbClr val="A78BFA"/>
                </a:solidFill>
                <a:latin typeface="Arial"/>
              </a:rPr>
              <a:t>02</a:t>
            </a:r>
          </a:p>
        </p:txBody>
      </p:sp>
      <p:sp>
        <p:nvSpPr>
          <p:cNvPr id="13" name="TextBox 12" descr="Texte du point 2 : Fournissez contexte réel et autorisé."/>
          <p:cNvSpPr txBox="1"/>
          <p:nvPr/>
        </p:nvSpPr>
        <p:spPr>
          <a:xfrm>
            <a:off x="1755648" y="3227832"/>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Fournissez contexte réel et autorisé.</a:t>
            </a:r>
          </a:p>
        </p:txBody>
      </p:sp>
      <p:sp>
        <p:nvSpPr>
          <p:cNvPr id="14" name="Rounded Rectangle 13" descr="Point 3 : Imposer faits/hypothèses/inconnues."/>
          <p:cNvSpPr/>
          <p:nvPr/>
        </p:nvSpPr>
        <p:spPr>
          <a:xfrm>
            <a:off x="566928" y="4014215"/>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Repère décoratif de section"/>
          <p:cNvSpPr/>
          <p:nvPr/>
        </p:nvSpPr>
        <p:spPr>
          <a:xfrm>
            <a:off x="566928" y="4014215"/>
            <a:ext cx="64008" cy="71323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Numéro d'étape 3"/>
          <p:cNvSpPr txBox="1"/>
          <p:nvPr/>
        </p:nvSpPr>
        <p:spPr>
          <a:xfrm>
            <a:off x="841247" y="4096511"/>
            <a:ext cx="822960" cy="548640"/>
          </a:xfrm>
          <a:prstGeom prst="rect">
            <a:avLst/>
          </a:prstGeom>
          <a:noFill/>
        </p:spPr>
        <p:txBody>
          <a:bodyPr wrap="square" lIns="0" rIns="0" tIns="0" bIns="0" anchor="ctr">
            <a:spAutoFit/>
          </a:bodyPr>
          <a:lstStyle/>
          <a:p>
            <a:pPr algn="l">
              <a:lnSpc>
                <a:spcPct val="112000"/>
              </a:lnSpc>
            </a:pPr>
            <a:r>
              <a:rPr sz="2400" b="1" i="0">
                <a:solidFill>
                  <a:srgbClr val="A78BFA"/>
                </a:solidFill>
                <a:latin typeface="Arial"/>
              </a:rPr>
              <a:t>03</a:t>
            </a:r>
          </a:p>
        </p:txBody>
      </p:sp>
      <p:sp>
        <p:nvSpPr>
          <p:cNvPr id="17" name="TextBox 16" descr="Texte du point 3 : Imposer faits/hypothèses/inconnues."/>
          <p:cNvSpPr txBox="1"/>
          <p:nvPr/>
        </p:nvSpPr>
        <p:spPr>
          <a:xfrm>
            <a:off x="1755648" y="4069079"/>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Imposer faits/hypothèses/inconnues.</a:t>
            </a:r>
          </a:p>
        </p:txBody>
      </p:sp>
      <p:sp>
        <p:nvSpPr>
          <p:cNvPr id="18" name="Rounded Rectangle 17" descr="Point 4 : Demandez un format structuré."/>
          <p:cNvSpPr/>
          <p:nvPr/>
        </p:nvSpPr>
        <p:spPr>
          <a:xfrm>
            <a:off x="566928" y="4855464"/>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descr="Repère décoratif de section"/>
          <p:cNvSpPr/>
          <p:nvPr/>
        </p:nvSpPr>
        <p:spPr>
          <a:xfrm>
            <a:off x="566928" y="4855464"/>
            <a:ext cx="64008" cy="71323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descr="Numéro d'étape 4"/>
          <p:cNvSpPr txBox="1"/>
          <p:nvPr/>
        </p:nvSpPr>
        <p:spPr>
          <a:xfrm>
            <a:off x="841247" y="4937760"/>
            <a:ext cx="822960" cy="548640"/>
          </a:xfrm>
          <a:prstGeom prst="rect">
            <a:avLst/>
          </a:prstGeom>
          <a:noFill/>
        </p:spPr>
        <p:txBody>
          <a:bodyPr wrap="square" lIns="0" rIns="0" tIns="0" bIns="0" anchor="ctr">
            <a:spAutoFit/>
          </a:bodyPr>
          <a:lstStyle/>
          <a:p>
            <a:pPr algn="l">
              <a:lnSpc>
                <a:spcPct val="112000"/>
              </a:lnSpc>
            </a:pPr>
            <a:r>
              <a:rPr sz="2400" b="1" i="0">
                <a:solidFill>
                  <a:srgbClr val="A78BFA"/>
                </a:solidFill>
                <a:latin typeface="Arial"/>
              </a:rPr>
              <a:t>04</a:t>
            </a:r>
          </a:p>
        </p:txBody>
      </p:sp>
      <p:sp>
        <p:nvSpPr>
          <p:cNvPr id="21" name="TextBox 20" descr="Texte du point 4 : Demandez un format structuré."/>
          <p:cNvSpPr txBox="1"/>
          <p:nvPr/>
        </p:nvSpPr>
        <p:spPr>
          <a:xfrm>
            <a:off x="1755648" y="4910328"/>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Demandez un format structuré.</a:t>
            </a:r>
          </a:p>
        </p:txBody>
      </p:sp>
      <p:sp>
        <p:nvSpPr>
          <p:cNvPr id="22" name="Rounded Rectangle 21" descr="Élément graphique décoratif, sans information propre"/>
          <p:cNvSpPr/>
          <p:nvPr/>
        </p:nvSpPr>
        <p:spPr>
          <a:xfrm>
            <a:off x="0" y="0"/>
            <a:ext cx="201168" cy="6858000"/>
          </a:xfrm>
          <a:prstGeom prst="round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descr="Référence de source affichée en pied de diapositive : Chapitre 15 — Recherche, brief, script et prompts"/>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 15 — Recherche, brief, script et prompts</a:t>
            </a:r>
          </a:p>
        </p:txBody>
      </p:sp>
      <p:sp>
        <p:nvSpPr>
          <p:cNvPr id="24" name="TextBox 23" descr="Numéro de diapositive 29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29 / 84  ·  2 min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Partie 04 · chapitre 16"/>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A78BFA"/>
                </a:solidFill>
                <a:latin typeface="Arial"/>
              </a:rPr>
              <a:t>PARTIE 04 · CHAPITRE 16</a:t>
            </a:r>
          </a:p>
        </p:txBody>
      </p:sp>
      <p:sp>
        <p:nvSpPr>
          <p:cNvPr id="4" name="TextBox 3" descr="Titre du chapitre : 16 · Images, voix off, sous-titres et vidéo"/>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200" b="1" i="0">
                <a:solidFill>
                  <a:srgbClr val="F2F6FC"/>
                </a:solidFill>
                <a:latin typeface="Arial"/>
              </a:rPr>
              <a:t>16 · Images, voix off, sous-titres et vidéo</a:t>
            </a:r>
          </a:p>
        </p:txBody>
      </p:sp>
      <p:sp>
        <p:nvSpPr>
          <p:cNvPr id="5" name="TextBox 4" descr="Objectif du chapitre : Produire des médias dont les droits et le sens sont vérifiés."/>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550" b="1" i="0">
                <a:solidFill>
                  <a:srgbClr val="A78BFA"/>
                </a:solidFill>
                <a:latin typeface="Arial"/>
              </a:rPr>
              <a:t>Produire des médias dont les droits et le sens sont vérifiés.</a:t>
            </a:r>
          </a:p>
        </p:txBody>
      </p:sp>
      <p:sp>
        <p:nvSpPr>
          <p:cNvPr id="6" name="Rounded Rectangle 5" descr="Point 1 : Listez les actifs du script."/>
          <p:cNvSpPr/>
          <p:nvPr/>
        </p:nvSpPr>
        <p:spPr>
          <a:xfrm>
            <a:off x="566928" y="2331720"/>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de section"/>
          <p:cNvSpPr/>
          <p:nvPr/>
        </p:nvSpPr>
        <p:spPr>
          <a:xfrm>
            <a:off x="566928" y="2331720"/>
            <a:ext cx="64008" cy="71323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Numéro d'étape 1"/>
          <p:cNvSpPr txBox="1"/>
          <p:nvPr/>
        </p:nvSpPr>
        <p:spPr>
          <a:xfrm>
            <a:off x="841247" y="2414016"/>
            <a:ext cx="822960" cy="548640"/>
          </a:xfrm>
          <a:prstGeom prst="rect">
            <a:avLst/>
          </a:prstGeom>
          <a:noFill/>
        </p:spPr>
        <p:txBody>
          <a:bodyPr wrap="square" lIns="0" rIns="0" tIns="0" bIns="0" anchor="ctr">
            <a:spAutoFit/>
          </a:bodyPr>
          <a:lstStyle/>
          <a:p>
            <a:pPr algn="l">
              <a:lnSpc>
                <a:spcPct val="112000"/>
              </a:lnSpc>
            </a:pPr>
            <a:r>
              <a:rPr sz="2400" b="1" i="0">
                <a:solidFill>
                  <a:srgbClr val="A78BFA"/>
                </a:solidFill>
                <a:latin typeface="Arial"/>
              </a:rPr>
              <a:t>01</a:t>
            </a:r>
          </a:p>
        </p:txBody>
      </p:sp>
      <p:sp>
        <p:nvSpPr>
          <p:cNvPr id="9" name="TextBox 8" descr="Texte du point 1 : Listez les actifs du script."/>
          <p:cNvSpPr txBox="1"/>
          <p:nvPr/>
        </p:nvSpPr>
        <p:spPr>
          <a:xfrm>
            <a:off x="1755648" y="2386584"/>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Listez les actifs du script.</a:t>
            </a:r>
          </a:p>
        </p:txBody>
      </p:sp>
      <p:sp>
        <p:nvSpPr>
          <p:cNvPr id="10" name="Rounded Rectangle 9" descr="Point 2 : Notez source, licence et usage prévu."/>
          <p:cNvSpPr/>
          <p:nvPr/>
        </p:nvSpPr>
        <p:spPr>
          <a:xfrm>
            <a:off x="566928" y="3172968"/>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de section"/>
          <p:cNvSpPr/>
          <p:nvPr/>
        </p:nvSpPr>
        <p:spPr>
          <a:xfrm>
            <a:off x="566928" y="3172968"/>
            <a:ext cx="64008" cy="71323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Numéro d'étape 2"/>
          <p:cNvSpPr txBox="1"/>
          <p:nvPr/>
        </p:nvSpPr>
        <p:spPr>
          <a:xfrm>
            <a:off x="841247" y="3255264"/>
            <a:ext cx="822960" cy="548640"/>
          </a:xfrm>
          <a:prstGeom prst="rect">
            <a:avLst/>
          </a:prstGeom>
          <a:noFill/>
        </p:spPr>
        <p:txBody>
          <a:bodyPr wrap="square" lIns="0" rIns="0" tIns="0" bIns="0" anchor="ctr">
            <a:spAutoFit/>
          </a:bodyPr>
          <a:lstStyle/>
          <a:p>
            <a:pPr algn="l">
              <a:lnSpc>
                <a:spcPct val="112000"/>
              </a:lnSpc>
            </a:pPr>
            <a:r>
              <a:rPr sz="2400" b="1" i="0">
                <a:solidFill>
                  <a:srgbClr val="A78BFA"/>
                </a:solidFill>
                <a:latin typeface="Arial"/>
              </a:rPr>
              <a:t>02</a:t>
            </a:r>
          </a:p>
        </p:txBody>
      </p:sp>
      <p:sp>
        <p:nvSpPr>
          <p:cNvPr id="13" name="TextBox 12" descr="Texte du point 2 : Notez source, licence et usage prévu."/>
          <p:cNvSpPr txBox="1"/>
          <p:nvPr/>
        </p:nvSpPr>
        <p:spPr>
          <a:xfrm>
            <a:off x="1755648" y="3227832"/>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Notez source, licence et usage prévu.</a:t>
            </a:r>
          </a:p>
        </p:txBody>
      </p:sp>
      <p:sp>
        <p:nvSpPr>
          <p:cNvPr id="14" name="Rounded Rectangle 13" descr="Point 3 : Choisissez une alternative si un droit manque."/>
          <p:cNvSpPr/>
          <p:nvPr/>
        </p:nvSpPr>
        <p:spPr>
          <a:xfrm>
            <a:off x="566928" y="4014215"/>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Repère décoratif de section"/>
          <p:cNvSpPr/>
          <p:nvPr/>
        </p:nvSpPr>
        <p:spPr>
          <a:xfrm>
            <a:off x="566928" y="4014215"/>
            <a:ext cx="64008" cy="71323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Numéro d'étape 3"/>
          <p:cNvSpPr txBox="1"/>
          <p:nvPr/>
        </p:nvSpPr>
        <p:spPr>
          <a:xfrm>
            <a:off x="841247" y="4096511"/>
            <a:ext cx="822960" cy="548640"/>
          </a:xfrm>
          <a:prstGeom prst="rect">
            <a:avLst/>
          </a:prstGeom>
          <a:noFill/>
        </p:spPr>
        <p:txBody>
          <a:bodyPr wrap="square" lIns="0" rIns="0" tIns="0" bIns="0" anchor="ctr">
            <a:spAutoFit/>
          </a:bodyPr>
          <a:lstStyle/>
          <a:p>
            <a:pPr algn="l">
              <a:lnSpc>
                <a:spcPct val="112000"/>
              </a:lnSpc>
            </a:pPr>
            <a:r>
              <a:rPr sz="2400" b="1" i="0">
                <a:solidFill>
                  <a:srgbClr val="A78BFA"/>
                </a:solidFill>
                <a:latin typeface="Arial"/>
              </a:rPr>
              <a:t>03</a:t>
            </a:r>
          </a:p>
        </p:txBody>
      </p:sp>
      <p:sp>
        <p:nvSpPr>
          <p:cNvPr id="17" name="TextBox 16" descr="Texte du point 3 : Choisissez une alternative si un droit manque."/>
          <p:cNvSpPr txBox="1"/>
          <p:nvPr/>
        </p:nvSpPr>
        <p:spPr>
          <a:xfrm>
            <a:off x="1755648" y="4069079"/>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Choisissez une alternative si un droit manque.</a:t>
            </a:r>
          </a:p>
        </p:txBody>
      </p:sp>
      <p:sp>
        <p:nvSpPr>
          <p:cNvPr id="18" name="Rounded Rectangle 17" descr="Point 4 : Relisez les sous-titres."/>
          <p:cNvSpPr/>
          <p:nvPr/>
        </p:nvSpPr>
        <p:spPr>
          <a:xfrm>
            <a:off x="566928" y="4855464"/>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descr="Repère décoratif de section"/>
          <p:cNvSpPr/>
          <p:nvPr/>
        </p:nvSpPr>
        <p:spPr>
          <a:xfrm>
            <a:off x="566928" y="4855464"/>
            <a:ext cx="64008" cy="71323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descr="Numéro d'étape 4"/>
          <p:cNvSpPr txBox="1"/>
          <p:nvPr/>
        </p:nvSpPr>
        <p:spPr>
          <a:xfrm>
            <a:off x="841247" y="4937760"/>
            <a:ext cx="822960" cy="548640"/>
          </a:xfrm>
          <a:prstGeom prst="rect">
            <a:avLst/>
          </a:prstGeom>
          <a:noFill/>
        </p:spPr>
        <p:txBody>
          <a:bodyPr wrap="square" lIns="0" rIns="0" tIns="0" bIns="0" anchor="ctr">
            <a:spAutoFit/>
          </a:bodyPr>
          <a:lstStyle/>
          <a:p>
            <a:pPr algn="l">
              <a:lnSpc>
                <a:spcPct val="112000"/>
              </a:lnSpc>
            </a:pPr>
            <a:r>
              <a:rPr sz="2400" b="1" i="0">
                <a:solidFill>
                  <a:srgbClr val="A78BFA"/>
                </a:solidFill>
                <a:latin typeface="Arial"/>
              </a:rPr>
              <a:t>04</a:t>
            </a:r>
          </a:p>
        </p:txBody>
      </p:sp>
      <p:sp>
        <p:nvSpPr>
          <p:cNvPr id="21" name="TextBox 20" descr="Texte du point 4 : Relisez les sous-titres."/>
          <p:cNvSpPr txBox="1"/>
          <p:nvPr/>
        </p:nvSpPr>
        <p:spPr>
          <a:xfrm>
            <a:off x="1755648" y="4910328"/>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Relisez les sous-titres.</a:t>
            </a:r>
          </a:p>
        </p:txBody>
      </p:sp>
      <p:sp>
        <p:nvSpPr>
          <p:cNvPr id="22" name="Rounded Rectangle 21" descr="Élément graphique décoratif, sans information propre"/>
          <p:cNvSpPr/>
          <p:nvPr/>
        </p:nvSpPr>
        <p:spPr>
          <a:xfrm>
            <a:off x="0" y="0"/>
            <a:ext cx="201168" cy="6858000"/>
          </a:xfrm>
          <a:prstGeom prst="round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descr="Référence de source affichée en pied de diapositive : Chapitre 16 — Images, voix off, sous-titres et vidéo"/>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 16 — Images, voix off, sous-titres et vidéo</a:t>
            </a:r>
          </a:p>
        </p:txBody>
      </p:sp>
      <p:sp>
        <p:nvSpPr>
          <p:cNvPr id="24" name="TextBox 23" descr="Numéro de diapositive 30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30 / 84  ·  2 min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Partie 04 · chapitre 17"/>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A78BFA"/>
                </a:solidFill>
                <a:latin typeface="Arial"/>
              </a:rPr>
              <a:t>PARTIE 04 · CHAPITRE 17</a:t>
            </a:r>
          </a:p>
        </p:txBody>
      </p:sp>
      <p:sp>
        <p:nvSpPr>
          <p:cNvPr id="4" name="TextBox 3" descr="Titre du chapitre : 17 · Le workflow en cinq étapes"/>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200" b="1" i="0">
                <a:solidFill>
                  <a:srgbClr val="F2F6FC"/>
                </a:solidFill>
                <a:latin typeface="Arial"/>
              </a:rPr>
              <a:t>17 · Le workflow en cinq étapes</a:t>
            </a:r>
          </a:p>
        </p:txBody>
      </p:sp>
      <p:sp>
        <p:nvSpPr>
          <p:cNvPr id="5" name="TextBox 4" descr="Objectif du chapitre : Tester une chaîne vidéo segmentée avant de produire en série."/>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550" b="1" i="0">
                <a:solidFill>
                  <a:srgbClr val="A78BFA"/>
                </a:solidFill>
                <a:latin typeface="Arial"/>
              </a:rPr>
              <a:t>Tester une chaîne vidéo segmentée avant de produire en série.</a:t>
            </a:r>
          </a:p>
        </p:txBody>
      </p:sp>
      <p:sp>
        <p:nvSpPr>
          <p:cNvPr id="6" name="Rounded Rectangle 5" descr="Point 1 : Attribuez un identifiant."/>
          <p:cNvSpPr/>
          <p:nvPr/>
        </p:nvSpPr>
        <p:spPr>
          <a:xfrm>
            <a:off x="566928" y="2212848"/>
            <a:ext cx="11064240" cy="59436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de section"/>
          <p:cNvSpPr/>
          <p:nvPr/>
        </p:nvSpPr>
        <p:spPr>
          <a:xfrm>
            <a:off x="566928" y="2212848"/>
            <a:ext cx="64008" cy="59436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Numéro d'étape 1"/>
          <p:cNvSpPr txBox="1"/>
          <p:nvPr/>
        </p:nvSpPr>
        <p:spPr>
          <a:xfrm>
            <a:off x="841247" y="2235708"/>
            <a:ext cx="822960" cy="548640"/>
          </a:xfrm>
          <a:prstGeom prst="rect">
            <a:avLst/>
          </a:prstGeom>
          <a:noFill/>
        </p:spPr>
        <p:txBody>
          <a:bodyPr wrap="square" lIns="0" rIns="0" tIns="0" bIns="0" anchor="ctr">
            <a:spAutoFit/>
          </a:bodyPr>
          <a:lstStyle/>
          <a:p>
            <a:pPr algn="l">
              <a:lnSpc>
                <a:spcPct val="112000"/>
              </a:lnSpc>
            </a:pPr>
            <a:r>
              <a:rPr sz="2400" b="1" i="0">
                <a:solidFill>
                  <a:srgbClr val="A78BFA"/>
                </a:solidFill>
                <a:latin typeface="Arial"/>
              </a:rPr>
              <a:t>01</a:t>
            </a:r>
          </a:p>
        </p:txBody>
      </p:sp>
      <p:sp>
        <p:nvSpPr>
          <p:cNvPr id="9" name="TextBox 8" descr="Texte du point 1 : Attribuez un identifiant."/>
          <p:cNvSpPr txBox="1"/>
          <p:nvPr/>
        </p:nvSpPr>
        <p:spPr>
          <a:xfrm>
            <a:off x="1755648" y="2267712"/>
            <a:ext cx="9646919" cy="484632"/>
          </a:xfrm>
          <a:prstGeom prst="rect">
            <a:avLst/>
          </a:prstGeom>
          <a:noFill/>
        </p:spPr>
        <p:txBody>
          <a:bodyPr wrap="square" lIns="0" rIns="0" tIns="0" bIns="0" anchor="ctr">
            <a:spAutoFit/>
          </a:bodyPr>
          <a:lstStyle/>
          <a:p>
            <a:pPr algn="l">
              <a:lnSpc>
                <a:spcPct val="112000"/>
              </a:lnSpc>
            </a:pPr>
            <a:r>
              <a:rPr sz="1550" b="0" i="0">
                <a:solidFill>
                  <a:srgbClr val="F2F6FC"/>
                </a:solidFill>
                <a:latin typeface="Arial"/>
              </a:rPr>
              <a:t>Attribuez un identifiant.</a:t>
            </a:r>
          </a:p>
        </p:txBody>
      </p:sp>
      <p:sp>
        <p:nvSpPr>
          <p:cNvPr id="10" name="Rounded Rectangle 9" descr="Point 2 : Produisez un segment pilote."/>
          <p:cNvSpPr/>
          <p:nvPr/>
        </p:nvSpPr>
        <p:spPr>
          <a:xfrm>
            <a:off x="566928" y="2916936"/>
            <a:ext cx="11064240" cy="59436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de section"/>
          <p:cNvSpPr/>
          <p:nvPr/>
        </p:nvSpPr>
        <p:spPr>
          <a:xfrm>
            <a:off x="566928" y="2916936"/>
            <a:ext cx="64008" cy="59436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Numéro d'étape 2"/>
          <p:cNvSpPr txBox="1"/>
          <p:nvPr/>
        </p:nvSpPr>
        <p:spPr>
          <a:xfrm>
            <a:off x="841247" y="2939796"/>
            <a:ext cx="822960" cy="548640"/>
          </a:xfrm>
          <a:prstGeom prst="rect">
            <a:avLst/>
          </a:prstGeom>
          <a:noFill/>
        </p:spPr>
        <p:txBody>
          <a:bodyPr wrap="square" lIns="0" rIns="0" tIns="0" bIns="0" anchor="ctr">
            <a:spAutoFit/>
          </a:bodyPr>
          <a:lstStyle/>
          <a:p>
            <a:pPr algn="l">
              <a:lnSpc>
                <a:spcPct val="112000"/>
              </a:lnSpc>
            </a:pPr>
            <a:r>
              <a:rPr sz="2400" b="1" i="0">
                <a:solidFill>
                  <a:srgbClr val="A78BFA"/>
                </a:solidFill>
                <a:latin typeface="Arial"/>
              </a:rPr>
              <a:t>02</a:t>
            </a:r>
          </a:p>
        </p:txBody>
      </p:sp>
      <p:sp>
        <p:nvSpPr>
          <p:cNvPr id="13" name="TextBox 12" descr="Texte du point 2 : Produisez un segment pilote."/>
          <p:cNvSpPr txBox="1"/>
          <p:nvPr/>
        </p:nvSpPr>
        <p:spPr>
          <a:xfrm>
            <a:off x="1755648" y="2971800"/>
            <a:ext cx="9646919" cy="484632"/>
          </a:xfrm>
          <a:prstGeom prst="rect">
            <a:avLst/>
          </a:prstGeom>
          <a:noFill/>
        </p:spPr>
        <p:txBody>
          <a:bodyPr wrap="square" lIns="0" rIns="0" tIns="0" bIns="0" anchor="ctr">
            <a:spAutoFit/>
          </a:bodyPr>
          <a:lstStyle/>
          <a:p>
            <a:pPr algn="l">
              <a:lnSpc>
                <a:spcPct val="112000"/>
              </a:lnSpc>
            </a:pPr>
            <a:r>
              <a:rPr sz="1550" b="0" i="0">
                <a:solidFill>
                  <a:srgbClr val="F2F6FC"/>
                </a:solidFill>
                <a:latin typeface="Arial"/>
              </a:rPr>
              <a:t>Produisez un segment pilote.</a:t>
            </a:r>
          </a:p>
        </p:txBody>
      </p:sp>
      <p:sp>
        <p:nvSpPr>
          <p:cNvPr id="14" name="Rounded Rectangle 13" descr="Point 3 : Écoutez et ouvrez chaque sortie."/>
          <p:cNvSpPr/>
          <p:nvPr/>
        </p:nvSpPr>
        <p:spPr>
          <a:xfrm>
            <a:off x="566928" y="3621024"/>
            <a:ext cx="11064240" cy="59436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Repère décoratif de section"/>
          <p:cNvSpPr/>
          <p:nvPr/>
        </p:nvSpPr>
        <p:spPr>
          <a:xfrm>
            <a:off x="566928" y="3621024"/>
            <a:ext cx="64008" cy="59436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Numéro d'étape 3"/>
          <p:cNvSpPr txBox="1"/>
          <p:nvPr/>
        </p:nvSpPr>
        <p:spPr>
          <a:xfrm>
            <a:off x="841247" y="3643884"/>
            <a:ext cx="822960" cy="548640"/>
          </a:xfrm>
          <a:prstGeom prst="rect">
            <a:avLst/>
          </a:prstGeom>
          <a:noFill/>
        </p:spPr>
        <p:txBody>
          <a:bodyPr wrap="square" lIns="0" rIns="0" tIns="0" bIns="0" anchor="ctr">
            <a:spAutoFit/>
          </a:bodyPr>
          <a:lstStyle/>
          <a:p>
            <a:pPr algn="l">
              <a:lnSpc>
                <a:spcPct val="112000"/>
              </a:lnSpc>
            </a:pPr>
            <a:r>
              <a:rPr sz="2400" b="1" i="0">
                <a:solidFill>
                  <a:srgbClr val="A78BFA"/>
                </a:solidFill>
                <a:latin typeface="Arial"/>
              </a:rPr>
              <a:t>03</a:t>
            </a:r>
          </a:p>
        </p:txBody>
      </p:sp>
      <p:sp>
        <p:nvSpPr>
          <p:cNvPr id="17" name="TextBox 16" descr="Texte du point 3 : Écoutez et ouvrez chaque sortie."/>
          <p:cNvSpPr txBox="1"/>
          <p:nvPr/>
        </p:nvSpPr>
        <p:spPr>
          <a:xfrm>
            <a:off x="1755648" y="3675887"/>
            <a:ext cx="9646919" cy="484632"/>
          </a:xfrm>
          <a:prstGeom prst="rect">
            <a:avLst/>
          </a:prstGeom>
          <a:noFill/>
        </p:spPr>
        <p:txBody>
          <a:bodyPr wrap="square" lIns="0" rIns="0" tIns="0" bIns="0" anchor="ctr">
            <a:spAutoFit/>
          </a:bodyPr>
          <a:lstStyle/>
          <a:p>
            <a:pPr algn="l">
              <a:lnSpc>
                <a:spcPct val="112000"/>
              </a:lnSpc>
            </a:pPr>
            <a:r>
              <a:rPr sz="1550" b="0" i="0">
                <a:solidFill>
                  <a:srgbClr val="F2F6FC"/>
                </a:solidFill>
                <a:latin typeface="Arial"/>
              </a:rPr>
              <a:t>Écoutez et ouvrez chaque sortie.</a:t>
            </a:r>
          </a:p>
        </p:txBody>
      </p:sp>
      <p:sp>
        <p:nvSpPr>
          <p:cNvPr id="18" name="Rounded Rectangle 17" descr="Point 4 : Vérifiez les droits et le fond."/>
          <p:cNvSpPr/>
          <p:nvPr/>
        </p:nvSpPr>
        <p:spPr>
          <a:xfrm>
            <a:off x="566928" y="4325112"/>
            <a:ext cx="11064240" cy="59436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descr="Repère décoratif de section"/>
          <p:cNvSpPr/>
          <p:nvPr/>
        </p:nvSpPr>
        <p:spPr>
          <a:xfrm>
            <a:off x="566928" y="4325112"/>
            <a:ext cx="64008" cy="59436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descr="Numéro d'étape 4"/>
          <p:cNvSpPr txBox="1"/>
          <p:nvPr/>
        </p:nvSpPr>
        <p:spPr>
          <a:xfrm>
            <a:off x="841247" y="4347972"/>
            <a:ext cx="822960" cy="548640"/>
          </a:xfrm>
          <a:prstGeom prst="rect">
            <a:avLst/>
          </a:prstGeom>
          <a:noFill/>
        </p:spPr>
        <p:txBody>
          <a:bodyPr wrap="square" lIns="0" rIns="0" tIns="0" bIns="0" anchor="ctr">
            <a:spAutoFit/>
          </a:bodyPr>
          <a:lstStyle/>
          <a:p>
            <a:pPr algn="l">
              <a:lnSpc>
                <a:spcPct val="112000"/>
              </a:lnSpc>
            </a:pPr>
            <a:r>
              <a:rPr sz="2400" b="1" i="0">
                <a:solidFill>
                  <a:srgbClr val="A78BFA"/>
                </a:solidFill>
                <a:latin typeface="Arial"/>
              </a:rPr>
              <a:t>04</a:t>
            </a:r>
          </a:p>
        </p:txBody>
      </p:sp>
      <p:sp>
        <p:nvSpPr>
          <p:cNvPr id="21" name="TextBox 20" descr="Texte du point 4 : Vérifiez les droits et le fond."/>
          <p:cNvSpPr txBox="1"/>
          <p:nvPr/>
        </p:nvSpPr>
        <p:spPr>
          <a:xfrm>
            <a:off x="1755648" y="4379976"/>
            <a:ext cx="9646919" cy="484632"/>
          </a:xfrm>
          <a:prstGeom prst="rect">
            <a:avLst/>
          </a:prstGeom>
          <a:noFill/>
        </p:spPr>
        <p:txBody>
          <a:bodyPr wrap="square" lIns="0" rIns="0" tIns="0" bIns="0" anchor="ctr">
            <a:spAutoFit/>
          </a:bodyPr>
          <a:lstStyle/>
          <a:p>
            <a:pPr algn="l">
              <a:lnSpc>
                <a:spcPct val="112000"/>
              </a:lnSpc>
            </a:pPr>
            <a:r>
              <a:rPr sz="1550" b="0" i="0">
                <a:solidFill>
                  <a:srgbClr val="F2F6FC"/>
                </a:solidFill>
                <a:latin typeface="Arial"/>
              </a:rPr>
              <a:t>Vérifiez les droits et le fond.</a:t>
            </a:r>
          </a:p>
        </p:txBody>
      </p:sp>
      <p:sp>
        <p:nvSpPr>
          <p:cNvPr id="22" name="Rounded Rectangle 21" descr="Point 5 : Corrigez puis seulement répétez."/>
          <p:cNvSpPr/>
          <p:nvPr/>
        </p:nvSpPr>
        <p:spPr>
          <a:xfrm>
            <a:off x="566928" y="5029200"/>
            <a:ext cx="11064240" cy="59436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descr="Repère décoratif de section"/>
          <p:cNvSpPr/>
          <p:nvPr/>
        </p:nvSpPr>
        <p:spPr>
          <a:xfrm>
            <a:off x="566928" y="5029200"/>
            <a:ext cx="64008" cy="59436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descr="Numéro d'étape 5"/>
          <p:cNvSpPr txBox="1"/>
          <p:nvPr/>
        </p:nvSpPr>
        <p:spPr>
          <a:xfrm>
            <a:off x="841247" y="5052060"/>
            <a:ext cx="822960" cy="548640"/>
          </a:xfrm>
          <a:prstGeom prst="rect">
            <a:avLst/>
          </a:prstGeom>
          <a:noFill/>
        </p:spPr>
        <p:txBody>
          <a:bodyPr wrap="square" lIns="0" rIns="0" tIns="0" bIns="0" anchor="ctr">
            <a:spAutoFit/>
          </a:bodyPr>
          <a:lstStyle/>
          <a:p>
            <a:pPr algn="l">
              <a:lnSpc>
                <a:spcPct val="112000"/>
              </a:lnSpc>
            </a:pPr>
            <a:r>
              <a:rPr sz="2400" b="1" i="0">
                <a:solidFill>
                  <a:srgbClr val="A78BFA"/>
                </a:solidFill>
                <a:latin typeface="Arial"/>
              </a:rPr>
              <a:t>05</a:t>
            </a:r>
          </a:p>
        </p:txBody>
      </p:sp>
      <p:sp>
        <p:nvSpPr>
          <p:cNvPr id="25" name="TextBox 24" descr="Texte du point 5 : Corrigez puis seulement répétez."/>
          <p:cNvSpPr txBox="1"/>
          <p:nvPr/>
        </p:nvSpPr>
        <p:spPr>
          <a:xfrm>
            <a:off x="1755648" y="5084064"/>
            <a:ext cx="9646919" cy="484632"/>
          </a:xfrm>
          <a:prstGeom prst="rect">
            <a:avLst/>
          </a:prstGeom>
          <a:noFill/>
        </p:spPr>
        <p:txBody>
          <a:bodyPr wrap="square" lIns="0" rIns="0" tIns="0" bIns="0" anchor="ctr">
            <a:spAutoFit/>
          </a:bodyPr>
          <a:lstStyle/>
          <a:p>
            <a:pPr algn="l">
              <a:lnSpc>
                <a:spcPct val="112000"/>
              </a:lnSpc>
            </a:pPr>
            <a:r>
              <a:rPr sz="1550" b="0" i="0">
                <a:solidFill>
                  <a:srgbClr val="F2F6FC"/>
                </a:solidFill>
                <a:latin typeface="Arial"/>
              </a:rPr>
              <a:t>Corrigez puis seulement répétez.</a:t>
            </a:r>
          </a:p>
        </p:txBody>
      </p:sp>
      <p:sp>
        <p:nvSpPr>
          <p:cNvPr id="26" name="Rounded Rectangle 25" descr="Élément graphique décoratif, sans information propre"/>
          <p:cNvSpPr/>
          <p:nvPr/>
        </p:nvSpPr>
        <p:spPr>
          <a:xfrm>
            <a:off x="0" y="0"/>
            <a:ext cx="201168" cy="6858000"/>
          </a:xfrm>
          <a:prstGeom prst="round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descr="Référence de source affichée en pied de diapositive : Chapitre 17 — Le workflow en cinq étapes"/>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 17 — Le workflow en cinq étapes</a:t>
            </a:r>
          </a:p>
        </p:txBody>
      </p:sp>
      <p:sp>
        <p:nvSpPr>
          <p:cNvPr id="28" name="TextBox 27" descr="Numéro de diapositive 31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31 / 84  ·  2 min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Atelier · partie 04 · chapitre 17"/>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A78BFA"/>
                </a:solidFill>
                <a:latin typeface="Arial"/>
              </a:rPr>
              <a:t>ATELIER · PARTIE 04 · CHAPITRE 17</a:t>
            </a:r>
          </a:p>
        </p:txBody>
      </p:sp>
      <p:sp>
        <p:nvSpPr>
          <p:cNvPr id="4" name="TextBox 3" descr="Titre de l'atelier : Atelier · Le workflow en cinq étapes"/>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400" b="1" i="0">
                <a:solidFill>
                  <a:srgbClr val="F2F6FC"/>
                </a:solidFill>
                <a:latin typeface="Arial"/>
              </a:rPr>
              <a:t>Atelier · Le workflow en cinq étapes</a:t>
            </a:r>
          </a:p>
        </p:txBody>
      </p:sp>
      <p:sp>
        <p:nvSpPr>
          <p:cNvPr id="5" name="TextBox 4" descr="Consigne cadre : Une décision à documenter, pas un résultat à promettre"/>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600" b="1" i="0">
                <a:solidFill>
                  <a:srgbClr val="A78BFA"/>
                </a:solidFill>
                <a:latin typeface="Arial"/>
              </a:rPr>
              <a:t>Une décision à documenter, pas un résultat à promettre</a:t>
            </a:r>
          </a:p>
        </p:txBody>
      </p:sp>
      <p:sp>
        <p:nvSpPr>
          <p:cNvPr id="6" name="Rounded Rectangle 5" descr="Consigne d'atelier : Dessinez SEGMENT_001 ; listez script, voix, visuel, contrôle et fichier attendu."/>
          <p:cNvSpPr/>
          <p:nvPr/>
        </p:nvSpPr>
        <p:spPr>
          <a:xfrm>
            <a:off x="566928" y="2377440"/>
            <a:ext cx="11064240" cy="219456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descr="Consigne d'atelier : Dessinez SEGMENT_001 ; listez script, voix, visuel, contrôle et fichier attendu."/>
          <p:cNvSpPr txBox="1"/>
          <p:nvPr/>
        </p:nvSpPr>
        <p:spPr>
          <a:xfrm>
            <a:off x="960120" y="2651760"/>
            <a:ext cx="10332720" cy="1737360"/>
          </a:xfrm>
          <a:prstGeom prst="rect">
            <a:avLst/>
          </a:prstGeom>
          <a:noFill/>
        </p:spPr>
        <p:txBody>
          <a:bodyPr wrap="square" lIns="0" rIns="0" tIns="0" bIns="0" anchor="ctr">
            <a:spAutoFit/>
          </a:bodyPr>
          <a:lstStyle/>
          <a:p>
            <a:pPr algn="l">
              <a:lnSpc>
                <a:spcPct val="112000"/>
              </a:lnSpc>
            </a:pPr>
            <a:r>
              <a:rPr sz="2400" b="1" i="0">
                <a:solidFill>
                  <a:srgbClr val="F2F6FC"/>
                </a:solidFill>
                <a:latin typeface="Arial"/>
              </a:rPr>
              <a:t>Dessinez SEGMENT_001 ; listez script, voix, visuel, contrôle et fichier attendu.</a:t>
            </a:r>
          </a:p>
        </p:txBody>
      </p:sp>
      <p:sp>
        <p:nvSpPr>
          <p:cNvPr id="8" name="Rounded Rectangle 7" descr="Bandeau d'information : Aucun exemple du livre ne doit être présenté comme un témoignage réel : il est annoncé comme simulation pédagogique."/>
          <p:cNvSpPr/>
          <p:nvPr/>
        </p:nvSpPr>
        <p:spPr>
          <a:xfrm>
            <a:off x="566928" y="5623560"/>
            <a:ext cx="11064240" cy="658368"/>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descr="Texte du bandeau : Aucun exemple du livre ne doit être présenté comme un témoignage réel : il est annoncé comme simulation pédagogique."/>
          <p:cNvSpPr txBox="1"/>
          <p:nvPr/>
        </p:nvSpPr>
        <p:spPr>
          <a:xfrm>
            <a:off x="822960" y="5669280"/>
            <a:ext cx="10607040" cy="566928"/>
          </a:xfrm>
          <a:prstGeom prst="rect">
            <a:avLst/>
          </a:prstGeom>
          <a:noFill/>
        </p:spPr>
        <p:txBody>
          <a:bodyPr wrap="square" lIns="0" rIns="0" tIns="0" bIns="0" anchor="ctr">
            <a:spAutoFit/>
          </a:bodyPr>
          <a:lstStyle/>
          <a:p>
            <a:pPr algn="l">
              <a:lnSpc>
                <a:spcPct val="112000"/>
              </a:lnSpc>
            </a:pPr>
            <a:r>
              <a:rPr sz="1550" b="1" i="0">
                <a:solidFill>
                  <a:srgbClr val="A78BFA"/>
                </a:solidFill>
                <a:latin typeface="Arial"/>
              </a:rPr>
              <a:t>Aucun exemple du livre ne doit être présenté comme un témoignage réel : il est annoncé comme simulation pédagogique.</a:t>
            </a:r>
          </a:p>
        </p:txBody>
      </p:sp>
      <p:sp>
        <p:nvSpPr>
          <p:cNvPr id="10" name="Rounded Rectangle 9" descr="Élément graphique décoratif, sans information propre"/>
          <p:cNvSpPr/>
          <p:nvPr/>
        </p:nvSpPr>
        <p:spPr>
          <a:xfrm>
            <a:off x="0" y="0"/>
            <a:ext cx="201168" cy="6858000"/>
          </a:xfrm>
          <a:prstGeom prst="round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descr="Référence de source affichée en pied de diapositive : Chapitre 17 (exemple/exercice adapté)"/>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 17 (exemple/exercice adapté)</a:t>
            </a:r>
          </a:p>
        </p:txBody>
      </p:sp>
      <p:sp>
        <p:nvSpPr>
          <p:cNvPr id="12" name="TextBox 11" descr="Numéro de diapositive 32 sur 84, durée prévue 4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32 / 84  ·  4 min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Partie 04 · chapitre 18"/>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A78BFA"/>
                </a:solidFill>
                <a:latin typeface="Arial"/>
              </a:rPr>
              <a:t>PARTIE 04 · CHAPITRE 18</a:t>
            </a:r>
          </a:p>
        </p:txBody>
      </p:sp>
      <p:sp>
        <p:nvSpPr>
          <p:cNvPr id="4" name="TextBox 3" descr="Titre du chapitre : 18 · CapCut et outils complémentaires"/>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200" b="1" i="0">
                <a:solidFill>
                  <a:srgbClr val="F2F6FC"/>
                </a:solidFill>
                <a:latin typeface="Arial"/>
              </a:rPr>
              <a:t>18 · CapCut et outils complémentaires</a:t>
            </a:r>
          </a:p>
        </p:txBody>
      </p:sp>
      <p:sp>
        <p:nvSpPr>
          <p:cNvPr id="5" name="TextBox 4" descr="Objectif du chapitre : Choisir les outils pour une tâche, non pour leur notoriété."/>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550" b="1" i="0">
                <a:solidFill>
                  <a:srgbClr val="A78BFA"/>
                </a:solidFill>
                <a:latin typeface="Arial"/>
              </a:rPr>
              <a:t>Choisir les outils pour une tâche, non pour leur notoriété.</a:t>
            </a:r>
          </a:p>
        </p:txBody>
      </p:sp>
      <p:sp>
        <p:nvSpPr>
          <p:cNvPr id="6" name="Rounded Rectangle 5" descr="Point 1 : Définissez la tâche à améliorer."/>
          <p:cNvSpPr/>
          <p:nvPr/>
        </p:nvSpPr>
        <p:spPr>
          <a:xfrm>
            <a:off x="566928" y="2331720"/>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de section"/>
          <p:cNvSpPr/>
          <p:nvPr/>
        </p:nvSpPr>
        <p:spPr>
          <a:xfrm>
            <a:off x="566928" y="2331720"/>
            <a:ext cx="64008" cy="71323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Numéro d'étape 1"/>
          <p:cNvSpPr txBox="1"/>
          <p:nvPr/>
        </p:nvSpPr>
        <p:spPr>
          <a:xfrm>
            <a:off x="841247" y="2414016"/>
            <a:ext cx="822960" cy="548640"/>
          </a:xfrm>
          <a:prstGeom prst="rect">
            <a:avLst/>
          </a:prstGeom>
          <a:noFill/>
        </p:spPr>
        <p:txBody>
          <a:bodyPr wrap="square" lIns="0" rIns="0" tIns="0" bIns="0" anchor="ctr">
            <a:spAutoFit/>
          </a:bodyPr>
          <a:lstStyle/>
          <a:p>
            <a:pPr algn="l">
              <a:lnSpc>
                <a:spcPct val="112000"/>
              </a:lnSpc>
            </a:pPr>
            <a:r>
              <a:rPr sz="2400" b="1" i="0">
                <a:solidFill>
                  <a:srgbClr val="A78BFA"/>
                </a:solidFill>
                <a:latin typeface="Arial"/>
              </a:rPr>
              <a:t>01</a:t>
            </a:r>
          </a:p>
        </p:txBody>
      </p:sp>
      <p:sp>
        <p:nvSpPr>
          <p:cNvPr id="9" name="TextBox 8" descr="Texte du point 1 : Définissez la tâche à améliorer."/>
          <p:cNvSpPr txBox="1"/>
          <p:nvPr/>
        </p:nvSpPr>
        <p:spPr>
          <a:xfrm>
            <a:off x="1755648" y="2386584"/>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Définissez la tâche à améliorer.</a:t>
            </a:r>
          </a:p>
        </p:txBody>
      </p:sp>
      <p:sp>
        <p:nvSpPr>
          <p:cNvPr id="10" name="Rounded Rectangle 9" descr="Point 2 : Ouvrez l’aide et les licences officielles."/>
          <p:cNvSpPr/>
          <p:nvPr/>
        </p:nvSpPr>
        <p:spPr>
          <a:xfrm>
            <a:off x="566928" y="3172968"/>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de section"/>
          <p:cNvSpPr/>
          <p:nvPr/>
        </p:nvSpPr>
        <p:spPr>
          <a:xfrm>
            <a:off x="566928" y="3172968"/>
            <a:ext cx="64008" cy="71323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Numéro d'étape 2"/>
          <p:cNvSpPr txBox="1"/>
          <p:nvPr/>
        </p:nvSpPr>
        <p:spPr>
          <a:xfrm>
            <a:off x="841247" y="3255264"/>
            <a:ext cx="822960" cy="548640"/>
          </a:xfrm>
          <a:prstGeom prst="rect">
            <a:avLst/>
          </a:prstGeom>
          <a:noFill/>
        </p:spPr>
        <p:txBody>
          <a:bodyPr wrap="square" lIns="0" rIns="0" tIns="0" bIns="0" anchor="ctr">
            <a:spAutoFit/>
          </a:bodyPr>
          <a:lstStyle/>
          <a:p>
            <a:pPr algn="l">
              <a:lnSpc>
                <a:spcPct val="112000"/>
              </a:lnSpc>
            </a:pPr>
            <a:r>
              <a:rPr sz="2400" b="1" i="0">
                <a:solidFill>
                  <a:srgbClr val="A78BFA"/>
                </a:solidFill>
                <a:latin typeface="Arial"/>
              </a:rPr>
              <a:t>02</a:t>
            </a:r>
          </a:p>
        </p:txBody>
      </p:sp>
      <p:sp>
        <p:nvSpPr>
          <p:cNvPr id="13" name="TextBox 12" descr="Texte du point 2 : Ouvrez l’aide et les licences officielles."/>
          <p:cNvSpPr txBox="1"/>
          <p:nvPr/>
        </p:nvSpPr>
        <p:spPr>
          <a:xfrm>
            <a:off x="1755648" y="3227832"/>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Ouvrez l’aide et les licences officielles.</a:t>
            </a:r>
          </a:p>
        </p:txBody>
      </p:sp>
      <p:sp>
        <p:nvSpPr>
          <p:cNvPr id="14" name="Rounded Rectangle 13" descr="Point 3 : Testez sur trente secondes sans données sensibles."/>
          <p:cNvSpPr/>
          <p:nvPr/>
        </p:nvSpPr>
        <p:spPr>
          <a:xfrm>
            <a:off x="566928" y="4014215"/>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Repère décoratif de section"/>
          <p:cNvSpPr/>
          <p:nvPr/>
        </p:nvSpPr>
        <p:spPr>
          <a:xfrm>
            <a:off x="566928" y="4014215"/>
            <a:ext cx="64008" cy="71323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Numéro d'étape 3"/>
          <p:cNvSpPr txBox="1"/>
          <p:nvPr/>
        </p:nvSpPr>
        <p:spPr>
          <a:xfrm>
            <a:off x="841247" y="4096511"/>
            <a:ext cx="822960" cy="548640"/>
          </a:xfrm>
          <a:prstGeom prst="rect">
            <a:avLst/>
          </a:prstGeom>
          <a:noFill/>
        </p:spPr>
        <p:txBody>
          <a:bodyPr wrap="square" lIns="0" rIns="0" tIns="0" bIns="0" anchor="ctr">
            <a:spAutoFit/>
          </a:bodyPr>
          <a:lstStyle/>
          <a:p>
            <a:pPr algn="l">
              <a:lnSpc>
                <a:spcPct val="112000"/>
              </a:lnSpc>
            </a:pPr>
            <a:r>
              <a:rPr sz="2400" b="1" i="0">
                <a:solidFill>
                  <a:srgbClr val="A78BFA"/>
                </a:solidFill>
                <a:latin typeface="Arial"/>
              </a:rPr>
              <a:t>03</a:t>
            </a:r>
          </a:p>
        </p:txBody>
      </p:sp>
      <p:sp>
        <p:nvSpPr>
          <p:cNvPr id="17" name="TextBox 16" descr="Texte du point 3 : Testez sur trente secondes sans données sensibles."/>
          <p:cNvSpPr txBox="1"/>
          <p:nvPr/>
        </p:nvSpPr>
        <p:spPr>
          <a:xfrm>
            <a:off x="1755648" y="4069079"/>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Testez sur trente secondes sans données sensibles.</a:t>
            </a:r>
          </a:p>
        </p:txBody>
      </p:sp>
      <p:sp>
        <p:nvSpPr>
          <p:cNvPr id="18" name="Rounded Rectangle 17" descr="Point 4 : Comparez export, coût et corrections."/>
          <p:cNvSpPr/>
          <p:nvPr/>
        </p:nvSpPr>
        <p:spPr>
          <a:xfrm>
            <a:off x="566928" y="4855464"/>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descr="Repère décoratif de section"/>
          <p:cNvSpPr/>
          <p:nvPr/>
        </p:nvSpPr>
        <p:spPr>
          <a:xfrm>
            <a:off x="566928" y="4855464"/>
            <a:ext cx="64008" cy="71323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descr="Numéro d'étape 4"/>
          <p:cNvSpPr txBox="1"/>
          <p:nvPr/>
        </p:nvSpPr>
        <p:spPr>
          <a:xfrm>
            <a:off x="841247" y="4937760"/>
            <a:ext cx="822960" cy="548640"/>
          </a:xfrm>
          <a:prstGeom prst="rect">
            <a:avLst/>
          </a:prstGeom>
          <a:noFill/>
        </p:spPr>
        <p:txBody>
          <a:bodyPr wrap="square" lIns="0" rIns="0" tIns="0" bIns="0" anchor="ctr">
            <a:spAutoFit/>
          </a:bodyPr>
          <a:lstStyle/>
          <a:p>
            <a:pPr algn="l">
              <a:lnSpc>
                <a:spcPct val="112000"/>
              </a:lnSpc>
            </a:pPr>
            <a:r>
              <a:rPr sz="2400" b="1" i="0">
                <a:solidFill>
                  <a:srgbClr val="A78BFA"/>
                </a:solidFill>
                <a:latin typeface="Arial"/>
              </a:rPr>
              <a:t>04</a:t>
            </a:r>
          </a:p>
        </p:txBody>
      </p:sp>
      <p:sp>
        <p:nvSpPr>
          <p:cNvPr id="21" name="TextBox 20" descr="Texte du point 4 : Comparez export, coût et corrections."/>
          <p:cNvSpPr txBox="1"/>
          <p:nvPr/>
        </p:nvSpPr>
        <p:spPr>
          <a:xfrm>
            <a:off x="1755648" y="4910328"/>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Comparez export, coût et corrections.</a:t>
            </a:r>
          </a:p>
        </p:txBody>
      </p:sp>
      <p:sp>
        <p:nvSpPr>
          <p:cNvPr id="22" name="Rounded Rectangle 21" descr="Élément graphique décoratif, sans information propre"/>
          <p:cNvSpPr/>
          <p:nvPr/>
        </p:nvSpPr>
        <p:spPr>
          <a:xfrm>
            <a:off x="0" y="0"/>
            <a:ext cx="201168" cy="6858000"/>
          </a:xfrm>
          <a:prstGeom prst="round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descr="Référence de source affichée en pied de diapositive : Chapitre 18 — CapCut et outils complémentaires"/>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 18 — CapCut et outils complémentaires</a:t>
            </a:r>
          </a:p>
        </p:txBody>
      </p:sp>
      <p:sp>
        <p:nvSpPr>
          <p:cNvPr id="24" name="TextBox 23" descr="Numéro de diapositive 33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33 / 84  ·  2 min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Partie 04 · chapitre 19"/>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A78BFA"/>
                </a:solidFill>
                <a:latin typeface="Arial"/>
              </a:rPr>
              <a:t>PARTIE 04 · CHAPITRE 19</a:t>
            </a:r>
          </a:p>
        </p:txBody>
      </p:sp>
      <p:sp>
        <p:nvSpPr>
          <p:cNvPr id="4" name="TextBox 3" descr="Titre du chapitre : 19 · Organisation des fichiers et production en série"/>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050" b="1" i="0">
                <a:solidFill>
                  <a:srgbClr val="F2F6FC"/>
                </a:solidFill>
                <a:latin typeface="Arial"/>
              </a:rPr>
              <a:t>19 · Organisation des fichiers et production en série</a:t>
            </a:r>
          </a:p>
        </p:txBody>
      </p:sp>
      <p:sp>
        <p:nvSpPr>
          <p:cNvPr id="5" name="TextBox 4" descr="Objectif du chapitre : Retrouver scripts, sources, médias, exports et versions."/>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550" b="1" i="0">
                <a:solidFill>
                  <a:srgbClr val="A78BFA"/>
                </a:solidFill>
                <a:latin typeface="Arial"/>
              </a:rPr>
              <a:t>Retrouver scripts, sources, médias, exports et versions.</a:t>
            </a:r>
          </a:p>
        </p:txBody>
      </p:sp>
      <p:sp>
        <p:nvSpPr>
          <p:cNvPr id="6" name="Rounded Rectangle 5" descr="Point 1 : Fixez un modèle de nom."/>
          <p:cNvSpPr/>
          <p:nvPr/>
        </p:nvSpPr>
        <p:spPr>
          <a:xfrm>
            <a:off x="566928" y="2331720"/>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de section"/>
          <p:cNvSpPr/>
          <p:nvPr/>
        </p:nvSpPr>
        <p:spPr>
          <a:xfrm>
            <a:off x="566928" y="2331720"/>
            <a:ext cx="64008" cy="71323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Numéro d'étape 1"/>
          <p:cNvSpPr txBox="1"/>
          <p:nvPr/>
        </p:nvSpPr>
        <p:spPr>
          <a:xfrm>
            <a:off x="841247" y="2414016"/>
            <a:ext cx="822960" cy="548640"/>
          </a:xfrm>
          <a:prstGeom prst="rect">
            <a:avLst/>
          </a:prstGeom>
          <a:noFill/>
        </p:spPr>
        <p:txBody>
          <a:bodyPr wrap="square" lIns="0" rIns="0" tIns="0" bIns="0" anchor="ctr">
            <a:spAutoFit/>
          </a:bodyPr>
          <a:lstStyle/>
          <a:p>
            <a:pPr algn="l">
              <a:lnSpc>
                <a:spcPct val="112000"/>
              </a:lnSpc>
            </a:pPr>
            <a:r>
              <a:rPr sz="2400" b="1" i="0">
                <a:solidFill>
                  <a:srgbClr val="A78BFA"/>
                </a:solidFill>
                <a:latin typeface="Arial"/>
              </a:rPr>
              <a:t>01</a:t>
            </a:r>
          </a:p>
        </p:txBody>
      </p:sp>
      <p:sp>
        <p:nvSpPr>
          <p:cNvPr id="9" name="TextBox 8" descr="Texte du point 1 : Fixez un modèle de nom."/>
          <p:cNvSpPr txBox="1"/>
          <p:nvPr/>
        </p:nvSpPr>
        <p:spPr>
          <a:xfrm>
            <a:off x="1755648" y="2386584"/>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Fixez un modèle de nom.</a:t>
            </a:r>
          </a:p>
        </p:txBody>
      </p:sp>
      <p:sp>
        <p:nvSpPr>
          <p:cNvPr id="10" name="Rounded Rectangle 9" descr="Point 2 : Créez les dossiers utiles."/>
          <p:cNvSpPr/>
          <p:nvPr/>
        </p:nvSpPr>
        <p:spPr>
          <a:xfrm>
            <a:off x="566928" y="3172968"/>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de section"/>
          <p:cNvSpPr/>
          <p:nvPr/>
        </p:nvSpPr>
        <p:spPr>
          <a:xfrm>
            <a:off x="566928" y="3172968"/>
            <a:ext cx="64008" cy="71323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Numéro d'étape 2"/>
          <p:cNvSpPr txBox="1"/>
          <p:nvPr/>
        </p:nvSpPr>
        <p:spPr>
          <a:xfrm>
            <a:off x="841247" y="3255264"/>
            <a:ext cx="822960" cy="548640"/>
          </a:xfrm>
          <a:prstGeom prst="rect">
            <a:avLst/>
          </a:prstGeom>
          <a:noFill/>
        </p:spPr>
        <p:txBody>
          <a:bodyPr wrap="square" lIns="0" rIns="0" tIns="0" bIns="0" anchor="ctr">
            <a:spAutoFit/>
          </a:bodyPr>
          <a:lstStyle/>
          <a:p>
            <a:pPr algn="l">
              <a:lnSpc>
                <a:spcPct val="112000"/>
              </a:lnSpc>
            </a:pPr>
            <a:r>
              <a:rPr sz="2400" b="1" i="0">
                <a:solidFill>
                  <a:srgbClr val="A78BFA"/>
                </a:solidFill>
                <a:latin typeface="Arial"/>
              </a:rPr>
              <a:t>02</a:t>
            </a:r>
          </a:p>
        </p:txBody>
      </p:sp>
      <p:sp>
        <p:nvSpPr>
          <p:cNvPr id="13" name="TextBox 12" descr="Texte du point 2 : Créez les dossiers utiles."/>
          <p:cNvSpPr txBox="1"/>
          <p:nvPr/>
        </p:nvSpPr>
        <p:spPr>
          <a:xfrm>
            <a:off x="1755648" y="3227832"/>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Créez les dossiers utiles.</a:t>
            </a:r>
          </a:p>
        </p:txBody>
      </p:sp>
      <p:sp>
        <p:nvSpPr>
          <p:cNvPr id="14" name="Rounded Rectangle 13" descr="Point 3 : Ajoutez registres de sources et droits."/>
          <p:cNvSpPr/>
          <p:nvPr/>
        </p:nvSpPr>
        <p:spPr>
          <a:xfrm>
            <a:off x="566928" y="4014215"/>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Repère décoratif de section"/>
          <p:cNvSpPr/>
          <p:nvPr/>
        </p:nvSpPr>
        <p:spPr>
          <a:xfrm>
            <a:off x="566928" y="4014215"/>
            <a:ext cx="64008" cy="71323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Numéro d'étape 3"/>
          <p:cNvSpPr txBox="1"/>
          <p:nvPr/>
        </p:nvSpPr>
        <p:spPr>
          <a:xfrm>
            <a:off x="841247" y="4096511"/>
            <a:ext cx="822960" cy="548640"/>
          </a:xfrm>
          <a:prstGeom prst="rect">
            <a:avLst/>
          </a:prstGeom>
          <a:noFill/>
        </p:spPr>
        <p:txBody>
          <a:bodyPr wrap="square" lIns="0" rIns="0" tIns="0" bIns="0" anchor="ctr">
            <a:spAutoFit/>
          </a:bodyPr>
          <a:lstStyle/>
          <a:p>
            <a:pPr algn="l">
              <a:lnSpc>
                <a:spcPct val="112000"/>
              </a:lnSpc>
            </a:pPr>
            <a:r>
              <a:rPr sz="2400" b="1" i="0">
                <a:solidFill>
                  <a:srgbClr val="A78BFA"/>
                </a:solidFill>
                <a:latin typeface="Arial"/>
              </a:rPr>
              <a:t>03</a:t>
            </a:r>
          </a:p>
        </p:txBody>
      </p:sp>
      <p:sp>
        <p:nvSpPr>
          <p:cNvPr id="17" name="TextBox 16" descr="Texte du point 3 : Ajoutez registres de sources et droits."/>
          <p:cNvSpPr txBox="1"/>
          <p:nvPr/>
        </p:nvSpPr>
        <p:spPr>
          <a:xfrm>
            <a:off x="1755648" y="4069079"/>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Ajoutez registres de sources et droits.</a:t>
            </a:r>
          </a:p>
        </p:txBody>
      </p:sp>
      <p:sp>
        <p:nvSpPr>
          <p:cNvPr id="18" name="Rounded Rectangle 17" descr="Point 4 : Sauvegardez les originaux."/>
          <p:cNvSpPr/>
          <p:nvPr/>
        </p:nvSpPr>
        <p:spPr>
          <a:xfrm>
            <a:off x="566928" y="4855464"/>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descr="Repère décoratif de section"/>
          <p:cNvSpPr/>
          <p:nvPr/>
        </p:nvSpPr>
        <p:spPr>
          <a:xfrm>
            <a:off x="566928" y="4855464"/>
            <a:ext cx="64008" cy="71323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descr="Numéro d'étape 4"/>
          <p:cNvSpPr txBox="1"/>
          <p:nvPr/>
        </p:nvSpPr>
        <p:spPr>
          <a:xfrm>
            <a:off x="841247" y="4937760"/>
            <a:ext cx="822960" cy="548640"/>
          </a:xfrm>
          <a:prstGeom prst="rect">
            <a:avLst/>
          </a:prstGeom>
          <a:noFill/>
        </p:spPr>
        <p:txBody>
          <a:bodyPr wrap="square" lIns="0" rIns="0" tIns="0" bIns="0" anchor="ctr">
            <a:spAutoFit/>
          </a:bodyPr>
          <a:lstStyle/>
          <a:p>
            <a:pPr algn="l">
              <a:lnSpc>
                <a:spcPct val="112000"/>
              </a:lnSpc>
            </a:pPr>
            <a:r>
              <a:rPr sz="2400" b="1" i="0">
                <a:solidFill>
                  <a:srgbClr val="A78BFA"/>
                </a:solidFill>
                <a:latin typeface="Arial"/>
              </a:rPr>
              <a:t>04</a:t>
            </a:r>
          </a:p>
        </p:txBody>
      </p:sp>
      <p:sp>
        <p:nvSpPr>
          <p:cNvPr id="21" name="TextBox 20" descr="Texte du point 4 : Sauvegardez les originaux."/>
          <p:cNvSpPr txBox="1"/>
          <p:nvPr/>
        </p:nvSpPr>
        <p:spPr>
          <a:xfrm>
            <a:off x="1755648" y="4910328"/>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Sauvegardez les originaux.</a:t>
            </a:r>
          </a:p>
        </p:txBody>
      </p:sp>
      <p:sp>
        <p:nvSpPr>
          <p:cNvPr id="22" name="Rounded Rectangle 21" descr="Élément graphique décoratif, sans information propre"/>
          <p:cNvSpPr/>
          <p:nvPr/>
        </p:nvSpPr>
        <p:spPr>
          <a:xfrm>
            <a:off x="0" y="0"/>
            <a:ext cx="201168" cy="6858000"/>
          </a:xfrm>
          <a:prstGeom prst="round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descr="Référence de source affichée en pied de diapositive : Chapitre 19 — Organisation des fichiers et production en série"/>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 19 — Organisation des fichiers et production en série</a:t>
            </a:r>
          </a:p>
        </p:txBody>
      </p:sp>
      <p:sp>
        <p:nvSpPr>
          <p:cNvPr id="24" name="TextBox 23" descr="Numéro de diapositive 34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34 / 84  ·  2 min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Synthèse · partie 04"/>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A78BFA"/>
                </a:solidFill>
                <a:latin typeface="Arial"/>
              </a:rPr>
              <a:t>SYNTHÈSE · PARTIE 04</a:t>
            </a:r>
          </a:p>
        </p:txBody>
      </p:sp>
      <p:sp>
        <p:nvSpPr>
          <p:cNvPr id="4" name="TextBox 3" descr="Titre : À retenir · partie 04"/>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600" b="1" i="0">
                <a:solidFill>
                  <a:srgbClr val="F2F6FC"/>
                </a:solidFill>
                <a:latin typeface="Arial"/>
              </a:rPr>
              <a:t>À retenir · partie 04</a:t>
            </a:r>
          </a:p>
        </p:txBody>
      </p:sp>
      <p:sp>
        <p:nvSpPr>
          <p:cNvPr id="5" name="TextBox 4" descr="Sous-titre : PRODUIRE AVEC L’IA"/>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600" b="1" i="0">
                <a:solidFill>
                  <a:srgbClr val="A78BFA"/>
                </a:solidFill>
                <a:latin typeface="Arial"/>
              </a:rPr>
              <a:t>PRODUIRE AVEC L’IA</a:t>
            </a:r>
          </a:p>
        </p:txBody>
      </p:sp>
      <p:sp>
        <p:nvSpPr>
          <p:cNvPr id="6" name="Rounded Rectangle 5" descr="Point 1 : Transformer une demande vague en brief vérifiable."/>
          <p:cNvSpPr/>
          <p:nvPr/>
        </p:nvSpPr>
        <p:spPr>
          <a:xfrm>
            <a:off x="566928" y="2212848"/>
            <a:ext cx="11064240" cy="59436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de section"/>
          <p:cNvSpPr/>
          <p:nvPr/>
        </p:nvSpPr>
        <p:spPr>
          <a:xfrm>
            <a:off x="566928" y="2212848"/>
            <a:ext cx="64008" cy="59436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Numéro d'étape 1"/>
          <p:cNvSpPr txBox="1"/>
          <p:nvPr/>
        </p:nvSpPr>
        <p:spPr>
          <a:xfrm>
            <a:off x="841247" y="2235708"/>
            <a:ext cx="822960" cy="548640"/>
          </a:xfrm>
          <a:prstGeom prst="rect">
            <a:avLst/>
          </a:prstGeom>
          <a:noFill/>
        </p:spPr>
        <p:txBody>
          <a:bodyPr wrap="square" lIns="0" rIns="0" tIns="0" bIns="0" anchor="ctr">
            <a:spAutoFit/>
          </a:bodyPr>
          <a:lstStyle/>
          <a:p>
            <a:pPr algn="l">
              <a:lnSpc>
                <a:spcPct val="112000"/>
              </a:lnSpc>
            </a:pPr>
            <a:r>
              <a:rPr sz="2400" b="1" i="0">
                <a:solidFill>
                  <a:srgbClr val="A78BFA"/>
                </a:solidFill>
                <a:latin typeface="Arial"/>
              </a:rPr>
              <a:t>01</a:t>
            </a:r>
          </a:p>
        </p:txBody>
      </p:sp>
      <p:sp>
        <p:nvSpPr>
          <p:cNvPr id="9" name="TextBox 8" descr="Texte du point 1 : Transformer une demande vague en brief vérifiable."/>
          <p:cNvSpPr txBox="1"/>
          <p:nvPr/>
        </p:nvSpPr>
        <p:spPr>
          <a:xfrm>
            <a:off x="1755648" y="2267712"/>
            <a:ext cx="9646919" cy="484632"/>
          </a:xfrm>
          <a:prstGeom prst="rect">
            <a:avLst/>
          </a:prstGeom>
          <a:noFill/>
        </p:spPr>
        <p:txBody>
          <a:bodyPr wrap="square" lIns="0" rIns="0" tIns="0" bIns="0" anchor="ctr">
            <a:spAutoFit/>
          </a:bodyPr>
          <a:lstStyle/>
          <a:p>
            <a:pPr algn="l">
              <a:lnSpc>
                <a:spcPct val="112000"/>
              </a:lnSpc>
            </a:pPr>
            <a:r>
              <a:rPr sz="1500" b="0" i="0">
                <a:solidFill>
                  <a:srgbClr val="F2F6FC"/>
                </a:solidFill>
                <a:latin typeface="Arial"/>
              </a:rPr>
              <a:t>Transformer une demande vague en brief vérifiable.</a:t>
            </a:r>
          </a:p>
        </p:txBody>
      </p:sp>
      <p:sp>
        <p:nvSpPr>
          <p:cNvPr id="10" name="Rounded Rectangle 9" descr="Point 2 : Produire des médias dont les droits et le sens sont vérifiés."/>
          <p:cNvSpPr/>
          <p:nvPr/>
        </p:nvSpPr>
        <p:spPr>
          <a:xfrm>
            <a:off x="566928" y="2916936"/>
            <a:ext cx="11064240" cy="59436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de section"/>
          <p:cNvSpPr/>
          <p:nvPr/>
        </p:nvSpPr>
        <p:spPr>
          <a:xfrm>
            <a:off x="566928" y="2916936"/>
            <a:ext cx="64008" cy="59436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Numéro d'étape 2"/>
          <p:cNvSpPr txBox="1"/>
          <p:nvPr/>
        </p:nvSpPr>
        <p:spPr>
          <a:xfrm>
            <a:off x="841247" y="2939796"/>
            <a:ext cx="822960" cy="548640"/>
          </a:xfrm>
          <a:prstGeom prst="rect">
            <a:avLst/>
          </a:prstGeom>
          <a:noFill/>
        </p:spPr>
        <p:txBody>
          <a:bodyPr wrap="square" lIns="0" rIns="0" tIns="0" bIns="0" anchor="ctr">
            <a:spAutoFit/>
          </a:bodyPr>
          <a:lstStyle/>
          <a:p>
            <a:pPr algn="l">
              <a:lnSpc>
                <a:spcPct val="112000"/>
              </a:lnSpc>
            </a:pPr>
            <a:r>
              <a:rPr sz="2400" b="1" i="0">
                <a:solidFill>
                  <a:srgbClr val="A78BFA"/>
                </a:solidFill>
                <a:latin typeface="Arial"/>
              </a:rPr>
              <a:t>02</a:t>
            </a:r>
          </a:p>
        </p:txBody>
      </p:sp>
      <p:sp>
        <p:nvSpPr>
          <p:cNvPr id="13" name="TextBox 12" descr="Texte du point 2 : Produire des médias dont les droits et le sens sont vérifiés."/>
          <p:cNvSpPr txBox="1"/>
          <p:nvPr/>
        </p:nvSpPr>
        <p:spPr>
          <a:xfrm>
            <a:off x="1755648" y="2971800"/>
            <a:ext cx="9646919" cy="484632"/>
          </a:xfrm>
          <a:prstGeom prst="rect">
            <a:avLst/>
          </a:prstGeom>
          <a:noFill/>
        </p:spPr>
        <p:txBody>
          <a:bodyPr wrap="square" lIns="0" rIns="0" tIns="0" bIns="0" anchor="ctr">
            <a:spAutoFit/>
          </a:bodyPr>
          <a:lstStyle/>
          <a:p>
            <a:pPr algn="l">
              <a:lnSpc>
                <a:spcPct val="112000"/>
              </a:lnSpc>
            </a:pPr>
            <a:r>
              <a:rPr sz="1500" b="0" i="0">
                <a:solidFill>
                  <a:srgbClr val="F2F6FC"/>
                </a:solidFill>
                <a:latin typeface="Arial"/>
              </a:rPr>
              <a:t>Produire des médias dont les droits et le sens sont vérifiés.</a:t>
            </a:r>
          </a:p>
        </p:txBody>
      </p:sp>
      <p:sp>
        <p:nvSpPr>
          <p:cNvPr id="14" name="Rounded Rectangle 13" descr="Point 3 : Tester une chaîne vidéo segmentée avant de produire en série."/>
          <p:cNvSpPr/>
          <p:nvPr/>
        </p:nvSpPr>
        <p:spPr>
          <a:xfrm>
            <a:off x="566928" y="3621024"/>
            <a:ext cx="11064240" cy="59436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Repère décoratif de section"/>
          <p:cNvSpPr/>
          <p:nvPr/>
        </p:nvSpPr>
        <p:spPr>
          <a:xfrm>
            <a:off x="566928" y="3621024"/>
            <a:ext cx="64008" cy="59436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Numéro d'étape 3"/>
          <p:cNvSpPr txBox="1"/>
          <p:nvPr/>
        </p:nvSpPr>
        <p:spPr>
          <a:xfrm>
            <a:off x="841247" y="3643884"/>
            <a:ext cx="822960" cy="548640"/>
          </a:xfrm>
          <a:prstGeom prst="rect">
            <a:avLst/>
          </a:prstGeom>
          <a:noFill/>
        </p:spPr>
        <p:txBody>
          <a:bodyPr wrap="square" lIns="0" rIns="0" tIns="0" bIns="0" anchor="ctr">
            <a:spAutoFit/>
          </a:bodyPr>
          <a:lstStyle/>
          <a:p>
            <a:pPr algn="l">
              <a:lnSpc>
                <a:spcPct val="112000"/>
              </a:lnSpc>
            </a:pPr>
            <a:r>
              <a:rPr sz="2400" b="1" i="0">
                <a:solidFill>
                  <a:srgbClr val="A78BFA"/>
                </a:solidFill>
                <a:latin typeface="Arial"/>
              </a:rPr>
              <a:t>03</a:t>
            </a:r>
          </a:p>
        </p:txBody>
      </p:sp>
      <p:sp>
        <p:nvSpPr>
          <p:cNvPr id="17" name="TextBox 16" descr="Texte du point 3 : Tester une chaîne vidéo segmentée avant de produire en série."/>
          <p:cNvSpPr txBox="1"/>
          <p:nvPr/>
        </p:nvSpPr>
        <p:spPr>
          <a:xfrm>
            <a:off x="1755648" y="3675887"/>
            <a:ext cx="9646919" cy="484632"/>
          </a:xfrm>
          <a:prstGeom prst="rect">
            <a:avLst/>
          </a:prstGeom>
          <a:noFill/>
        </p:spPr>
        <p:txBody>
          <a:bodyPr wrap="square" lIns="0" rIns="0" tIns="0" bIns="0" anchor="ctr">
            <a:spAutoFit/>
          </a:bodyPr>
          <a:lstStyle/>
          <a:p>
            <a:pPr algn="l">
              <a:lnSpc>
                <a:spcPct val="112000"/>
              </a:lnSpc>
            </a:pPr>
            <a:r>
              <a:rPr sz="1500" b="0" i="0">
                <a:solidFill>
                  <a:srgbClr val="F2F6FC"/>
                </a:solidFill>
                <a:latin typeface="Arial"/>
              </a:rPr>
              <a:t>Tester une chaîne vidéo segmentée avant de produire en série.</a:t>
            </a:r>
          </a:p>
        </p:txBody>
      </p:sp>
      <p:sp>
        <p:nvSpPr>
          <p:cNvPr id="18" name="Rounded Rectangle 17" descr="Point 4 : Choisir les outils pour une tâche, non pour leur notoriété."/>
          <p:cNvSpPr/>
          <p:nvPr/>
        </p:nvSpPr>
        <p:spPr>
          <a:xfrm>
            <a:off x="566928" y="4325112"/>
            <a:ext cx="11064240" cy="59436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descr="Repère décoratif de section"/>
          <p:cNvSpPr/>
          <p:nvPr/>
        </p:nvSpPr>
        <p:spPr>
          <a:xfrm>
            <a:off x="566928" y="4325112"/>
            <a:ext cx="64008" cy="59436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descr="Numéro d'étape 4"/>
          <p:cNvSpPr txBox="1"/>
          <p:nvPr/>
        </p:nvSpPr>
        <p:spPr>
          <a:xfrm>
            <a:off x="841247" y="4347972"/>
            <a:ext cx="822960" cy="548640"/>
          </a:xfrm>
          <a:prstGeom prst="rect">
            <a:avLst/>
          </a:prstGeom>
          <a:noFill/>
        </p:spPr>
        <p:txBody>
          <a:bodyPr wrap="square" lIns="0" rIns="0" tIns="0" bIns="0" anchor="ctr">
            <a:spAutoFit/>
          </a:bodyPr>
          <a:lstStyle/>
          <a:p>
            <a:pPr algn="l">
              <a:lnSpc>
                <a:spcPct val="112000"/>
              </a:lnSpc>
            </a:pPr>
            <a:r>
              <a:rPr sz="2400" b="1" i="0">
                <a:solidFill>
                  <a:srgbClr val="A78BFA"/>
                </a:solidFill>
                <a:latin typeface="Arial"/>
              </a:rPr>
              <a:t>04</a:t>
            </a:r>
          </a:p>
        </p:txBody>
      </p:sp>
      <p:sp>
        <p:nvSpPr>
          <p:cNvPr id="21" name="TextBox 20" descr="Texte du point 4 : Choisir les outils pour une tâche, non pour leur notoriété."/>
          <p:cNvSpPr txBox="1"/>
          <p:nvPr/>
        </p:nvSpPr>
        <p:spPr>
          <a:xfrm>
            <a:off x="1755648" y="4379976"/>
            <a:ext cx="9646919" cy="484632"/>
          </a:xfrm>
          <a:prstGeom prst="rect">
            <a:avLst/>
          </a:prstGeom>
          <a:noFill/>
        </p:spPr>
        <p:txBody>
          <a:bodyPr wrap="square" lIns="0" rIns="0" tIns="0" bIns="0" anchor="ctr">
            <a:spAutoFit/>
          </a:bodyPr>
          <a:lstStyle/>
          <a:p>
            <a:pPr algn="l">
              <a:lnSpc>
                <a:spcPct val="112000"/>
              </a:lnSpc>
            </a:pPr>
            <a:r>
              <a:rPr sz="1500" b="0" i="0">
                <a:solidFill>
                  <a:srgbClr val="F2F6FC"/>
                </a:solidFill>
                <a:latin typeface="Arial"/>
              </a:rPr>
              <a:t>Choisir les outils pour une tâche, non pour leur notoriété.</a:t>
            </a:r>
          </a:p>
        </p:txBody>
      </p:sp>
      <p:sp>
        <p:nvSpPr>
          <p:cNvPr id="22" name="Rounded Rectangle 21" descr="Point 5 : Retrouver scripts, sources, médias, exports et versions."/>
          <p:cNvSpPr/>
          <p:nvPr/>
        </p:nvSpPr>
        <p:spPr>
          <a:xfrm>
            <a:off x="566928" y="5029200"/>
            <a:ext cx="11064240" cy="59436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descr="Repère décoratif de section"/>
          <p:cNvSpPr/>
          <p:nvPr/>
        </p:nvSpPr>
        <p:spPr>
          <a:xfrm>
            <a:off x="566928" y="5029200"/>
            <a:ext cx="64008" cy="59436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descr="Numéro d'étape 5"/>
          <p:cNvSpPr txBox="1"/>
          <p:nvPr/>
        </p:nvSpPr>
        <p:spPr>
          <a:xfrm>
            <a:off x="841247" y="5052060"/>
            <a:ext cx="822960" cy="548640"/>
          </a:xfrm>
          <a:prstGeom prst="rect">
            <a:avLst/>
          </a:prstGeom>
          <a:noFill/>
        </p:spPr>
        <p:txBody>
          <a:bodyPr wrap="square" lIns="0" rIns="0" tIns="0" bIns="0" anchor="ctr">
            <a:spAutoFit/>
          </a:bodyPr>
          <a:lstStyle/>
          <a:p>
            <a:pPr algn="l">
              <a:lnSpc>
                <a:spcPct val="112000"/>
              </a:lnSpc>
            </a:pPr>
            <a:r>
              <a:rPr sz="2400" b="1" i="0">
                <a:solidFill>
                  <a:srgbClr val="A78BFA"/>
                </a:solidFill>
                <a:latin typeface="Arial"/>
              </a:rPr>
              <a:t>05</a:t>
            </a:r>
          </a:p>
        </p:txBody>
      </p:sp>
      <p:sp>
        <p:nvSpPr>
          <p:cNvPr id="25" name="TextBox 24" descr="Texte du point 5 : Retrouver scripts, sources, médias, exports et versions."/>
          <p:cNvSpPr txBox="1"/>
          <p:nvPr/>
        </p:nvSpPr>
        <p:spPr>
          <a:xfrm>
            <a:off x="1755648" y="5084064"/>
            <a:ext cx="9646919" cy="484632"/>
          </a:xfrm>
          <a:prstGeom prst="rect">
            <a:avLst/>
          </a:prstGeom>
          <a:noFill/>
        </p:spPr>
        <p:txBody>
          <a:bodyPr wrap="square" lIns="0" rIns="0" tIns="0" bIns="0" anchor="ctr">
            <a:spAutoFit/>
          </a:bodyPr>
          <a:lstStyle/>
          <a:p>
            <a:pPr algn="l">
              <a:lnSpc>
                <a:spcPct val="112000"/>
              </a:lnSpc>
            </a:pPr>
            <a:r>
              <a:rPr sz="1500" b="0" i="0">
                <a:solidFill>
                  <a:srgbClr val="F2F6FC"/>
                </a:solidFill>
                <a:latin typeface="Arial"/>
              </a:rPr>
              <a:t>Retrouver scripts, sources, médias, exports et versions.</a:t>
            </a:r>
          </a:p>
        </p:txBody>
      </p:sp>
      <p:sp>
        <p:nvSpPr>
          <p:cNvPr id="26" name="Rounded Rectangle 25" descr="Élément graphique décoratif, sans information propre"/>
          <p:cNvSpPr/>
          <p:nvPr/>
        </p:nvSpPr>
        <p:spPr>
          <a:xfrm>
            <a:off x="0" y="0"/>
            <a:ext cx="201168" cy="6858000"/>
          </a:xfrm>
          <a:prstGeom prst="round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descr="Référence de source affichée en pied de diapositive : Chapitres 15–19"/>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Chapitres 15–19</a:t>
            </a:r>
          </a:p>
        </p:txBody>
      </p:sp>
      <p:sp>
        <p:nvSpPr>
          <p:cNvPr id="28" name="TextBox 27" descr="Numéro de diapositive 35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35 / 84  ·  2 min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descr="Élément graphique décoratif, sans information propr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descr="Bandeau supérieur de partie"/>
          <p:cNvSpPr/>
          <p:nvPr/>
        </p:nvSpPr>
        <p:spPr>
          <a:xfrm>
            <a:off x="0" y="0"/>
            <a:ext cx="12191695" cy="256032"/>
          </a:xfrm>
          <a:prstGeom prst="rect">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descr="Titre de section : PARTIE 05"/>
          <p:cNvSpPr txBox="1"/>
          <p:nvPr/>
        </p:nvSpPr>
        <p:spPr>
          <a:xfrm>
            <a:off x="822960" y="2148840"/>
            <a:ext cx="8357616" cy="1097280"/>
          </a:xfrm>
          <a:prstGeom prst="rect">
            <a:avLst/>
          </a:prstGeom>
          <a:noFill/>
        </p:spPr>
        <p:txBody>
          <a:bodyPr wrap="square" lIns="0" rIns="0" tIns="0" bIns="0" anchor="t">
            <a:spAutoFit/>
          </a:bodyPr>
          <a:lstStyle/>
          <a:p>
            <a:pPr algn="l">
              <a:lnSpc>
                <a:spcPct val="106000"/>
              </a:lnSpc>
            </a:pPr>
            <a:r>
              <a:rPr sz="5600" b="1" i="0">
                <a:solidFill>
                  <a:srgbClr val="F2F6FC"/>
                </a:solidFill>
                <a:latin typeface="Arial"/>
              </a:rPr>
              <a:t>PARTIE 05</a:t>
            </a:r>
          </a:p>
        </p:txBody>
      </p:sp>
      <p:sp>
        <p:nvSpPr>
          <p:cNvPr id="6" name="TextBox 5" descr="Sous-titre de section : MESURER ET AUTOMATISER"/>
          <p:cNvSpPr txBox="1"/>
          <p:nvPr/>
        </p:nvSpPr>
        <p:spPr>
          <a:xfrm>
            <a:off x="822960" y="3291840"/>
            <a:ext cx="10058400" cy="1463040"/>
          </a:xfrm>
          <a:prstGeom prst="rect">
            <a:avLst/>
          </a:prstGeom>
          <a:noFill/>
        </p:spPr>
        <p:txBody>
          <a:bodyPr wrap="square" lIns="0" rIns="0" tIns="0" bIns="0" anchor="t">
            <a:spAutoFit/>
          </a:bodyPr>
          <a:lstStyle/>
          <a:p>
            <a:pPr algn="l">
              <a:lnSpc>
                <a:spcPct val="112000"/>
              </a:lnSpc>
            </a:pPr>
            <a:r>
              <a:rPr sz="3000" b="1" i="0">
                <a:solidFill>
                  <a:srgbClr val="C084FC"/>
                </a:solidFill>
                <a:latin typeface="Arial"/>
              </a:rPr>
              <a:t>MESURER ET AUTOMATISER</a:t>
            </a:r>
          </a:p>
        </p:txBody>
      </p:sp>
      <p:sp>
        <p:nvSpPr>
          <p:cNvPr id="7" name="Rounded Rectangle 6" descr="Élément graphique décoratif, sans information propre"/>
          <p:cNvSpPr/>
          <p:nvPr/>
        </p:nvSpPr>
        <p:spPr>
          <a:xfrm>
            <a:off x="0" y="0"/>
            <a:ext cx="201168" cy="6858000"/>
          </a:xfrm>
          <a:prstGeom prst="roundRect">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Référence de source affichée en pied de diapositive : Partie 5 du DOCX"/>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Partie 5 du DOCX</a:t>
            </a:r>
          </a:p>
        </p:txBody>
      </p:sp>
      <p:sp>
        <p:nvSpPr>
          <p:cNvPr id="9" name="TextBox 8" descr="Numéro de diapositive 36 sur 84, durée prévue 1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36 / 84  ·  1 min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Partie 05 · chapitre 20"/>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C084FC"/>
                </a:solidFill>
                <a:latin typeface="Arial"/>
              </a:rPr>
              <a:t>PARTIE 05 · CHAPITRE 20</a:t>
            </a:r>
          </a:p>
        </p:txBody>
      </p:sp>
      <p:sp>
        <p:nvSpPr>
          <p:cNvPr id="4" name="TextBox 3" descr="Titre du chapitre : 20 · Comprendre les statistiques"/>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200" b="1" i="0">
                <a:solidFill>
                  <a:srgbClr val="F2F6FC"/>
                </a:solidFill>
                <a:latin typeface="Arial"/>
              </a:rPr>
              <a:t>20 · Comprendre les statistiques</a:t>
            </a:r>
          </a:p>
        </p:txBody>
      </p:sp>
      <p:sp>
        <p:nvSpPr>
          <p:cNvPr id="5" name="TextBox 4" descr="Objectif du chapitre : Lire des indicateurs selon leur définition plutôt que selon leur taille."/>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550" b="1" i="0">
                <a:solidFill>
                  <a:srgbClr val="C084FC"/>
                </a:solidFill>
                <a:latin typeface="Arial"/>
              </a:rPr>
              <a:t>Lire des indicateurs selon leur définition plutôt que selon leur taille.</a:t>
            </a:r>
          </a:p>
        </p:txBody>
      </p:sp>
      <p:sp>
        <p:nvSpPr>
          <p:cNvPr id="6" name="Rounded Rectangle 5" descr="Point 1 : Fixez l’objectif de la publication."/>
          <p:cNvSpPr/>
          <p:nvPr/>
        </p:nvSpPr>
        <p:spPr>
          <a:xfrm>
            <a:off x="566928" y="2331720"/>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de section"/>
          <p:cNvSpPr/>
          <p:nvPr/>
        </p:nvSpPr>
        <p:spPr>
          <a:xfrm>
            <a:off x="566928" y="2331720"/>
            <a:ext cx="64008" cy="713232"/>
          </a:xfrm>
          <a:prstGeom prst="rect">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Numéro d'étape 1"/>
          <p:cNvSpPr txBox="1"/>
          <p:nvPr/>
        </p:nvSpPr>
        <p:spPr>
          <a:xfrm>
            <a:off x="841247" y="2414016"/>
            <a:ext cx="822960" cy="548640"/>
          </a:xfrm>
          <a:prstGeom prst="rect">
            <a:avLst/>
          </a:prstGeom>
          <a:noFill/>
        </p:spPr>
        <p:txBody>
          <a:bodyPr wrap="square" lIns="0" rIns="0" tIns="0" bIns="0" anchor="ctr">
            <a:spAutoFit/>
          </a:bodyPr>
          <a:lstStyle/>
          <a:p>
            <a:pPr algn="l">
              <a:lnSpc>
                <a:spcPct val="112000"/>
              </a:lnSpc>
            </a:pPr>
            <a:r>
              <a:rPr sz="2400" b="1" i="0">
                <a:solidFill>
                  <a:srgbClr val="C084FC"/>
                </a:solidFill>
                <a:latin typeface="Arial"/>
              </a:rPr>
              <a:t>01</a:t>
            </a:r>
          </a:p>
        </p:txBody>
      </p:sp>
      <p:sp>
        <p:nvSpPr>
          <p:cNvPr id="9" name="TextBox 8" descr="Texte du point 1 : Fixez l’objectif de la publication."/>
          <p:cNvSpPr txBox="1"/>
          <p:nvPr/>
        </p:nvSpPr>
        <p:spPr>
          <a:xfrm>
            <a:off x="1755648" y="2386584"/>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Fixez l’objectif de la publication.</a:t>
            </a:r>
          </a:p>
        </p:txBody>
      </p:sp>
      <p:sp>
        <p:nvSpPr>
          <p:cNvPr id="10" name="Rounded Rectangle 9" descr="Point 2 : Choisissez un indicateur principal."/>
          <p:cNvSpPr/>
          <p:nvPr/>
        </p:nvSpPr>
        <p:spPr>
          <a:xfrm>
            <a:off x="566928" y="3172968"/>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de section"/>
          <p:cNvSpPr/>
          <p:nvPr/>
        </p:nvSpPr>
        <p:spPr>
          <a:xfrm>
            <a:off x="566928" y="3172968"/>
            <a:ext cx="64008" cy="713232"/>
          </a:xfrm>
          <a:prstGeom prst="rect">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Numéro d'étape 2"/>
          <p:cNvSpPr txBox="1"/>
          <p:nvPr/>
        </p:nvSpPr>
        <p:spPr>
          <a:xfrm>
            <a:off x="841247" y="3255264"/>
            <a:ext cx="822960" cy="548640"/>
          </a:xfrm>
          <a:prstGeom prst="rect">
            <a:avLst/>
          </a:prstGeom>
          <a:noFill/>
        </p:spPr>
        <p:txBody>
          <a:bodyPr wrap="square" lIns="0" rIns="0" tIns="0" bIns="0" anchor="ctr">
            <a:spAutoFit/>
          </a:bodyPr>
          <a:lstStyle/>
          <a:p>
            <a:pPr algn="l">
              <a:lnSpc>
                <a:spcPct val="112000"/>
              </a:lnSpc>
            </a:pPr>
            <a:r>
              <a:rPr sz="2400" b="1" i="0">
                <a:solidFill>
                  <a:srgbClr val="C084FC"/>
                </a:solidFill>
                <a:latin typeface="Arial"/>
              </a:rPr>
              <a:t>02</a:t>
            </a:r>
          </a:p>
        </p:txBody>
      </p:sp>
      <p:sp>
        <p:nvSpPr>
          <p:cNvPr id="13" name="TextBox 12" descr="Texte du point 2 : Choisissez un indicateur principal."/>
          <p:cNvSpPr txBox="1"/>
          <p:nvPr/>
        </p:nvSpPr>
        <p:spPr>
          <a:xfrm>
            <a:off x="1755648" y="3227832"/>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Choisissez un indicateur principal.</a:t>
            </a:r>
          </a:p>
        </p:txBody>
      </p:sp>
      <p:sp>
        <p:nvSpPr>
          <p:cNvPr id="14" name="Rounded Rectangle 13" descr="Point 3 : Notez sa définition et sa période."/>
          <p:cNvSpPr/>
          <p:nvPr/>
        </p:nvSpPr>
        <p:spPr>
          <a:xfrm>
            <a:off x="566928" y="4014215"/>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Repère décoratif de section"/>
          <p:cNvSpPr/>
          <p:nvPr/>
        </p:nvSpPr>
        <p:spPr>
          <a:xfrm>
            <a:off x="566928" y="4014215"/>
            <a:ext cx="64008" cy="713232"/>
          </a:xfrm>
          <a:prstGeom prst="rect">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Numéro d'étape 3"/>
          <p:cNvSpPr txBox="1"/>
          <p:nvPr/>
        </p:nvSpPr>
        <p:spPr>
          <a:xfrm>
            <a:off x="841247" y="4096511"/>
            <a:ext cx="822960" cy="548640"/>
          </a:xfrm>
          <a:prstGeom prst="rect">
            <a:avLst/>
          </a:prstGeom>
          <a:noFill/>
        </p:spPr>
        <p:txBody>
          <a:bodyPr wrap="square" lIns="0" rIns="0" tIns="0" bIns="0" anchor="ctr">
            <a:spAutoFit/>
          </a:bodyPr>
          <a:lstStyle/>
          <a:p>
            <a:pPr algn="l">
              <a:lnSpc>
                <a:spcPct val="112000"/>
              </a:lnSpc>
            </a:pPr>
            <a:r>
              <a:rPr sz="2400" b="1" i="0">
                <a:solidFill>
                  <a:srgbClr val="C084FC"/>
                </a:solidFill>
                <a:latin typeface="Arial"/>
              </a:rPr>
              <a:t>03</a:t>
            </a:r>
          </a:p>
        </p:txBody>
      </p:sp>
      <p:sp>
        <p:nvSpPr>
          <p:cNvPr id="17" name="TextBox 16" descr="Texte du point 3 : Notez sa définition et sa période."/>
          <p:cNvSpPr txBox="1"/>
          <p:nvPr/>
        </p:nvSpPr>
        <p:spPr>
          <a:xfrm>
            <a:off x="1755648" y="4069079"/>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Notez sa définition et sa période.</a:t>
            </a:r>
          </a:p>
        </p:txBody>
      </p:sp>
      <p:sp>
        <p:nvSpPr>
          <p:cNvPr id="18" name="Rounded Rectangle 17" descr="Point 4 : Comparez des contenus semblables."/>
          <p:cNvSpPr/>
          <p:nvPr/>
        </p:nvSpPr>
        <p:spPr>
          <a:xfrm>
            <a:off x="566928" y="4855464"/>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descr="Repère décoratif de section"/>
          <p:cNvSpPr/>
          <p:nvPr/>
        </p:nvSpPr>
        <p:spPr>
          <a:xfrm>
            <a:off x="566928" y="4855464"/>
            <a:ext cx="64008" cy="713232"/>
          </a:xfrm>
          <a:prstGeom prst="rect">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descr="Numéro d'étape 4"/>
          <p:cNvSpPr txBox="1"/>
          <p:nvPr/>
        </p:nvSpPr>
        <p:spPr>
          <a:xfrm>
            <a:off x="841247" y="4937760"/>
            <a:ext cx="822960" cy="548640"/>
          </a:xfrm>
          <a:prstGeom prst="rect">
            <a:avLst/>
          </a:prstGeom>
          <a:noFill/>
        </p:spPr>
        <p:txBody>
          <a:bodyPr wrap="square" lIns="0" rIns="0" tIns="0" bIns="0" anchor="ctr">
            <a:spAutoFit/>
          </a:bodyPr>
          <a:lstStyle/>
          <a:p>
            <a:pPr algn="l">
              <a:lnSpc>
                <a:spcPct val="112000"/>
              </a:lnSpc>
            </a:pPr>
            <a:r>
              <a:rPr sz="2400" b="1" i="0">
                <a:solidFill>
                  <a:srgbClr val="C084FC"/>
                </a:solidFill>
                <a:latin typeface="Arial"/>
              </a:rPr>
              <a:t>04</a:t>
            </a:r>
          </a:p>
        </p:txBody>
      </p:sp>
      <p:sp>
        <p:nvSpPr>
          <p:cNvPr id="21" name="TextBox 20" descr="Texte du point 4 : Comparez des contenus semblables."/>
          <p:cNvSpPr txBox="1"/>
          <p:nvPr/>
        </p:nvSpPr>
        <p:spPr>
          <a:xfrm>
            <a:off x="1755648" y="4910328"/>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Comparez des contenus semblables.</a:t>
            </a:r>
          </a:p>
        </p:txBody>
      </p:sp>
      <p:sp>
        <p:nvSpPr>
          <p:cNvPr id="22" name="Rounded Rectangle 21" descr="Élément graphique décoratif, sans information propre"/>
          <p:cNvSpPr/>
          <p:nvPr/>
        </p:nvSpPr>
        <p:spPr>
          <a:xfrm>
            <a:off x="0" y="0"/>
            <a:ext cx="201168" cy="6858000"/>
          </a:xfrm>
          <a:prstGeom prst="roundRect">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descr="Référence de source affichée en pied de diapositive : Chapitre 20 — Comprendre les statistiques"/>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 20 — Comprendre les statistiques</a:t>
            </a:r>
          </a:p>
        </p:txBody>
      </p:sp>
      <p:sp>
        <p:nvSpPr>
          <p:cNvPr id="24" name="TextBox 23" descr="Numéro de diapositive 37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37 / 84  ·  2 min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Atelier · partie 05 · chapitre 20"/>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C084FC"/>
                </a:solidFill>
                <a:latin typeface="Arial"/>
              </a:rPr>
              <a:t>ATELIER · PARTIE 05 · CHAPITRE 20</a:t>
            </a:r>
          </a:p>
        </p:txBody>
      </p:sp>
      <p:sp>
        <p:nvSpPr>
          <p:cNvPr id="4" name="TextBox 3" descr="Titre de l'atelier : Atelier · Comprendre les statistiques"/>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400" b="1" i="0">
                <a:solidFill>
                  <a:srgbClr val="F2F6FC"/>
                </a:solidFill>
                <a:latin typeface="Arial"/>
              </a:rPr>
              <a:t>Atelier · Comprendre les statistiques</a:t>
            </a:r>
          </a:p>
        </p:txBody>
      </p:sp>
      <p:sp>
        <p:nvSpPr>
          <p:cNvPr id="5" name="TextBox 4" descr="Consigne cadre : Une décision à documenter, pas un résultat à promettre"/>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600" b="1" i="0">
                <a:solidFill>
                  <a:srgbClr val="C084FC"/>
                </a:solidFill>
                <a:latin typeface="Arial"/>
              </a:rPr>
              <a:t>Une décision à documenter, pas un résultat à promettre</a:t>
            </a:r>
          </a:p>
        </p:txBody>
      </p:sp>
      <p:sp>
        <p:nvSpPr>
          <p:cNvPr id="6" name="Rounded Rectangle 5" descr="Consigne d'atelier : Séparez portée, questions, demandes, commandes et paiements réellement reçus."/>
          <p:cNvSpPr/>
          <p:nvPr/>
        </p:nvSpPr>
        <p:spPr>
          <a:xfrm>
            <a:off x="566928" y="2377440"/>
            <a:ext cx="11064240" cy="219456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descr="Consigne d'atelier : Séparez portée, questions, demandes, commandes et paiements réellement reçus."/>
          <p:cNvSpPr txBox="1"/>
          <p:nvPr/>
        </p:nvSpPr>
        <p:spPr>
          <a:xfrm>
            <a:off x="960120" y="2651760"/>
            <a:ext cx="10332720" cy="1737360"/>
          </a:xfrm>
          <a:prstGeom prst="rect">
            <a:avLst/>
          </a:prstGeom>
          <a:noFill/>
        </p:spPr>
        <p:txBody>
          <a:bodyPr wrap="square" lIns="0" rIns="0" tIns="0" bIns="0" anchor="ctr">
            <a:spAutoFit/>
          </a:bodyPr>
          <a:lstStyle/>
          <a:p>
            <a:pPr algn="l">
              <a:lnSpc>
                <a:spcPct val="112000"/>
              </a:lnSpc>
            </a:pPr>
            <a:r>
              <a:rPr sz="2400" b="1" i="0">
                <a:solidFill>
                  <a:srgbClr val="F2F6FC"/>
                </a:solidFill>
                <a:latin typeface="Arial"/>
              </a:rPr>
              <a:t>Séparez portée, questions, demandes, commandes et paiements réellement reçus.</a:t>
            </a:r>
          </a:p>
        </p:txBody>
      </p:sp>
      <p:sp>
        <p:nvSpPr>
          <p:cNvPr id="8" name="Rounded Rectangle 7" descr="Bandeau d'information : Aucun exemple du livre ne doit être présenté comme un témoignage réel : il est annoncé comme simulation pédagogique."/>
          <p:cNvSpPr/>
          <p:nvPr/>
        </p:nvSpPr>
        <p:spPr>
          <a:xfrm>
            <a:off x="566928" y="5623560"/>
            <a:ext cx="11064240" cy="658368"/>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descr="Texte du bandeau : Aucun exemple du livre ne doit être présenté comme un témoignage réel : il est annoncé comme simulation pédagogique."/>
          <p:cNvSpPr txBox="1"/>
          <p:nvPr/>
        </p:nvSpPr>
        <p:spPr>
          <a:xfrm>
            <a:off x="822960" y="5669280"/>
            <a:ext cx="10607040" cy="566928"/>
          </a:xfrm>
          <a:prstGeom prst="rect">
            <a:avLst/>
          </a:prstGeom>
          <a:noFill/>
        </p:spPr>
        <p:txBody>
          <a:bodyPr wrap="square" lIns="0" rIns="0" tIns="0" bIns="0" anchor="ctr">
            <a:spAutoFit/>
          </a:bodyPr>
          <a:lstStyle/>
          <a:p>
            <a:pPr algn="l">
              <a:lnSpc>
                <a:spcPct val="112000"/>
              </a:lnSpc>
            </a:pPr>
            <a:r>
              <a:rPr sz="1550" b="1" i="0">
                <a:solidFill>
                  <a:srgbClr val="C084FC"/>
                </a:solidFill>
                <a:latin typeface="Arial"/>
              </a:rPr>
              <a:t>Aucun exemple du livre ne doit être présenté comme un témoignage réel : il est annoncé comme simulation pédagogique.</a:t>
            </a:r>
          </a:p>
        </p:txBody>
      </p:sp>
      <p:sp>
        <p:nvSpPr>
          <p:cNvPr id="10" name="Rounded Rectangle 9" descr="Élément graphique décoratif, sans information propre"/>
          <p:cNvSpPr/>
          <p:nvPr/>
        </p:nvSpPr>
        <p:spPr>
          <a:xfrm>
            <a:off x="0" y="0"/>
            <a:ext cx="201168" cy="6858000"/>
          </a:xfrm>
          <a:prstGeom prst="roundRect">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descr="Référence de source affichée en pied de diapositive : Chapitre 20 (exemple/exercice adapté)"/>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 20 (exemple/exercice adapté)</a:t>
            </a:r>
          </a:p>
        </p:txBody>
      </p:sp>
      <p:sp>
        <p:nvSpPr>
          <p:cNvPr id="12" name="TextBox 11" descr="Numéro de diapositive 38 sur 84, durée prévue 4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38 / 84  ·  4 min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Partie 05 · chapitre 21"/>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C084FC"/>
                </a:solidFill>
                <a:latin typeface="Arial"/>
              </a:rPr>
              <a:t>PARTIE 05 · CHAPITRE 21</a:t>
            </a:r>
          </a:p>
        </p:txBody>
      </p:sp>
      <p:sp>
        <p:nvSpPr>
          <p:cNvPr id="4" name="TextBox 3" descr="Titre du chapitre : 21 · Publier, mesurer, analyser, modifier"/>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200" b="1" i="0">
                <a:solidFill>
                  <a:srgbClr val="F2F6FC"/>
                </a:solidFill>
                <a:latin typeface="Arial"/>
              </a:rPr>
              <a:t>21 · Publier, mesurer, analyser, modifier</a:t>
            </a:r>
          </a:p>
        </p:txBody>
      </p:sp>
      <p:sp>
        <p:nvSpPr>
          <p:cNvPr id="5" name="TextBox 4" descr="Objectif du chapitre : Améliorer une série au moyen d’hypothèses prudentes."/>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550" b="1" i="0">
                <a:solidFill>
                  <a:srgbClr val="C084FC"/>
                </a:solidFill>
                <a:latin typeface="Arial"/>
              </a:rPr>
              <a:t>Améliorer une série au moyen d’hypothèses prudentes.</a:t>
            </a:r>
          </a:p>
        </p:txBody>
      </p:sp>
      <p:sp>
        <p:nvSpPr>
          <p:cNvPr id="6" name="Rounded Rectangle 5" descr="Point 1 : Écrivez une hypothèse."/>
          <p:cNvSpPr/>
          <p:nvPr/>
        </p:nvSpPr>
        <p:spPr>
          <a:xfrm>
            <a:off x="566928" y="2331720"/>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de section"/>
          <p:cNvSpPr/>
          <p:nvPr/>
        </p:nvSpPr>
        <p:spPr>
          <a:xfrm>
            <a:off x="566928" y="2331720"/>
            <a:ext cx="64008" cy="713232"/>
          </a:xfrm>
          <a:prstGeom prst="rect">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Numéro d'étape 1"/>
          <p:cNvSpPr txBox="1"/>
          <p:nvPr/>
        </p:nvSpPr>
        <p:spPr>
          <a:xfrm>
            <a:off x="841247" y="2414016"/>
            <a:ext cx="822960" cy="548640"/>
          </a:xfrm>
          <a:prstGeom prst="rect">
            <a:avLst/>
          </a:prstGeom>
          <a:noFill/>
        </p:spPr>
        <p:txBody>
          <a:bodyPr wrap="square" lIns="0" rIns="0" tIns="0" bIns="0" anchor="ctr">
            <a:spAutoFit/>
          </a:bodyPr>
          <a:lstStyle/>
          <a:p>
            <a:pPr algn="l">
              <a:lnSpc>
                <a:spcPct val="112000"/>
              </a:lnSpc>
            </a:pPr>
            <a:r>
              <a:rPr sz="2400" b="1" i="0">
                <a:solidFill>
                  <a:srgbClr val="C084FC"/>
                </a:solidFill>
                <a:latin typeface="Arial"/>
              </a:rPr>
              <a:t>01</a:t>
            </a:r>
          </a:p>
        </p:txBody>
      </p:sp>
      <p:sp>
        <p:nvSpPr>
          <p:cNvPr id="9" name="TextBox 8" descr="Texte du point 1 : Écrivez une hypothèse."/>
          <p:cNvSpPr txBox="1"/>
          <p:nvPr/>
        </p:nvSpPr>
        <p:spPr>
          <a:xfrm>
            <a:off x="1755648" y="2386584"/>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Écrivez une hypothèse.</a:t>
            </a:r>
          </a:p>
        </p:txBody>
      </p:sp>
      <p:sp>
        <p:nvSpPr>
          <p:cNvPr id="10" name="Rounded Rectangle 9" descr="Point 2 : Définissez variable et mesure."/>
          <p:cNvSpPr/>
          <p:nvPr/>
        </p:nvSpPr>
        <p:spPr>
          <a:xfrm>
            <a:off x="566928" y="3172968"/>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de section"/>
          <p:cNvSpPr/>
          <p:nvPr/>
        </p:nvSpPr>
        <p:spPr>
          <a:xfrm>
            <a:off x="566928" y="3172968"/>
            <a:ext cx="64008" cy="713232"/>
          </a:xfrm>
          <a:prstGeom prst="rect">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Numéro d'étape 2"/>
          <p:cNvSpPr txBox="1"/>
          <p:nvPr/>
        </p:nvSpPr>
        <p:spPr>
          <a:xfrm>
            <a:off x="841247" y="3255264"/>
            <a:ext cx="822960" cy="548640"/>
          </a:xfrm>
          <a:prstGeom prst="rect">
            <a:avLst/>
          </a:prstGeom>
          <a:noFill/>
        </p:spPr>
        <p:txBody>
          <a:bodyPr wrap="square" lIns="0" rIns="0" tIns="0" bIns="0" anchor="ctr">
            <a:spAutoFit/>
          </a:bodyPr>
          <a:lstStyle/>
          <a:p>
            <a:pPr algn="l">
              <a:lnSpc>
                <a:spcPct val="112000"/>
              </a:lnSpc>
            </a:pPr>
            <a:r>
              <a:rPr sz="2400" b="1" i="0">
                <a:solidFill>
                  <a:srgbClr val="C084FC"/>
                </a:solidFill>
                <a:latin typeface="Arial"/>
              </a:rPr>
              <a:t>02</a:t>
            </a:r>
          </a:p>
        </p:txBody>
      </p:sp>
      <p:sp>
        <p:nvSpPr>
          <p:cNvPr id="13" name="TextBox 12" descr="Texte du point 2 : Définissez variable et mesure."/>
          <p:cNvSpPr txBox="1"/>
          <p:nvPr/>
        </p:nvSpPr>
        <p:spPr>
          <a:xfrm>
            <a:off x="1755648" y="3227832"/>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Définissez variable et mesure.</a:t>
            </a:r>
          </a:p>
        </p:txBody>
      </p:sp>
      <p:sp>
        <p:nvSpPr>
          <p:cNvPr id="14" name="Rounded Rectangle 13" descr="Point 3 : Fixez la période."/>
          <p:cNvSpPr/>
          <p:nvPr/>
        </p:nvSpPr>
        <p:spPr>
          <a:xfrm>
            <a:off x="566928" y="4014215"/>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Repère décoratif de section"/>
          <p:cNvSpPr/>
          <p:nvPr/>
        </p:nvSpPr>
        <p:spPr>
          <a:xfrm>
            <a:off x="566928" y="4014215"/>
            <a:ext cx="64008" cy="713232"/>
          </a:xfrm>
          <a:prstGeom prst="rect">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Numéro d'étape 3"/>
          <p:cNvSpPr txBox="1"/>
          <p:nvPr/>
        </p:nvSpPr>
        <p:spPr>
          <a:xfrm>
            <a:off x="841247" y="4096511"/>
            <a:ext cx="822960" cy="548640"/>
          </a:xfrm>
          <a:prstGeom prst="rect">
            <a:avLst/>
          </a:prstGeom>
          <a:noFill/>
        </p:spPr>
        <p:txBody>
          <a:bodyPr wrap="square" lIns="0" rIns="0" tIns="0" bIns="0" anchor="ctr">
            <a:spAutoFit/>
          </a:bodyPr>
          <a:lstStyle/>
          <a:p>
            <a:pPr algn="l">
              <a:lnSpc>
                <a:spcPct val="112000"/>
              </a:lnSpc>
            </a:pPr>
            <a:r>
              <a:rPr sz="2400" b="1" i="0">
                <a:solidFill>
                  <a:srgbClr val="C084FC"/>
                </a:solidFill>
                <a:latin typeface="Arial"/>
              </a:rPr>
              <a:t>03</a:t>
            </a:r>
          </a:p>
        </p:txBody>
      </p:sp>
      <p:sp>
        <p:nvSpPr>
          <p:cNvPr id="17" name="TextBox 16" descr="Texte du point 3 : Fixez la période."/>
          <p:cNvSpPr txBox="1"/>
          <p:nvPr/>
        </p:nvSpPr>
        <p:spPr>
          <a:xfrm>
            <a:off x="1755648" y="4069079"/>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Fixez la période.</a:t>
            </a:r>
          </a:p>
        </p:txBody>
      </p:sp>
      <p:sp>
        <p:nvSpPr>
          <p:cNvPr id="18" name="Rounded Rectangle 17" descr="Point 4 : Comparez plusieurs publications."/>
          <p:cNvSpPr/>
          <p:nvPr/>
        </p:nvSpPr>
        <p:spPr>
          <a:xfrm>
            <a:off x="566928" y="4855464"/>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descr="Repère décoratif de section"/>
          <p:cNvSpPr/>
          <p:nvPr/>
        </p:nvSpPr>
        <p:spPr>
          <a:xfrm>
            <a:off x="566928" y="4855464"/>
            <a:ext cx="64008" cy="713232"/>
          </a:xfrm>
          <a:prstGeom prst="rect">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descr="Numéro d'étape 4"/>
          <p:cNvSpPr txBox="1"/>
          <p:nvPr/>
        </p:nvSpPr>
        <p:spPr>
          <a:xfrm>
            <a:off x="841247" y="4937760"/>
            <a:ext cx="822960" cy="548640"/>
          </a:xfrm>
          <a:prstGeom prst="rect">
            <a:avLst/>
          </a:prstGeom>
          <a:noFill/>
        </p:spPr>
        <p:txBody>
          <a:bodyPr wrap="square" lIns="0" rIns="0" tIns="0" bIns="0" anchor="ctr">
            <a:spAutoFit/>
          </a:bodyPr>
          <a:lstStyle/>
          <a:p>
            <a:pPr algn="l">
              <a:lnSpc>
                <a:spcPct val="112000"/>
              </a:lnSpc>
            </a:pPr>
            <a:r>
              <a:rPr sz="2400" b="1" i="0">
                <a:solidFill>
                  <a:srgbClr val="C084FC"/>
                </a:solidFill>
                <a:latin typeface="Arial"/>
              </a:rPr>
              <a:t>04</a:t>
            </a:r>
          </a:p>
        </p:txBody>
      </p:sp>
      <p:sp>
        <p:nvSpPr>
          <p:cNvPr id="21" name="TextBox 20" descr="Texte du point 4 : Comparez plusieurs publications."/>
          <p:cNvSpPr txBox="1"/>
          <p:nvPr/>
        </p:nvSpPr>
        <p:spPr>
          <a:xfrm>
            <a:off x="1755648" y="4910328"/>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Comparez plusieurs publications.</a:t>
            </a:r>
          </a:p>
        </p:txBody>
      </p:sp>
      <p:sp>
        <p:nvSpPr>
          <p:cNvPr id="22" name="Rounded Rectangle 21" descr="Élément graphique décoratif, sans information propre"/>
          <p:cNvSpPr/>
          <p:nvPr/>
        </p:nvSpPr>
        <p:spPr>
          <a:xfrm>
            <a:off x="0" y="0"/>
            <a:ext cx="201168" cy="6858000"/>
          </a:xfrm>
          <a:prstGeom prst="roundRect">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descr="Référence de source affichée en pied de diapositive : Chapitre 21 — Publier, mesurer, analyser, modifier"/>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 21 — Publier, mesurer, analyser, modifier</a:t>
            </a:r>
          </a:p>
        </p:txBody>
      </p:sp>
      <p:sp>
        <p:nvSpPr>
          <p:cNvPr id="24" name="TextBox 23" descr="Numéro de diapositive 39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39 / 84  ·  2 min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Partie 05 · chapitre 22"/>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C084FC"/>
                </a:solidFill>
                <a:latin typeface="Arial"/>
              </a:rPr>
              <a:t>PARTIE 05 · CHAPITRE 22</a:t>
            </a:r>
          </a:p>
        </p:txBody>
      </p:sp>
      <p:sp>
        <p:nvSpPr>
          <p:cNvPr id="4" name="TextBox 3" descr="Titre du chapitre : 22 · Les trois niveaux d’automatisation"/>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200" b="1" i="0">
                <a:solidFill>
                  <a:srgbClr val="F2F6FC"/>
                </a:solidFill>
                <a:latin typeface="Arial"/>
              </a:rPr>
              <a:t>22 · Les trois niveaux d’automatisation</a:t>
            </a:r>
          </a:p>
        </p:txBody>
      </p:sp>
      <p:sp>
        <p:nvSpPr>
          <p:cNvPr id="5" name="TextBox 4" descr="Objectif du chapitre : Choisir le minimum d’automatisation utile et sûr."/>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550" b="1" i="0">
                <a:solidFill>
                  <a:srgbClr val="C084FC"/>
                </a:solidFill>
                <a:latin typeface="Arial"/>
              </a:rPr>
              <a:t>Choisir le minimum d’automatisation utile et sûr.</a:t>
            </a:r>
          </a:p>
        </p:txBody>
      </p:sp>
      <p:sp>
        <p:nvSpPr>
          <p:cNvPr id="6" name="Rounded Rectangle 5" descr="Point 1 : Cartographiez la procédure manuelle."/>
          <p:cNvSpPr/>
          <p:nvPr/>
        </p:nvSpPr>
        <p:spPr>
          <a:xfrm>
            <a:off x="566928" y="2331720"/>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de section"/>
          <p:cNvSpPr/>
          <p:nvPr/>
        </p:nvSpPr>
        <p:spPr>
          <a:xfrm>
            <a:off x="566928" y="2331720"/>
            <a:ext cx="64008" cy="713232"/>
          </a:xfrm>
          <a:prstGeom prst="rect">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Numéro d'étape 1"/>
          <p:cNvSpPr txBox="1"/>
          <p:nvPr/>
        </p:nvSpPr>
        <p:spPr>
          <a:xfrm>
            <a:off x="841247" y="2414016"/>
            <a:ext cx="822960" cy="548640"/>
          </a:xfrm>
          <a:prstGeom prst="rect">
            <a:avLst/>
          </a:prstGeom>
          <a:noFill/>
        </p:spPr>
        <p:txBody>
          <a:bodyPr wrap="square" lIns="0" rIns="0" tIns="0" bIns="0" anchor="ctr">
            <a:spAutoFit/>
          </a:bodyPr>
          <a:lstStyle/>
          <a:p>
            <a:pPr algn="l">
              <a:lnSpc>
                <a:spcPct val="112000"/>
              </a:lnSpc>
            </a:pPr>
            <a:r>
              <a:rPr sz="2400" b="1" i="0">
                <a:solidFill>
                  <a:srgbClr val="C084FC"/>
                </a:solidFill>
                <a:latin typeface="Arial"/>
              </a:rPr>
              <a:t>01</a:t>
            </a:r>
          </a:p>
        </p:txBody>
      </p:sp>
      <p:sp>
        <p:nvSpPr>
          <p:cNvPr id="9" name="TextBox 8" descr="Texte du point 1 : Cartographiez la procédure manuelle."/>
          <p:cNvSpPr txBox="1"/>
          <p:nvPr/>
        </p:nvSpPr>
        <p:spPr>
          <a:xfrm>
            <a:off x="1755648" y="2386584"/>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Cartographiez la procédure manuelle.</a:t>
            </a:r>
          </a:p>
        </p:txBody>
      </p:sp>
      <p:sp>
        <p:nvSpPr>
          <p:cNvPr id="10" name="Rounded Rectangle 9" descr="Point 2 : Repérez erreurs et exceptions."/>
          <p:cNvSpPr/>
          <p:nvPr/>
        </p:nvSpPr>
        <p:spPr>
          <a:xfrm>
            <a:off x="566928" y="3172968"/>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de section"/>
          <p:cNvSpPr/>
          <p:nvPr/>
        </p:nvSpPr>
        <p:spPr>
          <a:xfrm>
            <a:off x="566928" y="3172968"/>
            <a:ext cx="64008" cy="713232"/>
          </a:xfrm>
          <a:prstGeom prst="rect">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Numéro d'étape 2"/>
          <p:cNvSpPr txBox="1"/>
          <p:nvPr/>
        </p:nvSpPr>
        <p:spPr>
          <a:xfrm>
            <a:off x="841247" y="3255264"/>
            <a:ext cx="822960" cy="548640"/>
          </a:xfrm>
          <a:prstGeom prst="rect">
            <a:avLst/>
          </a:prstGeom>
          <a:noFill/>
        </p:spPr>
        <p:txBody>
          <a:bodyPr wrap="square" lIns="0" rIns="0" tIns="0" bIns="0" anchor="ctr">
            <a:spAutoFit/>
          </a:bodyPr>
          <a:lstStyle/>
          <a:p>
            <a:pPr algn="l">
              <a:lnSpc>
                <a:spcPct val="112000"/>
              </a:lnSpc>
            </a:pPr>
            <a:r>
              <a:rPr sz="2400" b="1" i="0">
                <a:solidFill>
                  <a:srgbClr val="C084FC"/>
                </a:solidFill>
                <a:latin typeface="Arial"/>
              </a:rPr>
              <a:t>02</a:t>
            </a:r>
          </a:p>
        </p:txBody>
      </p:sp>
      <p:sp>
        <p:nvSpPr>
          <p:cNvPr id="13" name="TextBox 12" descr="Texte du point 2 : Repérez erreurs et exceptions."/>
          <p:cNvSpPr txBox="1"/>
          <p:nvPr/>
        </p:nvSpPr>
        <p:spPr>
          <a:xfrm>
            <a:off x="1755648" y="3227832"/>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Repérez erreurs et exceptions.</a:t>
            </a:r>
          </a:p>
        </p:txBody>
      </p:sp>
      <p:sp>
        <p:nvSpPr>
          <p:cNvPr id="14" name="Rounded Rectangle 13" descr="Point 3 : Testez une étape réversible."/>
          <p:cNvSpPr/>
          <p:nvPr/>
        </p:nvSpPr>
        <p:spPr>
          <a:xfrm>
            <a:off x="566928" y="4014215"/>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Repère décoratif de section"/>
          <p:cNvSpPr/>
          <p:nvPr/>
        </p:nvSpPr>
        <p:spPr>
          <a:xfrm>
            <a:off x="566928" y="4014215"/>
            <a:ext cx="64008" cy="713232"/>
          </a:xfrm>
          <a:prstGeom prst="rect">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Numéro d'étape 3"/>
          <p:cNvSpPr txBox="1"/>
          <p:nvPr/>
        </p:nvSpPr>
        <p:spPr>
          <a:xfrm>
            <a:off x="841247" y="4096511"/>
            <a:ext cx="822960" cy="548640"/>
          </a:xfrm>
          <a:prstGeom prst="rect">
            <a:avLst/>
          </a:prstGeom>
          <a:noFill/>
        </p:spPr>
        <p:txBody>
          <a:bodyPr wrap="square" lIns="0" rIns="0" tIns="0" bIns="0" anchor="ctr">
            <a:spAutoFit/>
          </a:bodyPr>
          <a:lstStyle/>
          <a:p>
            <a:pPr algn="l">
              <a:lnSpc>
                <a:spcPct val="112000"/>
              </a:lnSpc>
            </a:pPr>
            <a:r>
              <a:rPr sz="2400" b="1" i="0">
                <a:solidFill>
                  <a:srgbClr val="C084FC"/>
                </a:solidFill>
                <a:latin typeface="Arial"/>
              </a:rPr>
              <a:t>03</a:t>
            </a:r>
          </a:p>
        </p:txBody>
      </p:sp>
      <p:sp>
        <p:nvSpPr>
          <p:cNvPr id="17" name="TextBox 16" descr="Texte du point 3 : Testez une étape réversible."/>
          <p:cNvSpPr txBox="1"/>
          <p:nvPr/>
        </p:nvSpPr>
        <p:spPr>
          <a:xfrm>
            <a:off x="1755648" y="4069079"/>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Testez une étape réversible.</a:t>
            </a:r>
          </a:p>
        </p:txBody>
      </p:sp>
      <p:sp>
        <p:nvSpPr>
          <p:cNvPr id="18" name="Rounded Rectangle 17" descr="Point 4 : Limitez accès, volume et coût."/>
          <p:cNvSpPr/>
          <p:nvPr/>
        </p:nvSpPr>
        <p:spPr>
          <a:xfrm>
            <a:off x="566928" y="4855464"/>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descr="Repère décoratif de section"/>
          <p:cNvSpPr/>
          <p:nvPr/>
        </p:nvSpPr>
        <p:spPr>
          <a:xfrm>
            <a:off x="566928" y="4855464"/>
            <a:ext cx="64008" cy="713232"/>
          </a:xfrm>
          <a:prstGeom prst="rect">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descr="Numéro d'étape 4"/>
          <p:cNvSpPr txBox="1"/>
          <p:nvPr/>
        </p:nvSpPr>
        <p:spPr>
          <a:xfrm>
            <a:off x="841247" y="4937760"/>
            <a:ext cx="822960" cy="548640"/>
          </a:xfrm>
          <a:prstGeom prst="rect">
            <a:avLst/>
          </a:prstGeom>
          <a:noFill/>
        </p:spPr>
        <p:txBody>
          <a:bodyPr wrap="square" lIns="0" rIns="0" tIns="0" bIns="0" anchor="ctr">
            <a:spAutoFit/>
          </a:bodyPr>
          <a:lstStyle/>
          <a:p>
            <a:pPr algn="l">
              <a:lnSpc>
                <a:spcPct val="112000"/>
              </a:lnSpc>
            </a:pPr>
            <a:r>
              <a:rPr sz="2400" b="1" i="0">
                <a:solidFill>
                  <a:srgbClr val="C084FC"/>
                </a:solidFill>
                <a:latin typeface="Arial"/>
              </a:rPr>
              <a:t>04</a:t>
            </a:r>
          </a:p>
        </p:txBody>
      </p:sp>
      <p:sp>
        <p:nvSpPr>
          <p:cNvPr id="21" name="TextBox 20" descr="Texte du point 4 : Limitez accès, volume et coût."/>
          <p:cNvSpPr txBox="1"/>
          <p:nvPr/>
        </p:nvSpPr>
        <p:spPr>
          <a:xfrm>
            <a:off x="1755648" y="4910328"/>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Limitez accès, volume et coût.</a:t>
            </a:r>
          </a:p>
        </p:txBody>
      </p:sp>
      <p:sp>
        <p:nvSpPr>
          <p:cNvPr id="22" name="Rounded Rectangle 21" descr="Élément graphique décoratif, sans information propre"/>
          <p:cNvSpPr/>
          <p:nvPr/>
        </p:nvSpPr>
        <p:spPr>
          <a:xfrm>
            <a:off x="0" y="0"/>
            <a:ext cx="201168" cy="6858000"/>
          </a:xfrm>
          <a:prstGeom prst="roundRect">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descr="Référence de source affichée en pied de diapositive : Chapitre 22 — Les trois niveaux d’automatisation"/>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 22 — Les trois niveaux d’automatisation</a:t>
            </a:r>
          </a:p>
        </p:txBody>
      </p:sp>
      <p:sp>
        <p:nvSpPr>
          <p:cNvPr id="24" name="TextBox 23" descr="Numéro de diapositive 40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40 / 84  ·  2 min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Partie 05 · chapitre 23"/>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C084FC"/>
                </a:solidFill>
                <a:latin typeface="Arial"/>
              </a:rPr>
              <a:t>PARTIE 05 · CHAPITRE 23</a:t>
            </a:r>
          </a:p>
        </p:txBody>
      </p:sp>
      <p:sp>
        <p:nvSpPr>
          <p:cNvPr id="4" name="TextBox 3" descr="Titre du chapitre : 23 · Agent IA, reporting et documentation"/>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200" b="1" i="0">
                <a:solidFill>
                  <a:srgbClr val="F2F6FC"/>
                </a:solidFill>
                <a:latin typeface="Arial"/>
              </a:rPr>
              <a:t>23 · Agent IA, reporting et documentation</a:t>
            </a:r>
          </a:p>
        </p:txBody>
      </p:sp>
      <p:sp>
        <p:nvSpPr>
          <p:cNvPr id="5" name="TextBox 4" descr="Objectif du chapitre : Définir une mission d’agent contrôlable et sourcée."/>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550" b="1" i="0">
                <a:solidFill>
                  <a:srgbClr val="C084FC"/>
                </a:solidFill>
                <a:latin typeface="Arial"/>
              </a:rPr>
              <a:t>Définir une mission d’agent contrôlable et sourcée.</a:t>
            </a:r>
          </a:p>
        </p:txBody>
      </p:sp>
      <p:sp>
        <p:nvSpPr>
          <p:cNvPr id="6" name="Rounded Rectangle 5" descr="Point 1 : Définissez périmètre et autorisations."/>
          <p:cNvSpPr/>
          <p:nvPr/>
        </p:nvSpPr>
        <p:spPr>
          <a:xfrm>
            <a:off x="566928" y="2331720"/>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de section"/>
          <p:cNvSpPr/>
          <p:nvPr/>
        </p:nvSpPr>
        <p:spPr>
          <a:xfrm>
            <a:off x="566928" y="2331720"/>
            <a:ext cx="64008" cy="713232"/>
          </a:xfrm>
          <a:prstGeom prst="rect">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Numéro d'étape 1"/>
          <p:cNvSpPr txBox="1"/>
          <p:nvPr/>
        </p:nvSpPr>
        <p:spPr>
          <a:xfrm>
            <a:off x="841247" y="2414016"/>
            <a:ext cx="822960" cy="548640"/>
          </a:xfrm>
          <a:prstGeom prst="rect">
            <a:avLst/>
          </a:prstGeom>
          <a:noFill/>
        </p:spPr>
        <p:txBody>
          <a:bodyPr wrap="square" lIns="0" rIns="0" tIns="0" bIns="0" anchor="ctr">
            <a:spAutoFit/>
          </a:bodyPr>
          <a:lstStyle/>
          <a:p>
            <a:pPr algn="l">
              <a:lnSpc>
                <a:spcPct val="112000"/>
              </a:lnSpc>
            </a:pPr>
            <a:r>
              <a:rPr sz="2400" b="1" i="0">
                <a:solidFill>
                  <a:srgbClr val="C084FC"/>
                </a:solidFill>
                <a:latin typeface="Arial"/>
              </a:rPr>
              <a:t>01</a:t>
            </a:r>
          </a:p>
        </p:txBody>
      </p:sp>
      <p:sp>
        <p:nvSpPr>
          <p:cNvPr id="9" name="TextBox 8" descr="Texte du point 1 : Définissez périmètre et autorisations."/>
          <p:cNvSpPr txBox="1"/>
          <p:nvPr/>
        </p:nvSpPr>
        <p:spPr>
          <a:xfrm>
            <a:off x="1755648" y="2386584"/>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Définissez périmètre et autorisations.</a:t>
            </a:r>
          </a:p>
        </p:txBody>
      </p:sp>
      <p:sp>
        <p:nvSpPr>
          <p:cNvPr id="10" name="Rounded Rectangle 9" descr="Point 2 : Remettez seulement des données utiles."/>
          <p:cNvSpPr/>
          <p:nvPr/>
        </p:nvSpPr>
        <p:spPr>
          <a:xfrm>
            <a:off x="566928" y="3172968"/>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de section"/>
          <p:cNvSpPr/>
          <p:nvPr/>
        </p:nvSpPr>
        <p:spPr>
          <a:xfrm>
            <a:off x="566928" y="3172968"/>
            <a:ext cx="64008" cy="713232"/>
          </a:xfrm>
          <a:prstGeom prst="rect">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Numéro d'étape 2"/>
          <p:cNvSpPr txBox="1"/>
          <p:nvPr/>
        </p:nvSpPr>
        <p:spPr>
          <a:xfrm>
            <a:off x="841247" y="3255264"/>
            <a:ext cx="822960" cy="548640"/>
          </a:xfrm>
          <a:prstGeom prst="rect">
            <a:avLst/>
          </a:prstGeom>
          <a:noFill/>
        </p:spPr>
        <p:txBody>
          <a:bodyPr wrap="square" lIns="0" rIns="0" tIns="0" bIns="0" anchor="ctr">
            <a:spAutoFit/>
          </a:bodyPr>
          <a:lstStyle/>
          <a:p>
            <a:pPr algn="l">
              <a:lnSpc>
                <a:spcPct val="112000"/>
              </a:lnSpc>
            </a:pPr>
            <a:r>
              <a:rPr sz="2400" b="1" i="0">
                <a:solidFill>
                  <a:srgbClr val="C084FC"/>
                </a:solidFill>
                <a:latin typeface="Arial"/>
              </a:rPr>
              <a:t>02</a:t>
            </a:r>
          </a:p>
        </p:txBody>
      </p:sp>
      <p:sp>
        <p:nvSpPr>
          <p:cNvPr id="13" name="TextBox 12" descr="Texte du point 2 : Remettez seulement des données utiles."/>
          <p:cNvSpPr txBox="1"/>
          <p:nvPr/>
        </p:nvSpPr>
        <p:spPr>
          <a:xfrm>
            <a:off x="1755648" y="3227832"/>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Remettez seulement des données utiles.</a:t>
            </a:r>
          </a:p>
        </p:txBody>
      </p:sp>
      <p:sp>
        <p:nvSpPr>
          <p:cNvPr id="14" name="Rounded Rectangle 13" descr="Point 3 : Exigez URL, date et pays."/>
          <p:cNvSpPr/>
          <p:nvPr/>
        </p:nvSpPr>
        <p:spPr>
          <a:xfrm>
            <a:off x="566928" y="4014215"/>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Repère décoratif de section"/>
          <p:cNvSpPr/>
          <p:nvPr/>
        </p:nvSpPr>
        <p:spPr>
          <a:xfrm>
            <a:off x="566928" y="4014215"/>
            <a:ext cx="64008" cy="713232"/>
          </a:xfrm>
          <a:prstGeom prst="rect">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Numéro d'étape 3"/>
          <p:cNvSpPr txBox="1"/>
          <p:nvPr/>
        </p:nvSpPr>
        <p:spPr>
          <a:xfrm>
            <a:off x="841247" y="4096511"/>
            <a:ext cx="822960" cy="548640"/>
          </a:xfrm>
          <a:prstGeom prst="rect">
            <a:avLst/>
          </a:prstGeom>
          <a:noFill/>
        </p:spPr>
        <p:txBody>
          <a:bodyPr wrap="square" lIns="0" rIns="0" tIns="0" bIns="0" anchor="ctr">
            <a:spAutoFit/>
          </a:bodyPr>
          <a:lstStyle/>
          <a:p>
            <a:pPr algn="l">
              <a:lnSpc>
                <a:spcPct val="112000"/>
              </a:lnSpc>
            </a:pPr>
            <a:r>
              <a:rPr sz="2400" b="1" i="0">
                <a:solidFill>
                  <a:srgbClr val="C084FC"/>
                </a:solidFill>
                <a:latin typeface="Arial"/>
              </a:rPr>
              <a:t>03</a:t>
            </a:r>
          </a:p>
        </p:txBody>
      </p:sp>
      <p:sp>
        <p:nvSpPr>
          <p:cNvPr id="17" name="TextBox 16" descr="Texte du point 3 : Exigez URL, date et pays."/>
          <p:cNvSpPr txBox="1"/>
          <p:nvPr/>
        </p:nvSpPr>
        <p:spPr>
          <a:xfrm>
            <a:off x="1755648" y="4069079"/>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Exigez URL, date et pays.</a:t>
            </a:r>
          </a:p>
        </p:txBody>
      </p:sp>
      <p:sp>
        <p:nvSpPr>
          <p:cNvPr id="18" name="Rounded Rectangle 17" descr="Point 4 : Vérifiez les calculs sur un échantillon."/>
          <p:cNvSpPr/>
          <p:nvPr/>
        </p:nvSpPr>
        <p:spPr>
          <a:xfrm>
            <a:off x="566928" y="4855464"/>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descr="Repère décoratif de section"/>
          <p:cNvSpPr/>
          <p:nvPr/>
        </p:nvSpPr>
        <p:spPr>
          <a:xfrm>
            <a:off x="566928" y="4855464"/>
            <a:ext cx="64008" cy="713232"/>
          </a:xfrm>
          <a:prstGeom prst="rect">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descr="Numéro d'étape 4"/>
          <p:cNvSpPr txBox="1"/>
          <p:nvPr/>
        </p:nvSpPr>
        <p:spPr>
          <a:xfrm>
            <a:off x="841247" y="4937760"/>
            <a:ext cx="822960" cy="548640"/>
          </a:xfrm>
          <a:prstGeom prst="rect">
            <a:avLst/>
          </a:prstGeom>
          <a:noFill/>
        </p:spPr>
        <p:txBody>
          <a:bodyPr wrap="square" lIns="0" rIns="0" tIns="0" bIns="0" anchor="ctr">
            <a:spAutoFit/>
          </a:bodyPr>
          <a:lstStyle/>
          <a:p>
            <a:pPr algn="l">
              <a:lnSpc>
                <a:spcPct val="112000"/>
              </a:lnSpc>
            </a:pPr>
            <a:r>
              <a:rPr sz="2400" b="1" i="0">
                <a:solidFill>
                  <a:srgbClr val="C084FC"/>
                </a:solidFill>
                <a:latin typeface="Arial"/>
              </a:rPr>
              <a:t>04</a:t>
            </a:r>
          </a:p>
        </p:txBody>
      </p:sp>
      <p:sp>
        <p:nvSpPr>
          <p:cNvPr id="21" name="TextBox 20" descr="Texte du point 4 : Vérifiez les calculs sur un échantillon."/>
          <p:cNvSpPr txBox="1"/>
          <p:nvPr/>
        </p:nvSpPr>
        <p:spPr>
          <a:xfrm>
            <a:off x="1755648" y="4910328"/>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Vérifiez les calculs sur un échantillon.</a:t>
            </a:r>
          </a:p>
        </p:txBody>
      </p:sp>
      <p:sp>
        <p:nvSpPr>
          <p:cNvPr id="22" name="Rounded Rectangle 21" descr="Élément graphique décoratif, sans information propre"/>
          <p:cNvSpPr/>
          <p:nvPr/>
        </p:nvSpPr>
        <p:spPr>
          <a:xfrm>
            <a:off x="0" y="0"/>
            <a:ext cx="201168" cy="6858000"/>
          </a:xfrm>
          <a:prstGeom prst="roundRect">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descr="Référence de source affichée en pied de diapositive : Chapitre 23 — Agent IA, reporting et documentation"/>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 23 — Agent IA, reporting et documentation</a:t>
            </a:r>
          </a:p>
        </p:txBody>
      </p:sp>
      <p:sp>
        <p:nvSpPr>
          <p:cNvPr id="24" name="TextBox 23" descr="Numéro de diapositive 41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41 / 84  ·  2 min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Partie 05 · chapitre 24"/>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C084FC"/>
                </a:solidFill>
                <a:latin typeface="Arial"/>
              </a:rPr>
              <a:t>PARTIE 05 · CHAPITRE 24</a:t>
            </a:r>
          </a:p>
        </p:txBody>
      </p:sp>
      <p:sp>
        <p:nvSpPr>
          <p:cNvPr id="4" name="TextBox 3" descr="Titre du chapitre : 24 · Ce qu’il ne faut jamais automatiser sans contrôle"/>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000" b="1" i="0">
                <a:solidFill>
                  <a:srgbClr val="F2F6FC"/>
                </a:solidFill>
                <a:latin typeface="Arial"/>
              </a:rPr>
              <a:t>24 · Ce qu’il ne faut jamais automatiser sans contrôle</a:t>
            </a:r>
          </a:p>
        </p:txBody>
      </p:sp>
      <p:sp>
        <p:nvSpPr>
          <p:cNvPr id="5" name="TextBox 4" descr="Objectif du chapitre : Conserver la maîtrise des actions publiques, financières et sensibles."/>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550" b="1" i="0">
                <a:solidFill>
                  <a:srgbClr val="C084FC"/>
                </a:solidFill>
                <a:latin typeface="Arial"/>
              </a:rPr>
              <a:t>Conserver la maîtrise des actions publiques, financières et sensibles.</a:t>
            </a:r>
          </a:p>
        </p:txBody>
      </p:sp>
      <p:sp>
        <p:nvSpPr>
          <p:cNvPr id="6" name="Rounded Rectangle 5" descr="Point 1 : Classez chaque action par réversibilité."/>
          <p:cNvSpPr/>
          <p:nvPr/>
        </p:nvSpPr>
        <p:spPr>
          <a:xfrm>
            <a:off x="566928" y="2331720"/>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de section"/>
          <p:cNvSpPr/>
          <p:nvPr/>
        </p:nvSpPr>
        <p:spPr>
          <a:xfrm>
            <a:off x="566928" y="2331720"/>
            <a:ext cx="64008" cy="713232"/>
          </a:xfrm>
          <a:prstGeom prst="rect">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Numéro d'étape 1"/>
          <p:cNvSpPr txBox="1"/>
          <p:nvPr/>
        </p:nvSpPr>
        <p:spPr>
          <a:xfrm>
            <a:off x="841247" y="2414016"/>
            <a:ext cx="822960" cy="548640"/>
          </a:xfrm>
          <a:prstGeom prst="rect">
            <a:avLst/>
          </a:prstGeom>
          <a:noFill/>
        </p:spPr>
        <p:txBody>
          <a:bodyPr wrap="square" lIns="0" rIns="0" tIns="0" bIns="0" anchor="ctr">
            <a:spAutoFit/>
          </a:bodyPr>
          <a:lstStyle/>
          <a:p>
            <a:pPr algn="l">
              <a:lnSpc>
                <a:spcPct val="112000"/>
              </a:lnSpc>
            </a:pPr>
            <a:r>
              <a:rPr sz="2400" b="1" i="0">
                <a:solidFill>
                  <a:srgbClr val="C084FC"/>
                </a:solidFill>
                <a:latin typeface="Arial"/>
              </a:rPr>
              <a:t>01</a:t>
            </a:r>
          </a:p>
        </p:txBody>
      </p:sp>
      <p:sp>
        <p:nvSpPr>
          <p:cNvPr id="9" name="TextBox 8" descr="Texte du point 1 : Classez chaque action par réversibilité."/>
          <p:cNvSpPr txBox="1"/>
          <p:nvPr/>
        </p:nvSpPr>
        <p:spPr>
          <a:xfrm>
            <a:off x="1755648" y="2386584"/>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Classez chaque action par réversibilité.</a:t>
            </a:r>
          </a:p>
        </p:txBody>
      </p:sp>
      <p:sp>
        <p:nvSpPr>
          <p:cNvPr id="10" name="Rounded Rectangle 9" descr="Point 2 : Identifiez données et règles."/>
          <p:cNvSpPr/>
          <p:nvPr/>
        </p:nvSpPr>
        <p:spPr>
          <a:xfrm>
            <a:off x="566928" y="3172968"/>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de section"/>
          <p:cNvSpPr/>
          <p:nvPr/>
        </p:nvSpPr>
        <p:spPr>
          <a:xfrm>
            <a:off x="566928" y="3172968"/>
            <a:ext cx="64008" cy="713232"/>
          </a:xfrm>
          <a:prstGeom prst="rect">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Numéro d'étape 2"/>
          <p:cNvSpPr txBox="1"/>
          <p:nvPr/>
        </p:nvSpPr>
        <p:spPr>
          <a:xfrm>
            <a:off x="841247" y="3255264"/>
            <a:ext cx="822960" cy="548640"/>
          </a:xfrm>
          <a:prstGeom prst="rect">
            <a:avLst/>
          </a:prstGeom>
          <a:noFill/>
        </p:spPr>
        <p:txBody>
          <a:bodyPr wrap="square" lIns="0" rIns="0" tIns="0" bIns="0" anchor="ctr">
            <a:spAutoFit/>
          </a:bodyPr>
          <a:lstStyle/>
          <a:p>
            <a:pPr algn="l">
              <a:lnSpc>
                <a:spcPct val="112000"/>
              </a:lnSpc>
            </a:pPr>
            <a:r>
              <a:rPr sz="2400" b="1" i="0">
                <a:solidFill>
                  <a:srgbClr val="C084FC"/>
                </a:solidFill>
                <a:latin typeface="Arial"/>
              </a:rPr>
              <a:t>02</a:t>
            </a:r>
          </a:p>
        </p:txBody>
      </p:sp>
      <p:sp>
        <p:nvSpPr>
          <p:cNvPr id="13" name="TextBox 12" descr="Texte du point 2 : Identifiez données et règles."/>
          <p:cNvSpPr txBox="1"/>
          <p:nvPr/>
        </p:nvSpPr>
        <p:spPr>
          <a:xfrm>
            <a:off x="1755648" y="3227832"/>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Identifiez données et règles.</a:t>
            </a:r>
          </a:p>
        </p:txBody>
      </p:sp>
      <p:sp>
        <p:nvSpPr>
          <p:cNvPr id="14" name="Rounded Rectangle 13" descr="Point 3 : Fixez les validations."/>
          <p:cNvSpPr/>
          <p:nvPr/>
        </p:nvSpPr>
        <p:spPr>
          <a:xfrm>
            <a:off x="566928" y="4014215"/>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Repère décoratif de section"/>
          <p:cNvSpPr/>
          <p:nvPr/>
        </p:nvSpPr>
        <p:spPr>
          <a:xfrm>
            <a:off x="566928" y="4014215"/>
            <a:ext cx="64008" cy="713232"/>
          </a:xfrm>
          <a:prstGeom prst="rect">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Numéro d'étape 3"/>
          <p:cNvSpPr txBox="1"/>
          <p:nvPr/>
        </p:nvSpPr>
        <p:spPr>
          <a:xfrm>
            <a:off x="841247" y="4096511"/>
            <a:ext cx="822960" cy="548640"/>
          </a:xfrm>
          <a:prstGeom prst="rect">
            <a:avLst/>
          </a:prstGeom>
          <a:noFill/>
        </p:spPr>
        <p:txBody>
          <a:bodyPr wrap="square" lIns="0" rIns="0" tIns="0" bIns="0" anchor="ctr">
            <a:spAutoFit/>
          </a:bodyPr>
          <a:lstStyle/>
          <a:p>
            <a:pPr algn="l">
              <a:lnSpc>
                <a:spcPct val="112000"/>
              </a:lnSpc>
            </a:pPr>
            <a:r>
              <a:rPr sz="2400" b="1" i="0">
                <a:solidFill>
                  <a:srgbClr val="C084FC"/>
                </a:solidFill>
                <a:latin typeface="Arial"/>
              </a:rPr>
              <a:t>03</a:t>
            </a:r>
          </a:p>
        </p:txBody>
      </p:sp>
      <p:sp>
        <p:nvSpPr>
          <p:cNvPr id="17" name="TextBox 16" descr="Texte du point 3 : Fixez les validations."/>
          <p:cNvSpPr txBox="1"/>
          <p:nvPr/>
        </p:nvSpPr>
        <p:spPr>
          <a:xfrm>
            <a:off x="1755648" y="4069079"/>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Fixez les validations.</a:t>
            </a:r>
          </a:p>
        </p:txBody>
      </p:sp>
      <p:sp>
        <p:nvSpPr>
          <p:cNvPr id="18" name="Rounded Rectangle 17" descr="Point 4 : Limitez permissions."/>
          <p:cNvSpPr/>
          <p:nvPr/>
        </p:nvSpPr>
        <p:spPr>
          <a:xfrm>
            <a:off x="566928" y="4855464"/>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descr="Repère décoratif de section"/>
          <p:cNvSpPr/>
          <p:nvPr/>
        </p:nvSpPr>
        <p:spPr>
          <a:xfrm>
            <a:off x="566928" y="4855464"/>
            <a:ext cx="64008" cy="713232"/>
          </a:xfrm>
          <a:prstGeom prst="rect">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descr="Numéro d'étape 4"/>
          <p:cNvSpPr txBox="1"/>
          <p:nvPr/>
        </p:nvSpPr>
        <p:spPr>
          <a:xfrm>
            <a:off x="841247" y="4937760"/>
            <a:ext cx="822960" cy="548640"/>
          </a:xfrm>
          <a:prstGeom prst="rect">
            <a:avLst/>
          </a:prstGeom>
          <a:noFill/>
        </p:spPr>
        <p:txBody>
          <a:bodyPr wrap="square" lIns="0" rIns="0" tIns="0" bIns="0" anchor="ctr">
            <a:spAutoFit/>
          </a:bodyPr>
          <a:lstStyle/>
          <a:p>
            <a:pPr algn="l">
              <a:lnSpc>
                <a:spcPct val="112000"/>
              </a:lnSpc>
            </a:pPr>
            <a:r>
              <a:rPr sz="2400" b="1" i="0">
                <a:solidFill>
                  <a:srgbClr val="C084FC"/>
                </a:solidFill>
                <a:latin typeface="Arial"/>
              </a:rPr>
              <a:t>04</a:t>
            </a:r>
          </a:p>
        </p:txBody>
      </p:sp>
      <p:sp>
        <p:nvSpPr>
          <p:cNvPr id="21" name="TextBox 20" descr="Texte du point 4 : Limitez permissions."/>
          <p:cNvSpPr txBox="1"/>
          <p:nvPr/>
        </p:nvSpPr>
        <p:spPr>
          <a:xfrm>
            <a:off x="1755648" y="4910328"/>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Limitez permissions.</a:t>
            </a:r>
          </a:p>
        </p:txBody>
      </p:sp>
      <p:sp>
        <p:nvSpPr>
          <p:cNvPr id="22" name="Rounded Rectangle 21" descr="Élément graphique décoratif, sans information propre"/>
          <p:cNvSpPr/>
          <p:nvPr/>
        </p:nvSpPr>
        <p:spPr>
          <a:xfrm>
            <a:off x="0" y="0"/>
            <a:ext cx="201168" cy="6858000"/>
          </a:xfrm>
          <a:prstGeom prst="roundRect">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descr="Référence de source affichée en pied de diapositive : Chapitre 24 — Ce qu’il ne faut jamais automatiser sans contrôle"/>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 24 — Ce qu’il ne faut jamais automatiser sans contrôle</a:t>
            </a:r>
          </a:p>
        </p:txBody>
      </p:sp>
      <p:sp>
        <p:nvSpPr>
          <p:cNvPr id="24" name="TextBox 23" descr="Numéro de diapositive 42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42 / 84  ·  2 min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Synthèse · partie 05"/>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C084FC"/>
                </a:solidFill>
                <a:latin typeface="Arial"/>
              </a:rPr>
              <a:t>SYNTHÈSE · PARTIE 05</a:t>
            </a:r>
          </a:p>
        </p:txBody>
      </p:sp>
      <p:sp>
        <p:nvSpPr>
          <p:cNvPr id="4" name="TextBox 3" descr="Titre : À retenir · partie 05"/>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600" b="1" i="0">
                <a:solidFill>
                  <a:srgbClr val="F2F6FC"/>
                </a:solidFill>
                <a:latin typeface="Arial"/>
              </a:rPr>
              <a:t>À retenir · partie 05</a:t>
            </a:r>
          </a:p>
        </p:txBody>
      </p:sp>
      <p:sp>
        <p:nvSpPr>
          <p:cNvPr id="5" name="TextBox 4" descr="Sous-titre : MESURER ET AUTOMATISER"/>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600" b="1" i="0">
                <a:solidFill>
                  <a:srgbClr val="C084FC"/>
                </a:solidFill>
                <a:latin typeface="Arial"/>
              </a:rPr>
              <a:t>MESURER ET AUTOMATISER</a:t>
            </a:r>
          </a:p>
        </p:txBody>
      </p:sp>
      <p:sp>
        <p:nvSpPr>
          <p:cNvPr id="6" name="Rounded Rectangle 5" descr="Point 1 : Lire des indicateurs selon leur définition plutôt que selon leur taille."/>
          <p:cNvSpPr/>
          <p:nvPr/>
        </p:nvSpPr>
        <p:spPr>
          <a:xfrm>
            <a:off x="566928" y="2212848"/>
            <a:ext cx="11064240" cy="59436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de section"/>
          <p:cNvSpPr/>
          <p:nvPr/>
        </p:nvSpPr>
        <p:spPr>
          <a:xfrm>
            <a:off x="566928" y="2212848"/>
            <a:ext cx="64008" cy="594360"/>
          </a:xfrm>
          <a:prstGeom prst="rect">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Numéro d'étape 1"/>
          <p:cNvSpPr txBox="1"/>
          <p:nvPr/>
        </p:nvSpPr>
        <p:spPr>
          <a:xfrm>
            <a:off x="841247" y="2235708"/>
            <a:ext cx="822960" cy="548640"/>
          </a:xfrm>
          <a:prstGeom prst="rect">
            <a:avLst/>
          </a:prstGeom>
          <a:noFill/>
        </p:spPr>
        <p:txBody>
          <a:bodyPr wrap="square" lIns="0" rIns="0" tIns="0" bIns="0" anchor="ctr">
            <a:spAutoFit/>
          </a:bodyPr>
          <a:lstStyle/>
          <a:p>
            <a:pPr algn="l">
              <a:lnSpc>
                <a:spcPct val="112000"/>
              </a:lnSpc>
            </a:pPr>
            <a:r>
              <a:rPr sz="2400" b="1" i="0">
                <a:solidFill>
                  <a:srgbClr val="C084FC"/>
                </a:solidFill>
                <a:latin typeface="Arial"/>
              </a:rPr>
              <a:t>01</a:t>
            </a:r>
          </a:p>
        </p:txBody>
      </p:sp>
      <p:sp>
        <p:nvSpPr>
          <p:cNvPr id="9" name="TextBox 8" descr="Texte du point 1 : Lire des indicateurs selon leur définition plutôt que selon leur taille."/>
          <p:cNvSpPr txBox="1"/>
          <p:nvPr/>
        </p:nvSpPr>
        <p:spPr>
          <a:xfrm>
            <a:off x="1755648" y="2267712"/>
            <a:ext cx="9646919" cy="484632"/>
          </a:xfrm>
          <a:prstGeom prst="rect">
            <a:avLst/>
          </a:prstGeom>
          <a:noFill/>
        </p:spPr>
        <p:txBody>
          <a:bodyPr wrap="square" lIns="0" rIns="0" tIns="0" bIns="0" anchor="ctr">
            <a:spAutoFit/>
          </a:bodyPr>
          <a:lstStyle/>
          <a:p>
            <a:pPr algn="l">
              <a:lnSpc>
                <a:spcPct val="112000"/>
              </a:lnSpc>
            </a:pPr>
            <a:r>
              <a:rPr sz="1500" b="0" i="0">
                <a:solidFill>
                  <a:srgbClr val="F2F6FC"/>
                </a:solidFill>
                <a:latin typeface="Arial"/>
              </a:rPr>
              <a:t>Lire des indicateurs selon leur définition plutôt que selon leur taille.</a:t>
            </a:r>
          </a:p>
        </p:txBody>
      </p:sp>
      <p:sp>
        <p:nvSpPr>
          <p:cNvPr id="10" name="Rounded Rectangle 9" descr="Point 2 : Améliorer une série au moyen d’hypothèses prudentes."/>
          <p:cNvSpPr/>
          <p:nvPr/>
        </p:nvSpPr>
        <p:spPr>
          <a:xfrm>
            <a:off x="566928" y="2916936"/>
            <a:ext cx="11064240" cy="59436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de section"/>
          <p:cNvSpPr/>
          <p:nvPr/>
        </p:nvSpPr>
        <p:spPr>
          <a:xfrm>
            <a:off x="566928" y="2916936"/>
            <a:ext cx="64008" cy="594360"/>
          </a:xfrm>
          <a:prstGeom prst="rect">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Numéro d'étape 2"/>
          <p:cNvSpPr txBox="1"/>
          <p:nvPr/>
        </p:nvSpPr>
        <p:spPr>
          <a:xfrm>
            <a:off x="841247" y="2939796"/>
            <a:ext cx="822960" cy="548640"/>
          </a:xfrm>
          <a:prstGeom prst="rect">
            <a:avLst/>
          </a:prstGeom>
          <a:noFill/>
        </p:spPr>
        <p:txBody>
          <a:bodyPr wrap="square" lIns="0" rIns="0" tIns="0" bIns="0" anchor="ctr">
            <a:spAutoFit/>
          </a:bodyPr>
          <a:lstStyle/>
          <a:p>
            <a:pPr algn="l">
              <a:lnSpc>
                <a:spcPct val="112000"/>
              </a:lnSpc>
            </a:pPr>
            <a:r>
              <a:rPr sz="2400" b="1" i="0">
                <a:solidFill>
                  <a:srgbClr val="C084FC"/>
                </a:solidFill>
                <a:latin typeface="Arial"/>
              </a:rPr>
              <a:t>02</a:t>
            </a:r>
          </a:p>
        </p:txBody>
      </p:sp>
      <p:sp>
        <p:nvSpPr>
          <p:cNvPr id="13" name="TextBox 12" descr="Texte du point 2 : Améliorer une série au moyen d’hypothèses prudentes."/>
          <p:cNvSpPr txBox="1"/>
          <p:nvPr/>
        </p:nvSpPr>
        <p:spPr>
          <a:xfrm>
            <a:off x="1755648" y="2971800"/>
            <a:ext cx="9646919" cy="484632"/>
          </a:xfrm>
          <a:prstGeom prst="rect">
            <a:avLst/>
          </a:prstGeom>
          <a:noFill/>
        </p:spPr>
        <p:txBody>
          <a:bodyPr wrap="square" lIns="0" rIns="0" tIns="0" bIns="0" anchor="ctr">
            <a:spAutoFit/>
          </a:bodyPr>
          <a:lstStyle/>
          <a:p>
            <a:pPr algn="l">
              <a:lnSpc>
                <a:spcPct val="112000"/>
              </a:lnSpc>
            </a:pPr>
            <a:r>
              <a:rPr sz="1500" b="0" i="0">
                <a:solidFill>
                  <a:srgbClr val="F2F6FC"/>
                </a:solidFill>
                <a:latin typeface="Arial"/>
              </a:rPr>
              <a:t>Améliorer une série au moyen d’hypothèses prudentes.</a:t>
            </a:r>
          </a:p>
        </p:txBody>
      </p:sp>
      <p:sp>
        <p:nvSpPr>
          <p:cNvPr id="14" name="Rounded Rectangle 13" descr="Point 3 : Choisir le minimum d’automatisation utile et sûr."/>
          <p:cNvSpPr/>
          <p:nvPr/>
        </p:nvSpPr>
        <p:spPr>
          <a:xfrm>
            <a:off x="566928" y="3621024"/>
            <a:ext cx="11064240" cy="59436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Repère décoratif de section"/>
          <p:cNvSpPr/>
          <p:nvPr/>
        </p:nvSpPr>
        <p:spPr>
          <a:xfrm>
            <a:off x="566928" y="3621024"/>
            <a:ext cx="64008" cy="594360"/>
          </a:xfrm>
          <a:prstGeom prst="rect">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Numéro d'étape 3"/>
          <p:cNvSpPr txBox="1"/>
          <p:nvPr/>
        </p:nvSpPr>
        <p:spPr>
          <a:xfrm>
            <a:off x="841247" y="3643884"/>
            <a:ext cx="822960" cy="548640"/>
          </a:xfrm>
          <a:prstGeom prst="rect">
            <a:avLst/>
          </a:prstGeom>
          <a:noFill/>
        </p:spPr>
        <p:txBody>
          <a:bodyPr wrap="square" lIns="0" rIns="0" tIns="0" bIns="0" anchor="ctr">
            <a:spAutoFit/>
          </a:bodyPr>
          <a:lstStyle/>
          <a:p>
            <a:pPr algn="l">
              <a:lnSpc>
                <a:spcPct val="112000"/>
              </a:lnSpc>
            </a:pPr>
            <a:r>
              <a:rPr sz="2400" b="1" i="0">
                <a:solidFill>
                  <a:srgbClr val="C084FC"/>
                </a:solidFill>
                <a:latin typeface="Arial"/>
              </a:rPr>
              <a:t>03</a:t>
            </a:r>
          </a:p>
        </p:txBody>
      </p:sp>
      <p:sp>
        <p:nvSpPr>
          <p:cNvPr id="17" name="TextBox 16" descr="Texte du point 3 : Choisir le minimum d’automatisation utile et sûr."/>
          <p:cNvSpPr txBox="1"/>
          <p:nvPr/>
        </p:nvSpPr>
        <p:spPr>
          <a:xfrm>
            <a:off x="1755648" y="3675887"/>
            <a:ext cx="9646919" cy="484632"/>
          </a:xfrm>
          <a:prstGeom prst="rect">
            <a:avLst/>
          </a:prstGeom>
          <a:noFill/>
        </p:spPr>
        <p:txBody>
          <a:bodyPr wrap="square" lIns="0" rIns="0" tIns="0" bIns="0" anchor="ctr">
            <a:spAutoFit/>
          </a:bodyPr>
          <a:lstStyle/>
          <a:p>
            <a:pPr algn="l">
              <a:lnSpc>
                <a:spcPct val="112000"/>
              </a:lnSpc>
            </a:pPr>
            <a:r>
              <a:rPr sz="1500" b="0" i="0">
                <a:solidFill>
                  <a:srgbClr val="F2F6FC"/>
                </a:solidFill>
                <a:latin typeface="Arial"/>
              </a:rPr>
              <a:t>Choisir le minimum d’automatisation utile et sûr.</a:t>
            </a:r>
          </a:p>
        </p:txBody>
      </p:sp>
      <p:sp>
        <p:nvSpPr>
          <p:cNvPr id="18" name="Rounded Rectangle 17" descr="Point 4 : Définir une mission d’agent contrôlable et sourcée."/>
          <p:cNvSpPr/>
          <p:nvPr/>
        </p:nvSpPr>
        <p:spPr>
          <a:xfrm>
            <a:off x="566928" y="4325112"/>
            <a:ext cx="11064240" cy="59436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descr="Repère décoratif de section"/>
          <p:cNvSpPr/>
          <p:nvPr/>
        </p:nvSpPr>
        <p:spPr>
          <a:xfrm>
            <a:off x="566928" y="4325112"/>
            <a:ext cx="64008" cy="594360"/>
          </a:xfrm>
          <a:prstGeom prst="rect">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descr="Numéro d'étape 4"/>
          <p:cNvSpPr txBox="1"/>
          <p:nvPr/>
        </p:nvSpPr>
        <p:spPr>
          <a:xfrm>
            <a:off x="841247" y="4347972"/>
            <a:ext cx="822960" cy="548640"/>
          </a:xfrm>
          <a:prstGeom prst="rect">
            <a:avLst/>
          </a:prstGeom>
          <a:noFill/>
        </p:spPr>
        <p:txBody>
          <a:bodyPr wrap="square" lIns="0" rIns="0" tIns="0" bIns="0" anchor="ctr">
            <a:spAutoFit/>
          </a:bodyPr>
          <a:lstStyle/>
          <a:p>
            <a:pPr algn="l">
              <a:lnSpc>
                <a:spcPct val="112000"/>
              </a:lnSpc>
            </a:pPr>
            <a:r>
              <a:rPr sz="2400" b="1" i="0">
                <a:solidFill>
                  <a:srgbClr val="C084FC"/>
                </a:solidFill>
                <a:latin typeface="Arial"/>
              </a:rPr>
              <a:t>04</a:t>
            </a:r>
          </a:p>
        </p:txBody>
      </p:sp>
      <p:sp>
        <p:nvSpPr>
          <p:cNvPr id="21" name="TextBox 20" descr="Texte du point 4 : Définir une mission d’agent contrôlable et sourcée."/>
          <p:cNvSpPr txBox="1"/>
          <p:nvPr/>
        </p:nvSpPr>
        <p:spPr>
          <a:xfrm>
            <a:off x="1755648" y="4379976"/>
            <a:ext cx="9646919" cy="484632"/>
          </a:xfrm>
          <a:prstGeom prst="rect">
            <a:avLst/>
          </a:prstGeom>
          <a:noFill/>
        </p:spPr>
        <p:txBody>
          <a:bodyPr wrap="square" lIns="0" rIns="0" tIns="0" bIns="0" anchor="ctr">
            <a:spAutoFit/>
          </a:bodyPr>
          <a:lstStyle/>
          <a:p>
            <a:pPr algn="l">
              <a:lnSpc>
                <a:spcPct val="112000"/>
              </a:lnSpc>
            </a:pPr>
            <a:r>
              <a:rPr sz="1500" b="0" i="0">
                <a:solidFill>
                  <a:srgbClr val="F2F6FC"/>
                </a:solidFill>
                <a:latin typeface="Arial"/>
              </a:rPr>
              <a:t>Définir une mission d’agent contrôlable et sourcée.</a:t>
            </a:r>
          </a:p>
        </p:txBody>
      </p:sp>
      <p:sp>
        <p:nvSpPr>
          <p:cNvPr id="22" name="Rounded Rectangle 21" descr="Point 5 : Conserver la maîtrise des actions publiques, financières et sensibles."/>
          <p:cNvSpPr/>
          <p:nvPr/>
        </p:nvSpPr>
        <p:spPr>
          <a:xfrm>
            <a:off x="566928" y="5029200"/>
            <a:ext cx="11064240" cy="59436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descr="Repère décoratif de section"/>
          <p:cNvSpPr/>
          <p:nvPr/>
        </p:nvSpPr>
        <p:spPr>
          <a:xfrm>
            <a:off x="566928" y="5029200"/>
            <a:ext cx="64008" cy="594360"/>
          </a:xfrm>
          <a:prstGeom prst="rect">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descr="Numéro d'étape 5"/>
          <p:cNvSpPr txBox="1"/>
          <p:nvPr/>
        </p:nvSpPr>
        <p:spPr>
          <a:xfrm>
            <a:off x="841247" y="5052060"/>
            <a:ext cx="822960" cy="548640"/>
          </a:xfrm>
          <a:prstGeom prst="rect">
            <a:avLst/>
          </a:prstGeom>
          <a:noFill/>
        </p:spPr>
        <p:txBody>
          <a:bodyPr wrap="square" lIns="0" rIns="0" tIns="0" bIns="0" anchor="ctr">
            <a:spAutoFit/>
          </a:bodyPr>
          <a:lstStyle/>
          <a:p>
            <a:pPr algn="l">
              <a:lnSpc>
                <a:spcPct val="112000"/>
              </a:lnSpc>
            </a:pPr>
            <a:r>
              <a:rPr sz="2400" b="1" i="0">
                <a:solidFill>
                  <a:srgbClr val="C084FC"/>
                </a:solidFill>
                <a:latin typeface="Arial"/>
              </a:rPr>
              <a:t>05</a:t>
            </a:r>
          </a:p>
        </p:txBody>
      </p:sp>
      <p:sp>
        <p:nvSpPr>
          <p:cNvPr id="25" name="TextBox 24" descr="Texte du point 5 : Conserver la maîtrise des actions publiques, financières et sensibles."/>
          <p:cNvSpPr txBox="1"/>
          <p:nvPr/>
        </p:nvSpPr>
        <p:spPr>
          <a:xfrm>
            <a:off x="1755648" y="5084064"/>
            <a:ext cx="9646919" cy="484632"/>
          </a:xfrm>
          <a:prstGeom prst="rect">
            <a:avLst/>
          </a:prstGeom>
          <a:noFill/>
        </p:spPr>
        <p:txBody>
          <a:bodyPr wrap="square" lIns="0" rIns="0" tIns="0" bIns="0" anchor="ctr">
            <a:spAutoFit/>
          </a:bodyPr>
          <a:lstStyle/>
          <a:p>
            <a:pPr algn="l">
              <a:lnSpc>
                <a:spcPct val="112000"/>
              </a:lnSpc>
            </a:pPr>
            <a:r>
              <a:rPr sz="1500" b="0" i="0">
                <a:solidFill>
                  <a:srgbClr val="F2F6FC"/>
                </a:solidFill>
                <a:latin typeface="Arial"/>
              </a:rPr>
              <a:t>Conserver la maîtrise des actions publiques, financières et sensibles.</a:t>
            </a:r>
          </a:p>
        </p:txBody>
      </p:sp>
      <p:sp>
        <p:nvSpPr>
          <p:cNvPr id="26" name="Rounded Rectangle 25" descr="Élément graphique décoratif, sans information propre"/>
          <p:cNvSpPr/>
          <p:nvPr/>
        </p:nvSpPr>
        <p:spPr>
          <a:xfrm>
            <a:off x="0" y="0"/>
            <a:ext cx="201168" cy="6858000"/>
          </a:xfrm>
          <a:prstGeom prst="roundRect">
            <a:avLst/>
          </a:prstGeom>
          <a:solidFill>
            <a:srgbClr val="C08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descr="Référence de source affichée en pied de diapositive : Chapitres 20–24"/>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Chapitres 20–24</a:t>
            </a:r>
          </a:p>
        </p:txBody>
      </p:sp>
      <p:sp>
        <p:nvSpPr>
          <p:cNvPr id="28" name="TextBox 27" descr="Numéro de diapositive 43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43 / 84  ·  2 min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descr="Élément graphique décoratif, sans information propr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descr="Bandeau supérieur de partie"/>
          <p:cNvSpPr/>
          <p:nvPr/>
        </p:nvSpPr>
        <p:spPr>
          <a:xfrm>
            <a:off x="0" y="0"/>
            <a:ext cx="12191695" cy="256032"/>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descr="Titre de section : PARTIE 06"/>
          <p:cNvSpPr txBox="1"/>
          <p:nvPr/>
        </p:nvSpPr>
        <p:spPr>
          <a:xfrm>
            <a:off x="822960" y="2148840"/>
            <a:ext cx="8357616" cy="1097280"/>
          </a:xfrm>
          <a:prstGeom prst="rect">
            <a:avLst/>
          </a:prstGeom>
          <a:noFill/>
        </p:spPr>
        <p:txBody>
          <a:bodyPr wrap="square" lIns="0" rIns="0" tIns="0" bIns="0" anchor="t">
            <a:spAutoFit/>
          </a:bodyPr>
          <a:lstStyle/>
          <a:p>
            <a:pPr algn="l">
              <a:lnSpc>
                <a:spcPct val="106000"/>
              </a:lnSpc>
            </a:pPr>
            <a:r>
              <a:rPr sz="5600" b="1" i="0">
                <a:solidFill>
                  <a:srgbClr val="F2F6FC"/>
                </a:solidFill>
                <a:latin typeface="Arial"/>
              </a:rPr>
              <a:t>PARTIE 06</a:t>
            </a:r>
          </a:p>
        </p:txBody>
      </p:sp>
      <p:sp>
        <p:nvSpPr>
          <p:cNvPr id="6" name="TextBox 5" descr="Sous-titre de section : MONÉTISER"/>
          <p:cNvSpPr txBox="1"/>
          <p:nvPr/>
        </p:nvSpPr>
        <p:spPr>
          <a:xfrm>
            <a:off x="822960" y="3291840"/>
            <a:ext cx="10058400" cy="1463040"/>
          </a:xfrm>
          <a:prstGeom prst="rect">
            <a:avLst/>
          </a:prstGeom>
          <a:noFill/>
        </p:spPr>
        <p:txBody>
          <a:bodyPr wrap="square" lIns="0" rIns="0" tIns="0" bIns="0" anchor="t">
            <a:spAutoFit/>
          </a:bodyPr>
          <a:lstStyle/>
          <a:p>
            <a:pPr algn="l">
              <a:lnSpc>
                <a:spcPct val="112000"/>
              </a:lnSpc>
            </a:pPr>
            <a:r>
              <a:rPr sz="3000" b="1" i="0">
                <a:solidFill>
                  <a:srgbClr val="2DD4BF"/>
                </a:solidFill>
                <a:latin typeface="Arial"/>
              </a:rPr>
              <a:t>MONÉTISER</a:t>
            </a:r>
          </a:p>
        </p:txBody>
      </p:sp>
      <p:sp>
        <p:nvSpPr>
          <p:cNvPr id="7" name="Rounded Rectangle 6" descr="Élément graphique décoratif, sans information propre"/>
          <p:cNvSpPr/>
          <p:nvPr/>
        </p:nvSpPr>
        <p:spPr>
          <a:xfrm>
            <a:off x="0" y="0"/>
            <a:ext cx="201168" cy="6858000"/>
          </a:xfrm>
          <a:prstGeom prst="round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Référence de source affichée en pied de diapositive : Partie 6 du DOCX"/>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Partie 6 du DOCX</a:t>
            </a:r>
          </a:p>
        </p:txBody>
      </p:sp>
      <p:sp>
        <p:nvSpPr>
          <p:cNvPr id="9" name="TextBox 8" descr="Numéro de diapositive 44 sur 84, durée prévue 1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44 / 84  ·  1 min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Partie 06 · chapitre 25"/>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2DD4BF"/>
                </a:solidFill>
                <a:latin typeface="Arial"/>
              </a:rPr>
              <a:t>PARTIE 06 · CHAPITRE 25</a:t>
            </a:r>
          </a:p>
        </p:txBody>
      </p:sp>
      <p:sp>
        <p:nvSpPr>
          <p:cNvPr id="4" name="TextBox 3" descr="Titre du chapitre : 25 · Audience, confiance, offre et vente"/>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200" b="1" i="0">
                <a:solidFill>
                  <a:srgbClr val="F2F6FC"/>
                </a:solidFill>
                <a:latin typeface="Arial"/>
              </a:rPr>
              <a:t>25 · Audience, confiance, offre et vente</a:t>
            </a:r>
          </a:p>
        </p:txBody>
      </p:sp>
      <p:sp>
        <p:nvSpPr>
          <p:cNvPr id="5" name="TextBox 4" descr="Objectif du chapitre : Passer d’une relation utile à un livrable commercial clair."/>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550" b="1" i="0">
                <a:solidFill>
                  <a:srgbClr val="2DD4BF"/>
                </a:solidFill>
                <a:latin typeface="Arial"/>
              </a:rPr>
              <a:t>Passer d’une relation utile à un livrable commercial clair.</a:t>
            </a:r>
          </a:p>
        </p:txBody>
      </p:sp>
      <p:sp>
        <p:nvSpPr>
          <p:cNvPr id="6" name="Rounded Rectangle 5" descr="Point 1 : Décrivez le besoin observé."/>
          <p:cNvSpPr/>
          <p:nvPr/>
        </p:nvSpPr>
        <p:spPr>
          <a:xfrm>
            <a:off x="566928" y="2331720"/>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de section"/>
          <p:cNvSpPr/>
          <p:nvPr/>
        </p:nvSpPr>
        <p:spPr>
          <a:xfrm>
            <a:off x="566928" y="2331720"/>
            <a:ext cx="64008" cy="713232"/>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Numéro d'étape 1"/>
          <p:cNvSpPr txBox="1"/>
          <p:nvPr/>
        </p:nvSpPr>
        <p:spPr>
          <a:xfrm>
            <a:off x="841247" y="2414016"/>
            <a:ext cx="822960" cy="548640"/>
          </a:xfrm>
          <a:prstGeom prst="rect">
            <a:avLst/>
          </a:prstGeom>
          <a:noFill/>
        </p:spPr>
        <p:txBody>
          <a:bodyPr wrap="square" lIns="0" rIns="0" tIns="0" bIns="0" anchor="ctr">
            <a:spAutoFit/>
          </a:bodyPr>
          <a:lstStyle/>
          <a:p>
            <a:pPr algn="l">
              <a:lnSpc>
                <a:spcPct val="112000"/>
              </a:lnSpc>
            </a:pPr>
            <a:r>
              <a:rPr sz="2400" b="1" i="0">
                <a:solidFill>
                  <a:srgbClr val="2DD4BF"/>
                </a:solidFill>
                <a:latin typeface="Arial"/>
              </a:rPr>
              <a:t>01</a:t>
            </a:r>
          </a:p>
        </p:txBody>
      </p:sp>
      <p:sp>
        <p:nvSpPr>
          <p:cNvPr id="9" name="TextBox 8" descr="Texte du point 1 : Décrivez le besoin observé."/>
          <p:cNvSpPr txBox="1"/>
          <p:nvPr/>
        </p:nvSpPr>
        <p:spPr>
          <a:xfrm>
            <a:off x="1755648" y="2386584"/>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Décrivez le besoin observé.</a:t>
            </a:r>
          </a:p>
        </p:txBody>
      </p:sp>
      <p:sp>
        <p:nvSpPr>
          <p:cNvPr id="10" name="Rounded Rectangle 9" descr="Point 2 : Écrivez l’offre pilote."/>
          <p:cNvSpPr/>
          <p:nvPr/>
        </p:nvSpPr>
        <p:spPr>
          <a:xfrm>
            <a:off x="566928" y="3172968"/>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de section"/>
          <p:cNvSpPr/>
          <p:nvPr/>
        </p:nvSpPr>
        <p:spPr>
          <a:xfrm>
            <a:off x="566928" y="3172968"/>
            <a:ext cx="64008" cy="713232"/>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Numéro d'étape 2"/>
          <p:cNvSpPr txBox="1"/>
          <p:nvPr/>
        </p:nvSpPr>
        <p:spPr>
          <a:xfrm>
            <a:off x="841247" y="3255264"/>
            <a:ext cx="822960" cy="548640"/>
          </a:xfrm>
          <a:prstGeom prst="rect">
            <a:avLst/>
          </a:prstGeom>
          <a:noFill/>
        </p:spPr>
        <p:txBody>
          <a:bodyPr wrap="square" lIns="0" rIns="0" tIns="0" bIns="0" anchor="ctr">
            <a:spAutoFit/>
          </a:bodyPr>
          <a:lstStyle/>
          <a:p>
            <a:pPr algn="l">
              <a:lnSpc>
                <a:spcPct val="112000"/>
              </a:lnSpc>
            </a:pPr>
            <a:r>
              <a:rPr sz="2400" b="1" i="0">
                <a:solidFill>
                  <a:srgbClr val="2DD4BF"/>
                </a:solidFill>
                <a:latin typeface="Arial"/>
              </a:rPr>
              <a:t>02</a:t>
            </a:r>
          </a:p>
        </p:txBody>
      </p:sp>
      <p:sp>
        <p:nvSpPr>
          <p:cNvPr id="13" name="TextBox 12" descr="Texte du point 2 : Écrivez l’offre pilote."/>
          <p:cNvSpPr txBox="1"/>
          <p:nvPr/>
        </p:nvSpPr>
        <p:spPr>
          <a:xfrm>
            <a:off x="1755648" y="3227832"/>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Écrivez l’offre pilote.</a:t>
            </a:r>
          </a:p>
        </p:txBody>
      </p:sp>
      <p:sp>
        <p:nvSpPr>
          <p:cNvPr id="14" name="Rounded Rectangle 13" descr="Point 3 : Délimitez le livrable et les exclusions."/>
          <p:cNvSpPr/>
          <p:nvPr/>
        </p:nvSpPr>
        <p:spPr>
          <a:xfrm>
            <a:off x="566928" y="4014215"/>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Repère décoratif de section"/>
          <p:cNvSpPr/>
          <p:nvPr/>
        </p:nvSpPr>
        <p:spPr>
          <a:xfrm>
            <a:off x="566928" y="4014215"/>
            <a:ext cx="64008" cy="713232"/>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Numéro d'étape 3"/>
          <p:cNvSpPr txBox="1"/>
          <p:nvPr/>
        </p:nvSpPr>
        <p:spPr>
          <a:xfrm>
            <a:off x="841247" y="4096511"/>
            <a:ext cx="822960" cy="548640"/>
          </a:xfrm>
          <a:prstGeom prst="rect">
            <a:avLst/>
          </a:prstGeom>
          <a:noFill/>
        </p:spPr>
        <p:txBody>
          <a:bodyPr wrap="square" lIns="0" rIns="0" tIns="0" bIns="0" anchor="ctr">
            <a:spAutoFit/>
          </a:bodyPr>
          <a:lstStyle/>
          <a:p>
            <a:pPr algn="l">
              <a:lnSpc>
                <a:spcPct val="112000"/>
              </a:lnSpc>
            </a:pPr>
            <a:r>
              <a:rPr sz="2400" b="1" i="0">
                <a:solidFill>
                  <a:srgbClr val="2DD4BF"/>
                </a:solidFill>
                <a:latin typeface="Arial"/>
              </a:rPr>
              <a:t>03</a:t>
            </a:r>
          </a:p>
        </p:txBody>
      </p:sp>
      <p:sp>
        <p:nvSpPr>
          <p:cNvPr id="17" name="TextBox 16" descr="Texte du point 3 : Délimitez le livrable et les exclusions."/>
          <p:cNvSpPr txBox="1"/>
          <p:nvPr/>
        </p:nvSpPr>
        <p:spPr>
          <a:xfrm>
            <a:off x="1755648" y="4069079"/>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Délimitez le livrable et les exclusions.</a:t>
            </a:r>
          </a:p>
        </p:txBody>
      </p:sp>
      <p:sp>
        <p:nvSpPr>
          <p:cNvPr id="18" name="Rounded Rectangle 17" descr="Point 4 : Vérifiez le paiement."/>
          <p:cNvSpPr/>
          <p:nvPr/>
        </p:nvSpPr>
        <p:spPr>
          <a:xfrm>
            <a:off x="566928" y="4855464"/>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descr="Repère décoratif de section"/>
          <p:cNvSpPr/>
          <p:nvPr/>
        </p:nvSpPr>
        <p:spPr>
          <a:xfrm>
            <a:off x="566928" y="4855464"/>
            <a:ext cx="64008" cy="713232"/>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descr="Numéro d'étape 4"/>
          <p:cNvSpPr txBox="1"/>
          <p:nvPr/>
        </p:nvSpPr>
        <p:spPr>
          <a:xfrm>
            <a:off x="841247" y="4937760"/>
            <a:ext cx="822960" cy="548640"/>
          </a:xfrm>
          <a:prstGeom prst="rect">
            <a:avLst/>
          </a:prstGeom>
          <a:noFill/>
        </p:spPr>
        <p:txBody>
          <a:bodyPr wrap="square" lIns="0" rIns="0" tIns="0" bIns="0" anchor="ctr">
            <a:spAutoFit/>
          </a:bodyPr>
          <a:lstStyle/>
          <a:p>
            <a:pPr algn="l">
              <a:lnSpc>
                <a:spcPct val="112000"/>
              </a:lnSpc>
            </a:pPr>
            <a:r>
              <a:rPr sz="2400" b="1" i="0">
                <a:solidFill>
                  <a:srgbClr val="2DD4BF"/>
                </a:solidFill>
                <a:latin typeface="Arial"/>
              </a:rPr>
              <a:t>04</a:t>
            </a:r>
          </a:p>
        </p:txBody>
      </p:sp>
      <p:sp>
        <p:nvSpPr>
          <p:cNvPr id="21" name="TextBox 20" descr="Texte du point 4 : Vérifiez le paiement."/>
          <p:cNvSpPr txBox="1"/>
          <p:nvPr/>
        </p:nvSpPr>
        <p:spPr>
          <a:xfrm>
            <a:off x="1755648" y="4910328"/>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Vérifiez le paiement.</a:t>
            </a:r>
          </a:p>
        </p:txBody>
      </p:sp>
      <p:sp>
        <p:nvSpPr>
          <p:cNvPr id="22" name="Rounded Rectangle 21" descr="Élément graphique décoratif, sans information propre"/>
          <p:cNvSpPr/>
          <p:nvPr/>
        </p:nvSpPr>
        <p:spPr>
          <a:xfrm>
            <a:off x="0" y="0"/>
            <a:ext cx="201168" cy="6858000"/>
          </a:xfrm>
          <a:prstGeom prst="round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descr="Référence de source affichée en pied de diapositive : Chapitre 25 — Audience, confiance, offre et vente"/>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 25 — Audience, confiance, offre et vente</a:t>
            </a:r>
          </a:p>
        </p:txBody>
      </p:sp>
      <p:sp>
        <p:nvSpPr>
          <p:cNvPr id="24" name="TextBox 23" descr="Numéro de diapositive 45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45 / 84  ·  2 min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Atelier · partie 06 · chapitre 25"/>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2DD4BF"/>
                </a:solidFill>
                <a:latin typeface="Arial"/>
              </a:rPr>
              <a:t>ATELIER · PARTIE 06 · CHAPITRE 25</a:t>
            </a:r>
          </a:p>
        </p:txBody>
      </p:sp>
      <p:sp>
        <p:nvSpPr>
          <p:cNvPr id="4" name="TextBox 3" descr="Titre de l'atelier : Atelier · Audience, confiance, offre et vente"/>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400" b="1" i="0">
                <a:solidFill>
                  <a:srgbClr val="F2F6FC"/>
                </a:solidFill>
                <a:latin typeface="Arial"/>
              </a:rPr>
              <a:t>Atelier · Audience, confiance, offre et vente</a:t>
            </a:r>
          </a:p>
        </p:txBody>
      </p:sp>
      <p:sp>
        <p:nvSpPr>
          <p:cNvPr id="5" name="TextBox 4" descr="Consigne cadre : Une décision à documenter, pas un résultat à promettre"/>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600" b="1" i="0">
                <a:solidFill>
                  <a:srgbClr val="2DD4BF"/>
                </a:solidFill>
                <a:latin typeface="Arial"/>
              </a:rPr>
              <a:t>Une décision à documenter, pas un résultat à promettre</a:t>
            </a:r>
          </a:p>
        </p:txBody>
      </p:sp>
      <p:sp>
        <p:nvSpPr>
          <p:cNvPr id="6" name="Rounded Rectangle 5" descr="Consigne d'atelier : Rédigez livrable, délai et exclusions d’une offre test."/>
          <p:cNvSpPr/>
          <p:nvPr/>
        </p:nvSpPr>
        <p:spPr>
          <a:xfrm>
            <a:off x="566928" y="2377440"/>
            <a:ext cx="11064240" cy="219456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descr="Consigne d'atelier : Rédigez livrable, délai et exclusions d’une offre test."/>
          <p:cNvSpPr txBox="1"/>
          <p:nvPr/>
        </p:nvSpPr>
        <p:spPr>
          <a:xfrm>
            <a:off x="960120" y="2651760"/>
            <a:ext cx="10332720" cy="1737360"/>
          </a:xfrm>
          <a:prstGeom prst="rect">
            <a:avLst/>
          </a:prstGeom>
          <a:noFill/>
        </p:spPr>
        <p:txBody>
          <a:bodyPr wrap="square" lIns="0" rIns="0" tIns="0" bIns="0" anchor="ctr">
            <a:spAutoFit/>
          </a:bodyPr>
          <a:lstStyle/>
          <a:p>
            <a:pPr algn="l">
              <a:lnSpc>
                <a:spcPct val="112000"/>
              </a:lnSpc>
            </a:pPr>
            <a:r>
              <a:rPr sz="2400" b="1" i="0">
                <a:solidFill>
                  <a:srgbClr val="F2F6FC"/>
                </a:solidFill>
                <a:latin typeface="Arial"/>
              </a:rPr>
              <a:t>Rédigez livrable, délai et exclusions d’une offre test.</a:t>
            </a:r>
          </a:p>
        </p:txBody>
      </p:sp>
      <p:sp>
        <p:nvSpPr>
          <p:cNvPr id="8" name="Rounded Rectangle 7" descr="Bandeau d'information : Aucun exemple du livre ne doit être présenté comme un témoignage réel : il est annoncé comme simulation pédagogique."/>
          <p:cNvSpPr/>
          <p:nvPr/>
        </p:nvSpPr>
        <p:spPr>
          <a:xfrm>
            <a:off x="566928" y="5623560"/>
            <a:ext cx="11064240" cy="658368"/>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descr="Texte du bandeau : Aucun exemple du livre ne doit être présenté comme un témoignage réel : il est annoncé comme simulation pédagogique."/>
          <p:cNvSpPr txBox="1"/>
          <p:nvPr/>
        </p:nvSpPr>
        <p:spPr>
          <a:xfrm>
            <a:off x="822960" y="5669280"/>
            <a:ext cx="10607040" cy="566928"/>
          </a:xfrm>
          <a:prstGeom prst="rect">
            <a:avLst/>
          </a:prstGeom>
          <a:noFill/>
        </p:spPr>
        <p:txBody>
          <a:bodyPr wrap="square" lIns="0" rIns="0" tIns="0" bIns="0" anchor="ctr">
            <a:spAutoFit/>
          </a:bodyPr>
          <a:lstStyle/>
          <a:p>
            <a:pPr algn="l">
              <a:lnSpc>
                <a:spcPct val="112000"/>
              </a:lnSpc>
            </a:pPr>
            <a:r>
              <a:rPr sz="1550" b="1" i="0">
                <a:solidFill>
                  <a:srgbClr val="2DD4BF"/>
                </a:solidFill>
                <a:latin typeface="Arial"/>
              </a:rPr>
              <a:t>Aucun exemple du livre ne doit être présenté comme un témoignage réel : il est annoncé comme simulation pédagogique.</a:t>
            </a:r>
          </a:p>
        </p:txBody>
      </p:sp>
      <p:sp>
        <p:nvSpPr>
          <p:cNvPr id="10" name="Rounded Rectangle 9" descr="Élément graphique décoratif, sans information propre"/>
          <p:cNvSpPr/>
          <p:nvPr/>
        </p:nvSpPr>
        <p:spPr>
          <a:xfrm>
            <a:off x="0" y="0"/>
            <a:ext cx="201168" cy="6858000"/>
          </a:xfrm>
          <a:prstGeom prst="round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descr="Référence de source affichée en pied de diapositive : Chapitre 25 (exemple/exercice adapté)"/>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 25 (exemple/exercice adapté)</a:t>
            </a:r>
          </a:p>
        </p:txBody>
      </p:sp>
      <p:sp>
        <p:nvSpPr>
          <p:cNvPr id="12" name="TextBox 11" descr="Numéro de diapositive 46 sur 84, durée prévue 4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46 / 84  ·  4 min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Partie 06 · chapitre 26"/>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2DD4BF"/>
                </a:solidFill>
                <a:latin typeface="Arial"/>
              </a:rPr>
              <a:t>PARTIE 06 · CHAPITRE 26</a:t>
            </a:r>
          </a:p>
        </p:txBody>
      </p:sp>
      <p:sp>
        <p:nvSpPr>
          <p:cNvPr id="4" name="TextBox 3" descr="Titre du chapitre : 26 · Monétisation native des plateformes"/>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200" b="1" i="0">
                <a:solidFill>
                  <a:srgbClr val="F2F6FC"/>
                </a:solidFill>
                <a:latin typeface="Arial"/>
              </a:rPr>
              <a:t>26 · Monétisation native des plateformes</a:t>
            </a:r>
          </a:p>
        </p:txBody>
      </p:sp>
      <p:sp>
        <p:nvSpPr>
          <p:cNvPr id="5" name="TextBox 4" descr="Objectif du chapitre : Distinguer programmes internes et ventes à l’audience."/>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550" b="1" i="0">
                <a:solidFill>
                  <a:srgbClr val="2DD4BF"/>
                </a:solidFill>
                <a:latin typeface="Arial"/>
              </a:rPr>
              <a:t>Distinguer programmes internes et ventes à l’audience.</a:t>
            </a:r>
          </a:p>
        </p:txBody>
      </p:sp>
      <p:sp>
        <p:nvSpPr>
          <p:cNvPr id="6" name="Rounded Rectangle 5" descr="Point 1 : Nommez le programme exact."/>
          <p:cNvSpPr/>
          <p:nvPr/>
        </p:nvSpPr>
        <p:spPr>
          <a:xfrm>
            <a:off x="566928" y="2331720"/>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de section"/>
          <p:cNvSpPr/>
          <p:nvPr/>
        </p:nvSpPr>
        <p:spPr>
          <a:xfrm>
            <a:off x="566928" y="2331720"/>
            <a:ext cx="64008" cy="713232"/>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Numéro d'étape 1"/>
          <p:cNvSpPr txBox="1"/>
          <p:nvPr/>
        </p:nvSpPr>
        <p:spPr>
          <a:xfrm>
            <a:off x="841247" y="2414016"/>
            <a:ext cx="822960" cy="548640"/>
          </a:xfrm>
          <a:prstGeom prst="rect">
            <a:avLst/>
          </a:prstGeom>
          <a:noFill/>
        </p:spPr>
        <p:txBody>
          <a:bodyPr wrap="square" lIns="0" rIns="0" tIns="0" bIns="0" anchor="ctr">
            <a:spAutoFit/>
          </a:bodyPr>
          <a:lstStyle/>
          <a:p>
            <a:pPr algn="l">
              <a:lnSpc>
                <a:spcPct val="112000"/>
              </a:lnSpc>
            </a:pPr>
            <a:r>
              <a:rPr sz="2400" b="1" i="0">
                <a:solidFill>
                  <a:srgbClr val="2DD4BF"/>
                </a:solidFill>
                <a:latin typeface="Arial"/>
              </a:rPr>
              <a:t>01</a:t>
            </a:r>
          </a:p>
        </p:txBody>
      </p:sp>
      <p:sp>
        <p:nvSpPr>
          <p:cNvPr id="9" name="TextBox 8" descr="Texte du point 1 : Nommez le programme exact."/>
          <p:cNvSpPr txBox="1"/>
          <p:nvPr/>
        </p:nvSpPr>
        <p:spPr>
          <a:xfrm>
            <a:off x="1755648" y="2386584"/>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Nommez le programme exact.</a:t>
            </a:r>
          </a:p>
        </p:txBody>
      </p:sp>
      <p:sp>
        <p:nvSpPr>
          <p:cNvPr id="10" name="Rounded Rectangle 9" descr="Point 2 : Ouvrez les règles officielles datées."/>
          <p:cNvSpPr/>
          <p:nvPr/>
        </p:nvSpPr>
        <p:spPr>
          <a:xfrm>
            <a:off x="566928" y="3172968"/>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de section"/>
          <p:cNvSpPr/>
          <p:nvPr/>
        </p:nvSpPr>
        <p:spPr>
          <a:xfrm>
            <a:off x="566928" y="3172968"/>
            <a:ext cx="64008" cy="713232"/>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Numéro d'étape 2"/>
          <p:cNvSpPr txBox="1"/>
          <p:nvPr/>
        </p:nvSpPr>
        <p:spPr>
          <a:xfrm>
            <a:off x="841247" y="3255264"/>
            <a:ext cx="822960" cy="548640"/>
          </a:xfrm>
          <a:prstGeom prst="rect">
            <a:avLst/>
          </a:prstGeom>
          <a:noFill/>
        </p:spPr>
        <p:txBody>
          <a:bodyPr wrap="square" lIns="0" rIns="0" tIns="0" bIns="0" anchor="ctr">
            <a:spAutoFit/>
          </a:bodyPr>
          <a:lstStyle/>
          <a:p>
            <a:pPr algn="l">
              <a:lnSpc>
                <a:spcPct val="112000"/>
              </a:lnSpc>
            </a:pPr>
            <a:r>
              <a:rPr sz="2400" b="1" i="0">
                <a:solidFill>
                  <a:srgbClr val="2DD4BF"/>
                </a:solidFill>
                <a:latin typeface="Arial"/>
              </a:rPr>
              <a:t>02</a:t>
            </a:r>
          </a:p>
        </p:txBody>
      </p:sp>
      <p:sp>
        <p:nvSpPr>
          <p:cNvPr id="13" name="TextBox 12" descr="Texte du point 2 : Ouvrez les règles officielles datées."/>
          <p:cNvSpPr txBox="1"/>
          <p:nvPr/>
        </p:nvSpPr>
        <p:spPr>
          <a:xfrm>
            <a:off x="1755648" y="3227832"/>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Ouvrez les règles officielles datées.</a:t>
            </a:r>
          </a:p>
        </p:txBody>
      </p:sp>
      <p:sp>
        <p:nvSpPr>
          <p:cNvPr id="14" name="Rounded Rectangle 13" descr="Point 3 : Vérifiez pays, contenu et paiement."/>
          <p:cNvSpPr/>
          <p:nvPr/>
        </p:nvSpPr>
        <p:spPr>
          <a:xfrm>
            <a:off x="566928" y="4014215"/>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Repère décoratif de section"/>
          <p:cNvSpPr/>
          <p:nvPr/>
        </p:nvSpPr>
        <p:spPr>
          <a:xfrm>
            <a:off x="566928" y="4014215"/>
            <a:ext cx="64008" cy="713232"/>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Numéro d'étape 3"/>
          <p:cNvSpPr txBox="1"/>
          <p:nvPr/>
        </p:nvSpPr>
        <p:spPr>
          <a:xfrm>
            <a:off x="841247" y="4096511"/>
            <a:ext cx="822960" cy="548640"/>
          </a:xfrm>
          <a:prstGeom prst="rect">
            <a:avLst/>
          </a:prstGeom>
          <a:noFill/>
        </p:spPr>
        <p:txBody>
          <a:bodyPr wrap="square" lIns="0" rIns="0" tIns="0" bIns="0" anchor="ctr">
            <a:spAutoFit/>
          </a:bodyPr>
          <a:lstStyle/>
          <a:p>
            <a:pPr algn="l">
              <a:lnSpc>
                <a:spcPct val="112000"/>
              </a:lnSpc>
            </a:pPr>
            <a:r>
              <a:rPr sz="2400" b="1" i="0">
                <a:solidFill>
                  <a:srgbClr val="2DD4BF"/>
                </a:solidFill>
                <a:latin typeface="Arial"/>
              </a:rPr>
              <a:t>03</a:t>
            </a:r>
          </a:p>
        </p:txBody>
      </p:sp>
      <p:sp>
        <p:nvSpPr>
          <p:cNvPr id="17" name="TextBox 16" descr="Texte du point 3 : Vérifiez pays, contenu et paiement."/>
          <p:cNvSpPr txBox="1"/>
          <p:nvPr/>
        </p:nvSpPr>
        <p:spPr>
          <a:xfrm>
            <a:off x="1755648" y="4069079"/>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Vérifiez pays, contenu et paiement.</a:t>
            </a:r>
          </a:p>
        </p:txBody>
      </p:sp>
      <p:sp>
        <p:nvSpPr>
          <p:cNvPr id="18" name="Rounded Rectangle 17" descr="Point 4 : Regardez le tableau de bord."/>
          <p:cNvSpPr/>
          <p:nvPr/>
        </p:nvSpPr>
        <p:spPr>
          <a:xfrm>
            <a:off x="566928" y="4855464"/>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descr="Repère décoratif de section"/>
          <p:cNvSpPr/>
          <p:nvPr/>
        </p:nvSpPr>
        <p:spPr>
          <a:xfrm>
            <a:off x="566928" y="4855464"/>
            <a:ext cx="64008" cy="713232"/>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descr="Numéro d'étape 4"/>
          <p:cNvSpPr txBox="1"/>
          <p:nvPr/>
        </p:nvSpPr>
        <p:spPr>
          <a:xfrm>
            <a:off x="841247" y="4937760"/>
            <a:ext cx="822960" cy="548640"/>
          </a:xfrm>
          <a:prstGeom prst="rect">
            <a:avLst/>
          </a:prstGeom>
          <a:noFill/>
        </p:spPr>
        <p:txBody>
          <a:bodyPr wrap="square" lIns="0" rIns="0" tIns="0" bIns="0" anchor="ctr">
            <a:spAutoFit/>
          </a:bodyPr>
          <a:lstStyle/>
          <a:p>
            <a:pPr algn="l">
              <a:lnSpc>
                <a:spcPct val="112000"/>
              </a:lnSpc>
            </a:pPr>
            <a:r>
              <a:rPr sz="2400" b="1" i="0">
                <a:solidFill>
                  <a:srgbClr val="2DD4BF"/>
                </a:solidFill>
                <a:latin typeface="Arial"/>
              </a:rPr>
              <a:t>04</a:t>
            </a:r>
          </a:p>
        </p:txBody>
      </p:sp>
      <p:sp>
        <p:nvSpPr>
          <p:cNvPr id="21" name="TextBox 20" descr="Texte du point 4 : Regardez le tableau de bord."/>
          <p:cNvSpPr txBox="1"/>
          <p:nvPr/>
        </p:nvSpPr>
        <p:spPr>
          <a:xfrm>
            <a:off x="1755648" y="4910328"/>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Regardez le tableau de bord.</a:t>
            </a:r>
          </a:p>
        </p:txBody>
      </p:sp>
      <p:sp>
        <p:nvSpPr>
          <p:cNvPr id="22" name="Rounded Rectangle 21" descr="Élément graphique décoratif, sans information propre"/>
          <p:cNvSpPr/>
          <p:nvPr/>
        </p:nvSpPr>
        <p:spPr>
          <a:xfrm>
            <a:off x="0" y="0"/>
            <a:ext cx="201168" cy="6858000"/>
          </a:xfrm>
          <a:prstGeom prst="round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descr="Référence de source affichée en pied de diapositive : Chapitre 26 — Monétisation native des plateformes"/>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 26 — Monétisation native des plateformes</a:t>
            </a:r>
          </a:p>
        </p:txBody>
      </p:sp>
      <p:sp>
        <p:nvSpPr>
          <p:cNvPr id="24" name="TextBox 23" descr="Numéro de diapositive 47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47 / 84  ·  2 min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Partie 06 · chapitre 27"/>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2DD4BF"/>
                </a:solidFill>
                <a:latin typeface="Arial"/>
              </a:rPr>
              <a:t>PARTIE 06 · CHAPITRE 27</a:t>
            </a:r>
          </a:p>
        </p:txBody>
      </p:sp>
      <p:sp>
        <p:nvSpPr>
          <p:cNvPr id="4" name="TextBox 3" descr="Titre du chapitre : 27 · Services, freelance, consulting et coaching"/>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200" b="1" i="0">
                <a:solidFill>
                  <a:srgbClr val="F2F6FC"/>
                </a:solidFill>
                <a:latin typeface="Arial"/>
              </a:rPr>
              <a:t>27 · Services, freelance, consulting et coaching</a:t>
            </a:r>
          </a:p>
        </p:txBody>
      </p:sp>
      <p:sp>
        <p:nvSpPr>
          <p:cNvPr id="5" name="TextBox 4" descr="Objectif du chapitre : Définir un service précis que l’on peut livrer."/>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550" b="1" i="0">
                <a:solidFill>
                  <a:srgbClr val="2DD4BF"/>
                </a:solidFill>
                <a:latin typeface="Arial"/>
              </a:rPr>
              <a:t>Définir un service précis que l’on peut livrer.</a:t>
            </a:r>
          </a:p>
        </p:txBody>
      </p:sp>
      <p:sp>
        <p:nvSpPr>
          <p:cNvPr id="6" name="Rounded Rectangle 5" descr="Point 1 : Choisissez une compétence démontrable."/>
          <p:cNvSpPr/>
          <p:nvPr/>
        </p:nvSpPr>
        <p:spPr>
          <a:xfrm>
            <a:off x="566928" y="2331720"/>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de section"/>
          <p:cNvSpPr/>
          <p:nvPr/>
        </p:nvSpPr>
        <p:spPr>
          <a:xfrm>
            <a:off x="566928" y="2331720"/>
            <a:ext cx="64008" cy="713232"/>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Numéro d'étape 1"/>
          <p:cNvSpPr txBox="1"/>
          <p:nvPr/>
        </p:nvSpPr>
        <p:spPr>
          <a:xfrm>
            <a:off x="841247" y="2414016"/>
            <a:ext cx="822960" cy="548640"/>
          </a:xfrm>
          <a:prstGeom prst="rect">
            <a:avLst/>
          </a:prstGeom>
          <a:noFill/>
        </p:spPr>
        <p:txBody>
          <a:bodyPr wrap="square" lIns="0" rIns="0" tIns="0" bIns="0" anchor="ctr">
            <a:spAutoFit/>
          </a:bodyPr>
          <a:lstStyle/>
          <a:p>
            <a:pPr algn="l">
              <a:lnSpc>
                <a:spcPct val="112000"/>
              </a:lnSpc>
            </a:pPr>
            <a:r>
              <a:rPr sz="2400" b="1" i="0">
                <a:solidFill>
                  <a:srgbClr val="2DD4BF"/>
                </a:solidFill>
                <a:latin typeface="Arial"/>
              </a:rPr>
              <a:t>01</a:t>
            </a:r>
          </a:p>
        </p:txBody>
      </p:sp>
      <p:sp>
        <p:nvSpPr>
          <p:cNvPr id="9" name="TextBox 8" descr="Texte du point 1 : Choisissez une compétence démontrable."/>
          <p:cNvSpPr txBox="1"/>
          <p:nvPr/>
        </p:nvSpPr>
        <p:spPr>
          <a:xfrm>
            <a:off x="1755648" y="2386584"/>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Choisissez une compétence démontrable.</a:t>
            </a:r>
          </a:p>
        </p:txBody>
      </p:sp>
      <p:sp>
        <p:nvSpPr>
          <p:cNvPr id="10" name="Rounded Rectangle 9" descr="Point 2 : Définissez livrable et périmètre."/>
          <p:cNvSpPr/>
          <p:nvPr/>
        </p:nvSpPr>
        <p:spPr>
          <a:xfrm>
            <a:off x="566928" y="3172968"/>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de section"/>
          <p:cNvSpPr/>
          <p:nvPr/>
        </p:nvSpPr>
        <p:spPr>
          <a:xfrm>
            <a:off x="566928" y="3172968"/>
            <a:ext cx="64008" cy="713232"/>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Numéro d'étape 2"/>
          <p:cNvSpPr txBox="1"/>
          <p:nvPr/>
        </p:nvSpPr>
        <p:spPr>
          <a:xfrm>
            <a:off x="841247" y="3255264"/>
            <a:ext cx="822960" cy="548640"/>
          </a:xfrm>
          <a:prstGeom prst="rect">
            <a:avLst/>
          </a:prstGeom>
          <a:noFill/>
        </p:spPr>
        <p:txBody>
          <a:bodyPr wrap="square" lIns="0" rIns="0" tIns="0" bIns="0" anchor="ctr">
            <a:spAutoFit/>
          </a:bodyPr>
          <a:lstStyle/>
          <a:p>
            <a:pPr algn="l">
              <a:lnSpc>
                <a:spcPct val="112000"/>
              </a:lnSpc>
            </a:pPr>
            <a:r>
              <a:rPr sz="2400" b="1" i="0">
                <a:solidFill>
                  <a:srgbClr val="2DD4BF"/>
                </a:solidFill>
                <a:latin typeface="Arial"/>
              </a:rPr>
              <a:t>02</a:t>
            </a:r>
          </a:p>
        </p:txBody>
      </p:sp>
      <p:sp>
        <p:nvSpPr>
          <p:cNvPr id="13" name="TextBox 12" descr="Texte du point 2 : Définissez livrable et périmètre."/>
          <p:cNvSpPr txBox="1"/>
          <p:nvPr/>
        </p:nvSpPr>
        <p:spPr>
          <a:xfrm>
            <a:off x="1755648" y="3227832"/>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Définissez livrable et périmètre.</a:t>
            </a:r>
          </a:p>
        </p:txBody>
      </p:sp>
      <p:sp>
        <p:nvSpPr>
          <p:cNvPr id="14" name="Rounded Rectangle 13" descr="Point 3 : Estimez temps et frais."/>
          <p:cNvSpPr/>
          <p:nvPr/>
        </p:nvSpPr>
        <p:spPr>
          <a:xfrm>
            <a:off x="566928" y="4014215"/>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Repère décoratif de section"/>
          <p:cNvSpPr/>
          <p:nvPr/>
        </p:nvSpPr>
        <p:spPr>
          <a:xfrm>
            <a:off x="566928" y="4014215"/>
            <a:ext cx="64008" cy="713232"/>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Numéro d'étape 3"/>
          <p:cNvSpPr txBox="1"/>
          <p:nvPr/>
        </p:nvSpPr>
        <p:spPr>
          <a:xfrm>
            <a:off x="841247" y="4096511"/>
            <a:ext cx="822960" cy="548640"/>
          </a:xfrm>
          <a:prstGeom prst="rect">
            <a:avLst/>
          </a:prstGeom>
          <a:noFill/>
        </p:spPr>
        <p:txBody>
          <a:bodyPr wrap="square" lIns="0" rIns="0" tIns="0" bIns="0" anchor="ctr">
            <a:spAutoFit/>
          </a:bodyPr>
          <a:lstStyle/>
          <a:p>
            <a:pPr algn="l">
              <a:lnSpc>
                <a:spcPct val="112000"/>
              </a:lnSpc>
            </a:pPr>
            <a:r>
              <a:rPr sz="2400" b="1" i="0">
                <a:solidFill>
                  <a:srgbClr val="2DD4BF"/>
                </a:solidFill>
                <a:latin typeface="Arial"/>
              </a:rPr>
              <a:t>03</a:t>
            </a:r>
          </a:p>
        </p:txBody>
      </p:sp>
      <p:sp>
        <p:nvSpPr>
          <p:cNvPr id="17" name="TextBox 16" descr="Texte du point 3 : Estimez temps et frais."/>
          <p:cNvSpPr txBox="1"/>
          <p:nvPr/>
        </p:nvSpPr>
        <p:spPr>
          <a:xfrm>
            <a:off x="1755648" y="4069079"/>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Estimez temps et frais.</a:t>
            </a:r>
          </a:p>
        </p:txBody>
      </p:sp>
      <p:sp>
        <p:nvSpPr>
          <p:cNvPr id="18" name="Rounded Rectangle 17" descr="Point 4 : Écrivez conditions et révisions."/>
          <p:cNvSpPr/>
          <p:nvPr/>
        </p:nvSpPr>
        <p:spPr>
          <a:xfrm>
            <a:off x="566928" y="4855464"/>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descr="Repère décoratif de section"/>
          <p:cNvSpPr/>
          <p:nvPr/>
        </p:nvSpPr>
        <p:spPr>
          <a:xfrm>
            <a:off x="566928" y="4855464"/>
            <a:ext cx="64008" cy="713232"/>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descr="Numéro d'étape 4"/>
          <p:cNvSpPr txBox="1"/>
          <p:nvPr/>
        </p:nvSpPr>
        <p:spPr>
          <a:xfrm>
            <a:off x="841247" y="4937760"/>
            <a:ext cx="822960" cy="548640"/>
          </a:xfrm>
          <a:prstGeom prst="rect">
            <a:avLst/>
          </a:prstGeom>
          <a:noFill/>
        </p:spPr>
        <p:txBody>
          <a:bodyPr wrap="square" lIns="0" rIns="0" tIns="0" bIns="0" anchor="ctr">
            <a:spAutoFit/>
          </a:bodyPr>
          <a:lstStyle/>
          <a:p>
            <a:pPr algn="l">
              <a:lnSpc>
                <a:spcPct val="112000"/>
              </a:lnSpc>
            </a:pPr>
            <a:r>
              <a:rPr sz="2400" b="1" i="0">
                <a:solidFill>
                  <a:srgbClr val="2DD4BF"/>
                </a:solidFill>
                <a:latin typeface="Arial"/>
              </a:rPr>
              <a:t>04</a:t>
            </a:r>
          </a:p>
        </p:txBody>
      </p:sp>
      <p:sp>
        <p:nvSpPr>
          <p:cNvPr id="21" name="TextBox 20" descr="Texte du point 4 : Écrivez conditions et révisions."/>
          <p:cNvSpPr txBox="1"/>
          <p:nvPr/>
        </p:nvSpPr>
        <p:spPr>
          <a:xfrm>
            <a:off x="1755648" y="4910328"/>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Écrivez conditions et révisions.</a:t>
            </a:r>
          </a:p>
        </p:txBody>
      </p:sp>
      <p:sp>
        <p:nvSpPr>
          <p:cNvPr id="22" name="Rounded Rectangle 21" descr="Élément graphique décoratif, sans information propre"/>
          <p:cNvSpPr/>
          <p:nvPr/>
        </p:nvSpPr>
        <p:spPr>
          <a:xfrm>
            <a:off x="0" y="0"/>
            <a:ext cx="201168" cy="6858000"/>
          </a:xfrm>
          <a:prstGeom prst="round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descr="Référence de source affichée en pied de diapositive : Chapitre 27 — Services, freelance, consulting et coaching"/>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 27 — Services, freelance, consulting et coaching</a:t>
            </a:r>
          </a:p>
        </p:txBody>
      </p:sp>
      <p:sp>
        <p:nvSpPr>
          <p:cNvPr id="24" name="TextBox 23" descr="Numéro de diapositive 48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48 / 84  ·  2 min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Partie 06 · chapitre 28"/>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2DD4BF"/>
                </a:solidFill>
                <a:latin typeface="Arial"/>
              </a:rPr>
              <a:t>PARTIE 06 · CHAPITRE 28</a:t>
            </a:r>
          </a:p>
        </p:txBody>
      </p:sp>
      <p:sp>
        <p:nvSpPr>
          <p:cNvPr id="4" name="TextBox 3" descr="Titre du chapitre : 28 · Produits numériques, livres, templates et formations"/>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2950" b="1" i="0">
                <a:solidFill>
                  <a:srgbClr val="F2F6FC"/>
                </a:solidFill>
                <a:latin typeface="Arial"/>
              </a:rPr>
              <a:t>28 · Produits numériques, livres, templates et formations</a:t>
            </a:r>
          </a:p>
        </p:txBody>
      </p:sp>
      <p:sp>
        <p:nvSpPr>
          <p:cNvPr id="5" name="TextBox 4" descr="Objectif du chapitre : Créer une petite ressource réutilisable et testée."/>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550" b="1" i="0">
                <a:solidFill>
                  <a:srgbClr val="2DD4BF"/>
                </a:solidFill>
                <a:latin typeface="Arial"/>
              </a:rPr>
              <a:t>Créer une petite ressource réutilisable et testée.</a:t>
            </a:r>
          </a:p>
        </p:txBody>
      </p:sp>
      <p:sp>
        <p:nvSpPr>
          <p:cNvPr id="6" name="Rounded Rectangle 5" descr="Point 1 : Recueillez une tâche fréquente."/>
          <p:cNvSpPr/>
          <p:nvPr/>
        </p:nvSpPr>
        <p:spPr>
          <a:xfrm>
            <a:off x="566928" y="2331720"/>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de section"/>
          <p:cNvSpPr/>
          <p:nvPr/>
        </p:nvSpPr>
        <p:spPr>
          <a:xfrm>
            <a:off x="566928" y="2331720"/>
            <a:ext cx="64008" cy="713232"/>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Numéro d'étape 1"/>
          <p:cNvSpPr txBox="1"/>
          <p:nvPr/>
        </p:nvSpPr>
        <p:spPr>
          <a:xfrm>
            <a:off x="841247" y="2414016"/>
            <a:ext cx="822960" cy="548640"/>
          </a:xfrm>
          <a:prstGeom prst="rect">
            <a:avLst/>
          </a:prstGeom>
          <a:noFill/>
        </p:spPr>
        <p:txBody>
          <a:bodyPr wrap="square" lIns="0" rIns="0" tIns="0" bIns="0" anchor="ctr">
            <a:spAutoFit/>
          </a:bodyPr>
          <a:lstStyle/>
          <a:p>
            <a:pPr algn="l">
              <a:lnSpc>
                <a:spcPct val="112000"/>
              </a:lnSpc>
            </a:pPr>
            <a:r>
              <a:rPr sz="2400" b="1" i="0">
                <a:solidFill>
                  <a:srgbClr val="2DD4BF"/>
                </a:solidFill>
                <a:latin typeface="Arial"/>
              </a:rPr>
              <a:t>01</a:t>
            </a:r>
          </a:p>
        </p:txBody>
      </p:sp>
      <p:sp>
        <p:nvSpPr>
          <p:cNvPr id="9" name="TextBox 8" descr="Texte du point 1 : Recueillez une tâche fréquente."/>
          <p:cNvSpPr txBox="1"/>
          <p:nvPr/>
        </p:nvSpPr>
        <p:spPr>
          <a:xfrm>
            <a:off x="1755648" y="2386584"/>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Recueillez une tâche fréquente.</a:t>
            </a:r>
          </a:p>
        </p:txBody>
      </p:sp>
      <p:sp>
        <p:nvSpPr>
          <p:cNvPr id="10" name="Rounded Rectangle 9" descr="Point 2 : Créez une version minimum originale."/>
          <p:cNvSpPr/>
          <p:nvPr/>
        </p:nvSpPr>
        <p:spPr>
          <a:xfrm>
            <a:off x="566928" y="3172968"/>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de section"/>
          <p:cNvSpPr/>
          <p:nvPr/>
        </p:nvSpPr>
        <p:spPr>
          <a:xfrm>
            <a:off x="566928" y="3172968"/>
            <a:ext cx="64008" cy="713232"/>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Numéro d'étape 2"/>
          <p:cNvSpPr txBox="1"/>
          <p:nvPr/>
        </p:nvSpPr>
        <p:spPr>
          <a:xfrm>
            <a:off x="841247" y="3255264"/>
            <a:ext cx="822960" cy="548640"/>
          </a:xfrm>
          <a:prstGeom prst="rect">
            <a:avLst/>
          </a:prstGeom>
          <a:noFill/>
        </p:spPr>
        <p:txBody>
          <a:bodyPr wrap="square" lIns="0" rIns="0" tIns="0" bIns="0" anchor="ctr">
            <a:spAutoFit/>
          </a:bodyPr>
          <a:lstStyle/>
          <a:p>
            <a:pPr algn="l">
              <a:lnSpc>
                <a:spcPct val="112000"/>
              </a:lnSpc>
            </a:pPr>
            <a:r>
              <a:rPr sz="2400" b="1" i="0">
                <a:solidFill>
                  <a:srgbClr val="2DD4BF"/>
                </a:solidFill>
                <a:latin typeface="Arial"/>
              </a:rPr>
              <a:t>02</a:t>
            </a:r>
          </a:p>
        </p:txBody>
      </p:sp>
      <p:sp>
        <p:nvSpPr>
          <p:cNvPr id="13" name="TextBox 12" descr="Texte du point 2 : Créez une version minimum originale."/>
          <p:cNvSpPr txBox="1"/>
          <p:nvPr/>
        </p:nvSpPr>
        <p:spPr>
          <a:xfrm>
            <a:off x="1755648" y="3227832"/>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Créez une version minimum originale.</a:t>
            </a:r>
          </a:p>
        </p:txBody>
      </p:sp>
      <p:sp>
        <p:nvSpPr>
          <p:cNvPr id="14" name="Rounded Rectangle 13" descr="Point 3 : Testez la compréhension."/>
          <p:cNvSpPr/>
          <p:nvPr/>
        </p:nvSpPr>
        <p:spPr>
          <a:xfrm>
            <a:off x="566928" y="4014215"/>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Repère décoratif de section"/>
          <p:cNvSpPr/>
          <p:nvPr/>
        </p:nvSpPr>
        <p:spPr>
          <a:xfrm>
            <a:off x="566928" y="4014215"/>
            <a:ext cx="64008" cy="713232"/>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Numéro d'étape 3"/>
          <p:cNvSpPr txBox="1"/>
          <p:nvPr/>
        </p:nvSpPr>
        <p:spPr>
          <a:xfrm>
            <a:off x="841247" y="4096511"/>
            <a:ext cx="822960" cy="548640"/>
          </a:xfrm>
          <a:prstGeom prst="rect">
            <a:avLst/>
          </a:prstGeom>
          <a:noFill/>
        </p:spPr>
        <p:txBody>
          <a:bodyPr wrap="square" lIns="0" rIns="0" tIns="0" bIns="0" anchor="ctr">
            <a:spAutoFit/>
          </a:bodyPr>
          <a:lstStyle/>
          <a:p>
            <a:pPr algn="l">
              <a:lnSpc>
                <a:spcPct val="112000"/>
              </a:lnSpc>
            </a:pPr>
            <a:r>
              <a:rPr sz="2400" b="1" i="0">
                <a:solidFill>
                  <a:srgbClr val="2DD4BF"/>
                </a:solidFill>
                <a:latin typeface="Arial"/>
              </a:rPr>
              <a:t>03</a:t>
            </a:r>
          </a:p>
        </p:txBody>
      </p:sp>
      <p:sp>
        <p:nvSpPr>
          <p:cNvPr id="17" name="TextBox 16" descr="Texte du point 3 : Testez la compréhension."/>
          <p:cNvSpPr txBox="1"/>
          <p:nvPr/>
        </p:nvSpPr>
        <p:spPr>
          <a:xfrm>
            <a:off x="1755648" y="4069079"/>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Testez la compréhension.</a:t>
            </a:r>
          </a:p>
        </p:txBody>
      </p:sp>
      <p:sp>
        <p:nvSpPr>
          <p:cNvPr id="18" name="Rounded Rectangle 17" descr="Point 4 : Vérifiez droits et livraison."/>
          <p:cNvSpPr/>
          <p:nvPr/>
        </p:nvSpPr>
        <p:spPr>
          <a:xfrm>
            <a:off x="566928" y="4855464"/>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descr="Repère décoratif de section"/>
          <p:cNvSpPr/>
          <p:nvPr/>
        </p:nvSpPr>
        <p:spPr>
          <a:xfrm>
            <a:off x="566928" y="4855464"/>
            <a:ext cx="64008" cy="713232"/>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descr="Numéro d'étape 4"/>
          <p:cNvSpPr txBox="1"/>
          <p:nvPr/>
        </p:nvSpPr>
        <p:spPr>
          <a:xfrm>
            <a:off x="841247" y="4937760"/>
            <a:ext cx="822960" cy="548640"/>
          </a:xfrm>
          <a:prstGeom prst="rect">
            <a:avLst/>
          </a:prstGeom>
          <a:noFill/>
        </p:spPr>
        <p:txBody>
          <a:bodyPr wrap="square" lIns="0" rIns="0" tIns="0" bIns="0" anchor="ctr">
            <a:spAutoFit/>
          </a:bodyPr>
          <a:lstStyle/>
          <a:p>
            <a:pPr algn="l">
              <a:lnSpc>
                <a:spcPct val="112000"/>
              </a:lnSpc>
            </a:pPr>
            <a:r>
              <a:rPr sz="2400" b="1" i="0">
                <a:solidFill>
                  <a:srgbClr val="2DD4BF"/>
                </a:solidFill>
                <a:latin typeface="Arial"/>
              </a:rPr>
              <a:t>04</a:t>
            </a:r>
          </a:p>
        </p:txBody>
      </p:sp>
      <p:sp>
        <p:nvSpPr>
          <p:cNvPr id="21" name="TextBox 20" descr="Texte du point 4 : Vérifiez droits et livraison."/>
          <p:cNvSpPr txBox="1"/>
          <p:nvPr/>
        </p:nvSpPr>
        <p:spPr>
          <a:xfrm>
            <a:off x="1755648" y="4910328"/>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Vérifiez droits et livraison.</a:t>
            </a:r>
          </a:p>
        </p:txBody>
      </p:sp>
      <p:sp>
        <p:nvSpPr>
          <p:cNvPr id="22" name="Rounded Rectangle 21" descr="Élément graphique décoratif, sans information propre"/>
          <p:cNvSpPr/>
          <p:nvPr/>
        </p:nvSpPr>
        <p:spPr>
          <a:xfrm>
            <a:off x="0" y="0"/>
            <a:ext cx="201168" cy="6858000"/>
          </a:xfrm>
          <a:prstGeom prst="round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descr="Référence de source affichée en pied de diapositive : Chapitre 28 — Produits numériques, livres, templates et formations"/>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 28 — Produits numériques, livres, templates et formations</a:t>
            </a:r>
          </a:p>
        </p:txBody>
      </p:sp>
      <p:sp>
        <p:nvSpPr>
          <p:cNvPr id="24" name="TextBox 23" descr="Numéro de diapositive 49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49 / 84  ·  2 min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Partie 06 · chapitre 29"/>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2DD4BF"/>
                </a:solidFill>
                <a:latin typeface="Arial"/>
              </a:rPr>
              <a:t>PARTIE 06 · CHAPITRE 29</a:t>
            </a:r>
          </a:p>
        </p:txBody>
      </p:sp>
      <p:sp>
        <p:nvSpPr>
          <p:cNvPr id="4" name="TextBox 3" descr="Titre du chapitre : 29 · Affiliation, sponsoring et partenariats"/>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200" b="1" i="0">
                <a:solidFill>
                  <a:srgbClr val="F2F6FC"/>
                </a:solidFill>
                <a:latin typeface="Arial"/>
              </a:rPr>
              <a:t>29 · Affiliation, sponsoring et partenariats</a:t>
            </a:r>
          </a:p>
        </p:txBody>
      </p:sp>
      <p:sp>
        <p:nvSpPr>
          <p:cNvPr id="5" name="TextBox 4" descr="Objectif du chapitre : Déclarer honnêtement les liens commerciaux."/>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550" b="1" i="0">
                <a:solidFill>
                  <a:srgbClr val="2DD4BF"/>
                </a:solidFill>
                <a:latin typeface="Arial"/>
              </a:rPr>
              <a:t>Déclarer honnêtement les liens commerciaux.</a:t>
            </a:r>
          </a:p>
        </p:txBody>
      </p:sp>
      <p:sp>
        <p:nvSpPr>
          <p:cNvPr id="6" name="Rounded Rectangle 5" descr="Point 1 : Vérifiez identité et produit du partenaire."/>
          <p:cNvSpPr/>
          <p:nvPr/>
        </p:nvSpPr>
        <p:spPr>
          <a:xfrm>
            <a:off x="566928" y="2331720"/>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de section"/>
          <p:cNvSpPr/>
          <p:nvPr/>
        </p:nvSpPr>
        <p:spPr>
          <a:xfrm>
            <a:off x="566928" y="2331720"/>
            <a:ext cx="64008" cy="713232"/>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Numéro d'étape 1"/>
          <p:cNvSpPr txBox="1"/>
          <p:nvPr/>
        </p:nvSpPr>
        <p:spPr>
          <a:xfrm>
            <a:off x="841247" y="2414016"/>
            <a:ext cx="822960" cy="548640"/>
          </a:xfrm>
          <a:prstGeom prst="rect">
            <a:avLst/>
          </a:prstGeom>
          <a:noFill/>
        </p:spPr>
        <p:txBody>
          <a:bodyPr wrap="square" lIns="0" rIns="0" tIns="0" bIns="0" anchor="ctr">
            <a:spAutoFit/>
          </a:bodyPr>
          <a:lstStyle/>
          <a:p>
            <a:pPr algn="l">
              <a:lnSpc>
                <a:spcPct val="112000"/>
              </a:lnSpc>
            </a:pPr>
            <a:r>
              <a:rPr sz="2400" b="1" i="0">
                <a:solidFill>
                  <a:srgbClr val="2DD4BF"/>
                </a:solidFill>
                <a:latin typeface="Arial"/>
              </a:rPr>
              <a:t>01</a:t>
            </a:r>
          </a:p>
        </p:txBody>
      </p:sp>
      <p:sp>
        <p:nvSpPr>
          <p:cNvPr id="9" name="TextBox 8" descr="Texte du point 1 : Vérifiez identité et produit du partenaire."/>
          <p:cNvSpPr txBox="1"/>
          <p:nvPr/>
        </p:nvSpPr>
        <p:spPr>
          <a:xfrm>
            <a:off x="1755648" y="2386584"/>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Vérifiez identité et produit du partenaire.</a:t>
            </a:r>
          </a:p>
        </p:txBody>
      </p:sp>
      <p:sp>
        <p:nvSpPr>
          <p:cNvPr id="10" name="Rounded Rectangle 9" descr="Point 2 : Demandez les engagements écrits."/>
          <p:cNvSpPr/>
          <p:nvPr/>
        </p:nvSpPr>
        <p:spPr>
          <a:xfrm>
            <a:off x="566928" y="3172968"/>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de section"/>
          <p:cNvSpPr/>
          <p:nvPr/>
        </p:nvSpPr>
        <p:spPr>
          <a:xfrm>
            <a:off x="566928" y="3172968"/>
            <a:ext cx="64008" cy="713232"/>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Numéro d'étape 2"/>
          <p:cNvSpPr txBox="1"/>
          <p:nvPr/>
        </p:nvSpPr>
        <p:spPr>
          <a:xfrm>
            <a:off x="841247" y="3255264"/>
            <a:ext cx="822960" cy="548640"/>
          </a:xfrm>
          <a:prstGeom prst="rect">
            <a:avLst/>
          </a:prstGeom>
          <a:noFill/>
        </p:spPr>
        <p:txBody>
          <a:bodyPr wrap="square" lIns="0" rIns="0" tIns="0" bIns="0" anchor="ctr">
            <a:spAutoFit/>
          </a:bodyPr>
          <a:lstStyle/>
          <a:p>
            <a:pPr algn="l">
              <a:lnSpc>
                <a:spcPct val="112000"/>
              </a:lnSpc>
            </a:pPr>
            <a:r>
              <a:rPr sz="2400" b="1" i="0">
                <a:solidFill>
                  <a:srgbClr val="2DD4BF"/>
                </a:solidFill>
                <a:latin typeface="Arial"/>
              </a:rPr>
              <a:t>02</a:t>
            </a:r>
          </a:p>
        </p:txBody>
      </p:sp>
      <p:sp>
        <p:nvSpPr>
          <p:cNvPr id="13" name="TextBox 12" descr="Texte du point 2 : Demandez les engagements écrits."/>
          <p:cNvSpPr txBox="1"/>
          <p:nvPr/>
        </p:nvSpPr>
        <p:spPr>
          <a:xfrm>
            <a:off x="1755648" y="3227832"/>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Demandez les engagements écrits.</a:t>
            </a:r>
          </a:p>
        </p:txBody>
      </p:sp>
      <p:sp>
        <p:nvSpPr>
          <p:cNvPr id="14" name="Rounded Rectangle 13" descr="Point 3 : Écartez les affirmations invérifiables."/>
          <p:cNvSpPr/>
          <p:nvPr/>
        </p:nvSpPr>
        <p:spPr>
          <a:xfrm>
            <a:off x="566928" y="4014215"/>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Repère décoratif de section"/>
          <p:cNvSpPr/>
          <p:nvPr/>
        </p:nvSpPr>
        <p:spPr>
          <a:xfrm>
            <a:off x="566928" y="4014215"/>
            <a:ext cx="64008" cy="713232"/>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Numéro d'étape 3"/>
          <p:cNvSpPr txBox="1"/>
          <p:nvPr/>
        </p:nvSpPr>
        <p:spPr>
          <a:xfrm>
            <a:off x="841247" y="4096511"/>
            <a:ext cx="822960" cy="548640"/>
          </a:xfrm>
          <a:prstGeom prst="rect">
            <a:avLst/>
          </a:prstGeom>
          <a:noFill/>
        </p:spPr>
        <p:txBody>
          <a:bodyPr wrap="square" lIns="0" rIns="0" tIns="0" bIns="0" anchor="ctr">
            <a:spAutoFit/>
          </a:bodyPr>
          <a:lstStyle/>
          <a:p>
            <a:pPr algn="l">
              <a:lnSpc>
                <a:spcPct val="112000"/>
              </a:lnSpc>
            </a:pPr>
            <a:r>
              <a:rPr sz="2400" b="1" i="0">
                <a:solidFill>
                  <a:srgbClr val="2DD4BF"/>
                </a:solidFill>
                <a:latin typeface="Arial"/>
              </a:rPr>
              <a:t>03</a:t>
            </a:r>
          </a:p>
        </p:txBody>
      </p:sp>
      <p:sp>
        <p:nvSpPr>
          <p:cNvPr id="17" name="TextBox 16" descr="Texte du point 3 : Écartez les affirmations invérifiables."/>
          <p:cNvSpPr txBox="1"/>
          <p:nvPr/>
        </p:nvSpPr>
        <p:spPr>
          <a:xfrm>
            <a:off x="1755648" y="4069079"/>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Écartez les affirmations invérifiables.</a:t>
            </a:r>
          </a:p>
        </p:txBody>
      </p:sp>
      <p:sp>
        <p:nvSpPr>
          <p:cNvPr id="18" name="Rounded Rectangle 17" descr="Point 4 : Déclarez la relation."/>
          <p:cNvSpPr/>
          <p:nvPr/>
        </p:nvSpPr>
        <p:spPr>
          <a:xfrm>
            <a:off x="566928" y="4855464"/>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descr="Repère décoratif de section"/>
          <p:cNvSpPr/>
          <p:nvPr/>
        </p:nvSpPr>
        <p:spPr>
          <a:xfrm>
            <a:off x="566928" y="4855464"/>
            <a:ext cx="64008" cy="713232"/>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descr="Numéro d'étape 4"/>
          <p:cNvSpPr txBox="1"/>
          <p:nvPr/>
        </p:nvSpPr>
        <p:spPr>
          <a:xfrm>
            <a:off x="841247" y="4937760"/>
            <a:ext cx="822960" cy="548640"/>
          </a:xfrm>
          <a:prstGeom prst="rect">
            <a:avLst/>
          </a:prstGeom>
          <a:noFill/>
        </p:spPr>
        <p:txBody>
          <a:bodyPr wrap="square" lIns="0" rIns="0" tIns="0" bIns="0" anchor="ctr">
            <a:spAutoFit/>
          </a:bodyPr>
          <a:lstStyle/>
          <a:p>
            <a:pPr algn="l">
              <a:lnSpc>
                <a:spcPct val="112000"/>
              </a:lnSpc>
            </a:pPr>
            <a:r>
              <a:rPr sz="2400" b="1" i="0">
                <a:solidFill>
                  <a:srgbClr val="2DD4BF"/>
                </a:solidFill>
                <a:latin typeface="Arial"/>
              </a:rPr>
              <a:t>04</a:t>
            </a:r>
          </a:p>
        </p:txBody>
      </p:sp>
      <p:sp>
        <p:nvSpPr>
          <p:cNvPr id="21" name="TextBox 20" descr="Texte du point 4 : Déclarez la relation."/>
          <p:cNvSpPr txBox="1"/>
          <p:nvPr/>
        </p:nvSpPr>
        <p:spPr>
          <a:xfrm>
            <a:off x="1755648" y="4910328"/>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Déclarez la relation.</a:t>
            </a:r>
          </a:p>
        </p:txBody>
      </p:sp>
      <p:sp>
        <p:nvSpPr>
          <p:cNvPr id="22" name="Rounded Rectangle 21" descr="Élément graphique décoratif, sans information propre"/>
          <p:cNvSpPr/>
          <p:nvPr/>
        </p:nvSpPr>
        <p:spPr>
          <a:xfrm>
            <a:off x="0" y="0"/>
            <a:ext cx="201168" cy="6858000"/>
          </a:xfrm>
          <a:prstGeom prst="round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descr="Référence de source affichée en pied de diapositive : Chapitre 29 — Affiliation, sponsoring et partenariats"/>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 29 — Affiliation, sponsoring et partenariats</a:t>
            </a:r>
          </a:p>
        </p:txBody>
      </p:sp>
      <p:sp>
        <p:nvSpPr>
          <p:cNvPr id="24" name="TextBox 23" descr="Numéro de diapositive 50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50 / 84  ·  2 min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Partie 06 · chapitre 30"/>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2DD4BF"/>
                </a:solidFill>
                <a:latin typeface="Arial"/>
              </a:rPr>
              <a:t>PARTIE 06 · CHAPITRE 30</a:t>
            </a:r>
          </a:p>
        </p:txBody>
      </p:sp>
      <p:sp>
        <p:nvSpPr>
          <p:cNvPr id="4" name="TextBox 3" descr="Titre du chapitre : 30 · Prospects, WhatsApp Business, boutique et rendez-vous"/>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2950" b="1" i="0">
                <a:solidFill>
                  <a:srgbClr val="F2F6FC"/>
                </a:solidFill>
                <a:latin typeface="Arial"/>
              </a:rPr>
              <a:t>30 · Prospects, WhatsApp Business, boutique et rendez-vous</a:t>
            </a:r>
          </a:p>
        </p:txBody>
      </p:sp>
      <p:sp>
        <p:nvSpPr>
          <p:cNvPr id="5" name="TextBox 4" descr="Objectif du chapitre : Organiser le contact sans spam ni collecte excessive."/>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550" b="1" i="0">
                <a:solidFill>
                  <a:srgbClr val="2DD4BF"/>
                </a:solidFill>
                <a:latin typeface="Arial"/>
              </a:rPr>
              <a:t>Organiser le contact sans spam ni collecte excessive.</a:t>
            </a:r>
          </a:p>
        </p:txBody>
      </p:sp>
      <p:sp>
        <p:nvSpPr>
          <p:cNvPr id="6" name="Rounded Rectangle 5" descr="Point 1 : Testez le lien sur mobile."/>
          <p:cNvSpPr/>
          <p:nvPr/>
        </p:nvSpPr>
        <p:spPr>
          <a:xfrm>
            <a:off x="566928" y="2331720"/>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de section"/>
          <p:cNvSpPr/>
          <p:nvPr/>
        </p:nvSpPr>
        <p:spPr>
          <a:xfrm>
            <a:off x="566928" y="2331720"/>
            <a:ext cx="64008" cy="713232"/>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Numéro d'étape 1"/>
          <p:cNvSpPr txBox="1"/>
          <p:nvPr/>
        </p:nvSpPr>
        <p:spPr>
          <a:xfrm>
            <a:off x="841247" y="2414016"/>
            <a:ext cx="822960" cy="548640"/>
          </a:xfrm>
          <a:prstGeom prst="rect">
            <a:avLst/>
          </a:prstGeom>
          <a:noFill/>
        </p:spPr>
        <p:txBody>
          <a:bodyPr wrap="square" lIns="0" rIns="0" tIns="0" bIns="0" anchor="ctr">
            <a:spAutoFit/>
          </a:bodyPr>
          <a:lstStyle/>
          <a:p>
            <a:pPr algn="l">
              <a:lnSpc>
                <a:spcPct val="112000"/>
              </a:lnSpc>
            </a:pPr>
            <a:r>
              <a:rPr sz="2400" b="1" i="0">
                <a:solidFill>
                  <a:srgbClr val="2DD4BF"/>
                </a:solidFill>
                <a:latin typeface="Arial"/>
              </a:rPr>
              <a:t>01</a:t>
            </a:r>
          </a:p>
        </p:txBody>
      </p:sp>
      <p:sp>
        <p:nvSpPr>
          <p:cNvPr id="9" name="TextBox 8" descr="Texte du point 1 : Testez le lien sur mobile."/>
          <p:cNvSpPr txBox="1"/>
          <p:nvPr/>
        </p:nvSpPr>
        <p:spPr>
          <a:xfrm>
            <a:off x="1755648" y="2386584"/>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Testez le lien sur mobile.</a:t>
            </a:r>
          </a:p>
        </p:txBody>
      </p:sp>
      <p:sp>
        <p:nvSpPr>
          <p:cNvPr id="10" name="Rounded Rectangle 9" descr="Point 2 : Affichez objet et délai."/>
          <p:cNvSpPr/>
          <p:nvPr/>
        </p:nvSpPr>
        <p:spPr>
          <a:xfrm>
            <a:off x="566928" y="3172968"/>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de section"/>
          <p:cNvSpPr/>
          <p:nvPr/>
        </p:nvSpPr>
        <p:spPr>
          <a:xfrm>
            <a:off x="566928" y="3172968"/>
            <a:ext cx="64008" cy="713232"/>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Numéro d'étape 2"/>
          <p:cNvSpPr txBox="1"/>
          <p:nvPr/>
        </p:nvSpPr>
        <p:spPr>
          <a:xfrm>
            <a:off x="841247" y="3255264"/>
            <a:ext cx="822960" cy="548640"/>
          </a:xfrm>
          <a:prstGeom prst="rect">
            <a:avLst/>
          </a:prstGeom>
          <a:noFill/>
        </p:spPr>
        <p:txBody>
          <a:bodyPr wrap="square" lIns="0" rIns="0" tIns="0" bIns="0" anchor="ctr">
            <a:spAutoFit/>
          </a:bodyPr>
          <a:lstStyle/>
          <a:p>
            <a:pPr algn="l">
              <a:lnSpc>
                <a:spcPct val="112000"/>
              </a:lnSpc>
            </a:pPr>
            <a:r>
              <a:rPr sz="2400" b="1" i="0">
                <a:solidFill>
                  <a:srgbClr val="2DD4BF"/>
                </a:solidFill>
                <a:latin typeface="Arial"/>
              </a:rPr>
              <a:t>02</a:t>
            </a:r>
          </a:p>
        </p:txBody>
      </p:sp>
      <p:sp>
        <p:nvSpPr>
          <p:cNvPr id="13" name="TextBox 12" descr="Texte du point 2 : Affichez objet et délai."/>
          <p:cNvSpPr txBox="1"/>
          <p:nvPr/>
        </p:nvSpPr>
        <p:spPr>
          <a:xfrm>
            <a:off x="1755648" y="3227832"/>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Affichez objet et délai.</a:t>
            </a:r>
          </a:p>
        </p:txBody>
      </p:sp>
      <p:sp>
        <p:nvSpPr>
          <p:cNvPr id="14" name="Rounded Rectangle 13" descr="Point 3 : Réduisez les champs du formulaire."/>
          <p:cNvSpPr/>
          <p:nvPr/>
        </p:nvSpPr>
        <p:spPr>
          <a:xfrm>
            <a:off x="566928" y="4014215"/>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Repère décoratif de section"/>
          <p:cNvSpPr/>
          <p:nvPr/>
        </p:nvSpPr>
        <p:spPr>
          <a:xfrm>
            <a:off x="566928" y="4014215"/>
            <a:ext cx="64008" cy="713232"/>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Numéro d'étape 3"/>
          <p:cNvSpPr txBox="1"/>
          <p:nvPr/>
        </p:nvSpPr>
        <p:spPr>
          <a:xfrm>
            <a:off x="841247" y="4096511"/>
            <a:ext cx="822960" cy="548640"/>
          </a:xfrm>
          <a:prstGeom prst="rect">
            <a:avLst/>
          </a:prstGeom>
          <a:noFill/>
        </p:spPr>
        <p:txBody>
          <a:bodyPr wrap="square" lIns="0" rIns="0" tIns="0" bIns="0" anchor="ctr">
            <a:spAutoFit/>
          </a:bodyPr>
          <a:lstStyle/>
          <a:p>
            <a:pPr algn="l">
              <a:lnSpc>
                <a:spcPct val="112000"/>
              </a:lnSpc>
            </a:pPr>
            <a:r>
              <a:rPr sz="2400" b="1" i="0">
                <a:solidFill>
                  <a:srgbClr val="2DD4BF"/>
                </a:solidFill>
                <a:latin typeface="Arial"/>
              </a:rPr>
              <a:t>03</a:t>
            </a:r>
          </a:p>
        </p:txBody>
      </p:sp>
      <p:sp>
        <p:nvSpPr>
          <p:cNvPr id="17" name="TextBox 16" descr="Texte du point 3 : Réduisez les champs du formulaire."/>
          <p:cNvSpPr txBox="1"/>
          <p:nvPr/>
        </p:nvSpPr>
        <p:spPr>
          <a:xfrm>
            <a:off x="1755648" y="4069079"/>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Réduisez les champs du formulaire.</a:t>
            </a:r>
          </a:p>
        </p:txBody>
      </p:sp>
      <p:sp>
        <p:nvSpPr>
          <p:cNvPr id="18" name="Rounded Rectangle 17" descr="Point 4 : Vérifiez prix et stock humainement."/>
          <p:cNvSpPr/>
          <p:nvPr/>
        </p:nvSpPr>
        <p:spPr>
          <a:xfrm>
            <a:off x="566928" y="4855464"/>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descr="Repère décoratif de section"/>
          <p:cNvSpPr/>
          <p:nvPr/>
        </p:nvSpPr>
        <p:spPr>
          <a:xfrm>
            <a:off x="566928" y="4855464"/>
            <a:ext cx="64008" cy="713232"/>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descr="Numéro d'étape 4"/>
          <p:cNvSpPr txBox="1"/>
          <p:nvPr/>
        </p:nvSpPr>
        <p:spPr>
          <a:xfrm>
            <a:off x="841247" y="4937760"/>
            <a:ext cx="822960" cy="548640"/>
          </a:xfrm>
          <a:prstGeom prst="rect">
            <a:avLst/>
          </a:prstGeom>
          <a:noFill/>
        </p:spPr>
        <p:txBody>
          <a:bodyPr wrap="square" lIns="0" rIns="0" tIns="0" bIns="0" anchor="ctr">
            <a:spAutoFit/>
          </a:bodyPr>
          <a:lstStyle/>
          <a:p>
            <a:pPr algn="l">
              <a:lnSpc>
                <a:spcPct val="112000"/>
              </a:lnSpc>
            </a:pPr>
            <a:r>
              <a:rPr sz="2400" b="1" i="0">
                <a:solidFill>
                  <a:srgbClr val="2DD4BF"/>
                </a:solidFill>
                <a:latin typeface="Arial"/>
              </a:rPr>
              <a:t>04</a:t>
            </a:r>
          </a:p>
        </p:txBody>
      </p:sp>
      <p:sp>
        <p:nvSpPr>
          <p:cNvPr id="21" name="TextBox 20" descr="Texte du point 4 : Vérifiez prix et stock humainement."/>
          <p:cNvSpPr txBox="1"/>
          <p:nvPr/>
        </p:nvSpPr>
        <p:spPr>
          <a:xfrm>
            <a:off x="1755648" y="4910328"/>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Vérifiez prix et stock humainement.</a:t>
            </a:r>
          </a:p>
        </p:txBody>
      </p:sp>
      <p:sp>
        <p:nvSpPr>
          <p:cNvPr id="22" name="Rounded Rectangle 21" descr="Élément graphique décoratif, sans information propre"/>
          <p:cNvSpPr/>
          <p:nvPr/>
        </p:nvSpPr>
        <p:spPr>
          <a:xfrm>
            <a:off x="0" y="0"/>
            <a:ext cx="201168" cy="6858000"/>
          </a:xfrm>
          <a:prstGeom prst="round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descr="Référence de source affichée en pied de diapositive : Chapitre 30 — Prospects, WhatsApp Business, boutique et rendez-vous"/>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 30 — Prospects, WhatsApp Business, boutique et rendez-vous</a:t>
            </a:r>
          </a:p>
        </p:txBody>
      </p:sp>
      <p:sp>
        <p:nvSpPr>
          <p:cNvPr id="24" name="TextBox 23" descr="Numéro de diapositive 51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51 / 84  ·  2 min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Synthèse · partie 06"/>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2DD4BF"/>
                </a:solidFill>
                <a:latin typeface="Arial"/>
              </a:rPr>
              <a:t>SYNTHÈSE · PARTIE 06</a:t>
            </a:r>
          </a:p>
        </p:txBody>
      </p:sp>
      <p:sp>
        <p:nvSpPr>
          <p:cNvPr id="4" name="TextBox 3" descr="Titre : À retenir · partie 06"/>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600" b="1" i="0">
                <a:solidFill>
                  <a:srgbClr val="F2F6FC"/>
                </a:solidFill>
                <a:latin typeface="Arial"/>
              </a:rPr>
              <a:t>À retenir · partie 06</a:t>
            </a:r>
          </a:p>
        </p:txBody>
      </p:sp>
      <p:sp>
        <p:nvSpPr>
          <p:cNvPr id="5" name="TextBox 4" descr="Sous-titre : MONÉTISER"/>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600" b="1" i="0">
                <a:solidFill>
                  <a:srgbClr val="2DD4BF"/>
                </a:solidFill>
                <a:latin typeface="Arial"/>
              </a:rPr>
              <a:t>MONÉTISER</a:t>
            </a:r>
          </a:p>
        </p:txBody>
      </p:sp>
      <p:sp>
        <p:nvSpPr>
          <p:cNvPr id="6" name="Rounded Rectangle 5" descr="Point 1 : Passer d’une relation utile à un livrable commercial clair."/>
          <p:cNvSpPr/>
          <p:nvPr/>
        </p:nvSpPr>
        <p:spPr>
          <a:xfrm>
            <a:off x="566928" y="2212848"/>
            <a:ext cx="11064240" cy="59436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de section"/>
          <p:cNvSpPr/>
          <p:nvPr/>
        </p:nvSpPr>
        <p:spPr>
          <a:xfrm>
            <a:off x="566928" y="2212848"/>
            <a:ext cx="64008" cy="59436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Numéro d'étape 1"/>
          <p:cNvSpPr txBox="1"/>
          <p:nvPr/>
        </p:nvSpPr>
        <p:spPr>
          <a:xfrm>
            <a:off x="841247" y="2235708"/>
            <a:ext cx="822960" cy="548640"/>
          </a:xfrm>
          <a:prstGeom prst="rect">
            <a:avLst/>
          </a:prstGeom>
          <a:noFill/>
        </p:spPr>
        <p:txBody>
          <a:bodyPr wrap="square" lIns="0" rIns="0" tIns="0" bIns="0" anchor="ctr">
            <a:spAutoFit/>
          </a:bodyPr>
          <a:lstStyle/>
          <a:p>
            <a:pPr algn="l">
              <a:lnSpc>
                <a:spcPct val="112000"/>
              </a:lnSpc>
            </a:pPr>
            <a:r>
              <a:rPr sz="2400" b="1" i="0">
                <a:solidFill>
                  <a:srgbClr val="2DD4BF"/>
                </a:solidFill>
                <a:latin typeface="Arial"/>
              </a:rPr>
              <a:t>01</a:t>
            </a:r>
          </a:p>
        </p:txBody>
      </p:sp>
      <p:sp>
        <p:nvSpPr>
          <p:cNvPr id="9" name="TextBox 8" descr="Texte du point 1 : Passer d’une relation utile à un livrable commercial clair."/>
          <p:cNvSpPr txBox="1"/>
          <p:nvPr/>
        </p:nvSpPr>
        <p:spPr>
          <a:xfrm>
            <a:off x="1755648" y="2267712"/>
            <a:ext cx="9646919" cy="484632"/>
          </a:xfrm>
          <a:prstGeom prst="rect">
            <a:avLst/>
          </a:prstGeom>
          <a:noFill/>
        </p:spPr>
        <p:txBody>
          <a:bodyPr wrap="square" lIns="0" rIns="0" tIns="0" bIns="0" anchor="ctr">
            <a:spAutoFit/>
          </a:bodyPr>
          <a:lstStyle/>
          <a:p>
            <a:pPr algn="l">
              <a:lnSpc>
                <a:spcPct val="112000"/>
              </a:lnSpc>
            </a:pPr>
            <a:r>
              <a:rPr sz="1500" b="0" i="0">
                <a:solidFill>
                  <a:srgbClr val="F2F6FC"/>
                </a:solidFill>
                <a:latin typeface="Arial"/>
              </a:rPr>
              <a:t>Passer d’une relation utile à un livrable commercial clair.</a:t>
            </a:r>
          </a:p>
        </p:txBody>
      </p:sp>
      <p:sp>
        <p:nvSpPr>
          <p:cNvPr id="10" name="Rounded Rectangle 9" descr="Point 2 : Distinguer programmes internes et ventes à l’audience."/>
          <p:cNvSpPr/>
          <p:nvPr/>
        </p:nvSpPr>
        <p:spPr>
          <a:xfrm>
            <a:off x="566928" y="2916936"/>
            <a:ext cx="11064240" cy="59436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de section"/>
          <p:cNvSpPr/>
          <p:nvPr/>
        </p:nvSpPr>
        <p:spPr>
          <a:xfrm>
            <a:off x="566928" y="2916936"/>
            <a:ext cx="64008" cy="59436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Numéro d'étape 2"/>
          <p:cNvSpPr txBox="1"/>
          <p:nvPr/>
        </p:nvSpPr>
        <p:spPr>
          <a:xfrm>
            <a:off x="841247" y="2939796"/>
            <a:ext cx="822960" cy="548640"/>
          </a:xfrm>
          <a:prstGeom prst="rect">
            <a:avLst/>
          </a:prstGeom>
          <a:noFill/>
        </p:spPr>
        <p:txBody>
          <a:bodyPr wrap="square" lIns="0" rIns="0" tIns="0" bIns="0" anchor="ctr">
            <a:spAutoFit/>
          </a:bodyPr>
          <a:lstStyle/>
          <a:p>
            <a:pPr algn="l">
              <a:lnSpc>
                <a:spcPct val="112000"/>
              </a:lnSpc>
            </a:pPr>
            <a:r>
              <a:rPr sz="2400" b="1" i="0">
                <a:solidFill>
                  <a:srgbClr val="2DD4BF"/>
                </a:solidFill>
                <a:latin typeface="Arial"/>
              </a:rPr>
              <a:t>02</a:t>
            </a:r>
          </a:p>
        </p:txBody>
      </p:sp>
      <p:sp>
        <p:nvSpPr>
          <p:cNvPr id="13" name="TextBox 12" descr="Texte du point 2 : Distinguer programmes internes et ventes à l’audience."/>
          <p:cNvSpPr txBox="1"/>
          <p:nvPr/>
        </p:nvSpPr>
        <p:spPr>
          <a:xfrm>
            <a:off x="1755648" y="2971800"/>
            <a:ext cx="9646919" cy="484632"/>
          </a:xfrm>
          <a:prstGeom prst="rect">
            <a:avLst/>
          </a:prstGeom>
          <a:noFill/>
        </p:spPr>
        <p:txBody>
          <a:bodyPr wrap="square" lIns="0" rIns="0" tIns="0" bIns="0" anchor="ctr">
            <a:spAutoFit/>
          </a:bodyPr>
          <a:lstStyle/>
          <a:p>
            <a:pPr algn="l">
              <a:lnSpc>
                <a:spcPct val="112000"/>
              </a:lnSpc>
            </a:pPr>
            <a:r>
              <a:rPr sz="1500" b="0" i="0">
                <a:solidFill>
                  <a:srgbClr val="F2F6FC"/>
                </a:solidFill>
                <a:latin typeface="Arial"/>
              </a:rPr>
              <a:t>Distinguer programmes internes et ventes à l’audience.</a:t>
            </a:r>
          </a:p>
        </p:txBody>
      </p:sp>
      <p:sp>
        <p:nvSpPr>
          <p:cNvPr id="14" name="Rounded Rectangle 13" descr="Point 3 : Définir un service précis que l’on peut livrer."/>
          <p:cNvSpPr/>
          <p:nvPr/>
        </p:nvSpPr>
        <p:spPr>
          <a:xfrm>
            <a:off x="566928" y="3621024"/>
            <a:ext cx="11064240" cy="59436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Repère décoratif de section"/>
          <p:cNvSpPr/>
          <p:nvPr/>
        </p:nvSpPr>
        <p:spPr>
          <a:xfrm>
            <a:off x="566928" y="3621024"/>
            <a:ext cx="64008" cy="59436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Numéro d'étape 3"/>
          <p:cNvSpPr txBox="1"/>
          <p:nvPr/>
        </p:nvSpPr>
        <p:spPr>
          <a:xfrm>
            <a:off x="841247" y="3643884"/>
            <a:ext cx="822960" cy="548640"/>
          </a:xfrm>
          <a:prstGeom prst="rect">
            <a:avLst/>
          </a:prstGeom>
          <a:noFill/>
        </p:spPr>
        <p:txBody>
          <a:bodyPr wrap="square" lIns="0" rIns="0" tIns="0" bIns="0" anchor="ctr">
            <a:spAutoFit/>
          </a:bodyPr>
          <a:lstStyle/>
          <a:p>
            <a:pPr algn="l">
              <a:lnSpc>
                <a:spcPct val="112000"/>
              </a:lnSpc>
            </a:pPr>
            <a:r>
              <a:rPr sz="2400" b="1" i="0">
                <a:solidFill>
                  <a:srgbClr val="2DD4BF"/>
                </a:solidFill>
                <a:latin typeface="Arial"/>
              </a:rPr>
              <a:t>03</a:t>
            </a:r>
          </a:p>
        </p:txBody>
      </p:sp>
      <p:sp>
        <p:nvSpPr>
          <p:cNvPr id="17" name="TextBox 16" descr="Texte du point 3 : Définir un service précis que l’on peut livrer."/>
          <p:cNvSpPr txBox="1"/>
          <p:nvPr/>
        </p:nvSpPr>
        <p:spPr>
          <a:xfrm>
            <a:off x="1755648" y="3675887"/>
            <a:ext cx="9646919" cy="484632"/>
          </a:xfrm>
          <a:prstGeom prst="rect">
            <a:avLst/>
          </a:prstGeom>
          <a:noFill/>
        </p:spPr>
        <p:txBody>
          <a:bodyPr wrap="square" lIns="0" rIns="0" tIns="0" bIns="0" anchor="ctr">
            <a:spAutoFit/>
          </a:bodyPr>
          <a:lstStyle/>
          <a:p>
            <a:pPr algn="l">
              <a:lnSpc>
                <a:spcPct val="112000"/>
              </a:lnSpc>
            </a:pPr>
            <a:r>
              <a:rPr sz="1500" b="0" i="0">
                <a:solidFill>
                  <a:srgbClr val="F2F6FC"/>
                </a:solidFill>
                <a:latin typeface="Arial"/>
              </a:rPr>
              <a:t>Définir un service précis que l’on peut livrer.</a:t>
            </a:r>
          </a:p>
        </p:txBody>
      </p:sp>
      <p:sp>
        <p:nvSpPr>
          <p:cNvPr id="18" name="Rounded Rectangle 17" descr="Point 4 : Créer une petite ressource réutilisable et testée."/>
          <p:cNvSpPr/>
          <p:nvPr/>
        </p:nvSpPr>
        <p:spPr>
          <a:xfrm>
            <a:off x="566928" y="4325112"/>
            <a:ext cx="11064240" cy="59436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descr="Repère décoratif de section"/>
          <p:cNvSpPr/>
          <p:nvPr/>
        </p:nvSpPr>
        <p:spPr>
          <a:xfrm>
            <a:off x="566928" y="4325112"/>
            <a:ext cx="64008" cy="59436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descr="Numéro d'étape 4"/>
          <p:cNvSpPr txBox="1"/>
          <p:nvPr/>
        </p:nvSpPr>
        <p:spPr>
          <a:xfrm>
            <a:off x="841247" y="4347972"/>
            <a:ext cx="822960" cy="548640"/>
          </a:xfrm>
          <a:prstGeom prst="rect">
            <a:avLst/>
          </a:prstGeom>
          <a:noFill/>
        </p:spPr>
        <p:txBody>
          <a:bodyPr wrap="square" lIns="0" rIns="0" tIns="0" bIns="0" anchor="ctr">
            <a:spAutoFit/>
          </a:bodyPr>
          <a:lstStyle/>
          <a:p>
            <a:pPr algn="l">
              <a:lnSpc>
                <a:spcPct val="112000"/>
              </a:lnSpc>
            </a:pPr>
            <a:r>
              <a:rPr sz="2400" b="1" i="0">
                <a:solidFill>
                  <a:srgbClr val="2DD4BF"/>
                </a:solidFill>
                <a:latin typeface="Arial"/>
              </a:rPr>
              <a:t>04</a:t>
            </a:r>
          </a:p>
        </p:txBody>
      </p:sp>
      <p:sp>
        <p:nvSpPr>
          <p:cNvPr id="21" name="TextBox 20" descr="Texte du point 4 : Créer une petite ressource réutilisable et testée."/>
          <p:cNvSpPr txBox="1"/>
          <p:nvPr/>
        </p:nvSpPr>
        <p:spPr>
          <a:xfrm>
            <a:off x="1755648" y="4379976"/>
            <a:ext cx="9646919" cy="484632"/>
          </a:xfrm>
          <a:prstGeom prst="rect">
            <a:avLst/>
          </a:prstGeom>
          <a:noFill/>
        </p:spPr>
        <p:txBody>
          <a:bodyPr wrap="square" lIns="0" rIns="0" tIns="0" bIns="0" anchor="ctr">
            <a:spAutoFit/>
          </a:bodyPr>
          <a:lstStyle/>
          <a:p>
            <a:pPr algn="l">
              <a:lnSpc>
                <a:spcPct val="112000"/>
              </a:lnSpc>
            </a:pPr>
            <a:r>
              <a:rPr sz="1500" b="0" i="0">
                <a:solidFill>
                  <a:srgbClr val="F2F6FC"/>
                </a:solidFill>
                <a:latin typeface="Arial"/>
              </a:rPr>
              <a:t>Créer une petite ressource réutilisable et testée.</a:t>
            </a:r>
          </a:p>
        </p:txBody>
      </p:sp>
      <p:sp>
        <p:nvSpPr>
          <p:cNvPr id="22" name="Rounded Rectangle 21" descr="Point 5 : Déclarer honnêtement les liens commerciaux."/>
          <p:cNvSpPr/>
          <p:nvPr/>
        </p:nvSpPr>
        <p:spPr>
          <a:xfrm>
            <a:off x="566928" y="5029200"/>
            <a:ext cx="11064240" cy="59436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descr="Repère décoratif de section"/>
          <p:cNvSpPr/>
          <p:nvPr/>
        </p:nvSpPr>
        <p:spPr>
          <a:xfrm>
            <a:off x="566928" y="5029200"/>
            <a:ext cx="64008" cy="59436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descr="Numéro d'étape 5"/>
          <p:cNvSpPr txBox="1"/>
          <p:nvPr/>
        </p:nvSpPr>
        <p:spPr>
          <a:xfrm>
            <a:off x="841247" y="5052060"/>
            <a:ext cx="822960" cy="548640"/>
          </a:xfrm>
          <a:prstGeom prst="rect">
            <a:avLst/>
          </a:prstGeom>
          <a:noFill/>
        </p:spPr>
        <p:txBody>
          <a:bodyPr wrap="square" lIns="0" rIns="0" tIns="0" bIns="0" anchor="ctr">
            <a:spAutoFit/>
          </a:bodyPr>
          <a:lstStyle/>
          <a:p>
            <a:pPr algn="l">
              <a:lnSpc>
                <a:spcPct val="112000"/>
              </a:lnSpc>
            </a:pPr>
            <a:r>
              <a:rPr sz="2400" b="1" i="0">
                <a:solidFill>
                  <a:srgbClr val="2DD4BF"/>
                </a:solidFill>
                <a:latin typeface="Arial"/>
              </a:rPr>
              <a:t>05</a:t>
            </a:r>
          </a:p>
        </p:txBody>
      </p:sp>
      <p:sp>
        <p:nvSpPr>
          <p:cNvPr id="25" name="TextBox 24" descr="Texte du point 5 : Déclarer honnêtement les liens commerciaux."/>
          <p:cNvSpPr txBox="1"/>
          <p:nvPr/>
        </p:nvSpPr>
        <p:spPr>
          <a:xfrm>
            <a:off x="1755648" y="5084064"/>
            <a:ext cx="9646919" cy="484632"/>
          </a:xfrm>
          <a:prstGeom prst="rect">
            <a:avLst/>
          </a:prstGeom>
          <a:noFill/>
        </p:spPr>
        <p:txBody>
          <a:bodyPr wrap="square" lIns="0" rIns="0" tIns="0" bIns="0" anchor="ctr">
            <a:spAutoFit/>
          </a:bodyPr>
          <a:lstStyle/>
          <a:p>
            <a:pPr algn="l">
              <a:lnSpc>
                <a:spcPct val="112000"/>
              </a:lnSpc>
            </a:pPr>
            <a:r>
              <a:rPr sz="1500" b="0" i="0">
                <a:solidFill>
                  <a:srgbClr val="F2F6FC"/>
                </a:solidFill>
                <a:latin typeface="Arial"/>
              </a:rPr>
              <a:t>Déclarer honnêtement les liens commerciaux.</a:t>
            </a:r>
          </a:p>
        </p:txBody>
      </p:sp>
      <p:sp>
        <p:nvSpPr>
          <p:cNvPr id="26" name="Rounded Rectangle 25" descr="Élément graphique décoratif, sans information propre"/>
          <p:cNvSpPr/>
          <p:nvPr/>
        </p:nvSpPr>
        <p:spPr>
          <a:xfrm>
            <a:off x="0" y="0"/>
            <a:ext cx="201168" cy="6858000"/>
          </a:xfrm>
          <a:prstGeom prst="round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descr="Référence de source affichée en pied de diapositive : Chapitres 25–30"/>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Chapitres 25–30</a:t>
            </a:r>
          </a:p>
        </p:txBody>
      </p:sp>
      <p:sp>
        <p:nvSpPr>
          <p:cNvPr id="28" name="TextBox 27" descr="Numéro de diapositive 52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52 / 84  ·  2 min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descr="Élément graphique décoratif, sans information propr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descr="Bandeau supérieur de partie"/>
          <p:cNvSpPr/>
          <p:nvPr/>
        </p:nvSpPr>
        <p:spPr>
          <a:xfrm>
            <a:off x="0" y="0"/>
            <a:ext cx="12191695" cy="25603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descr="Titre de section : PARTIE 07"/>
          <p:cNvSpPr txBox="1"/>
          <p:nvPr/>
        </p:nvSpPr>
        <p:spPr>
          <a:xfrm>
            <a:off x="822960" y="2148840"/>
            <a:ext cx="8357616" cy="1097280"/>
          </a:xfrm>
          <a:prstGeom prst="rect">
            <a:avLst/>
          </a:prstGeom>
          <a:noFill/>
        </p:spPr>
        <p:txBody>
          <a:bodyPr wrap="square" lIns="0" rIns="0" tIns="0" bIns="0" anchor="t">
            <a:spAutoFit/>
          </a:bodyPr>
          <a:lstStyle/>
          <a:p>
            <a:pPr algn="l">
              <a:lnSpc>
                <a:spcPct val="106000"/>
              </a:lnSpc>
            </a:pPr>
            <a:r>
              <a:rPr sz="5600" b="1" i="0">
                <a:solidFill>
                  <a:srgbClr val="F2F6FC"/>
                </a:solidFill>
                <a:latin typeface="Arial"/>
              </a:rPr>
              <a:t>PARTIE 07</a:t>
            </a:r>
          </a:p>
        </p:txBody>
      </p:sp>
      <p:sp>
        <p:nvSpPr>
          <p:cNvPr id="6" name="TextBox 5" descr="Sous-titre de section : TIKTOK DU COMPTE AU PAIEMENT"/>
          <p:cNvSpPr txBox="1"/>
          <p:nvPr/>
        </p:nvSpPr>
        <p:spPr>
          <a:xfrm>
            <a:off x="822960" y="3291840"/>
            <a:ext cx="10058400" cy="1463040"/>
          </a:xfrm>
          <a:prstGeom prst="rect">
            <a:avLst/>
          </a:prstGeom>
          <a:noFill/>
        </p:spPr>
        <p:txBody>
          <a:bodyPr wrap="square" lIns="0" rIns="0" tIns="0" bIns="0" anchor="t">
            <a:spAutoFit/>
          </a:bodyPr>
          <a:lstStyle/>
          <a:p>
            <a:pPr algn="l">
              <a:lnSpc>
                <a:spcPct val="112000"/>
              </a:lnSpc>
            </a:pPr>
            <a:r>
              <a:rPr sz="3000" b="1" i="0">
                <a:solidFill>
                  <a:srgbClr val="34D399"/>
                </a:solidFill>
                <a:latin typeface="Arial"/>
              </a:rPr>
              <a:t>TIKTOK DU COMPTE AU PAIEMENT</a:t>
            </a:r>
          </a:p>
        </p:txBody>
      </p:sp>
      <p:sp>
        <p:nvSpPr>
          <p:cNvPr id="7" name="Rounded Rectangle 6" descr="Élément graphique décoratif, sans information propre"/>
          <p:cNvSpPr/>
          <p:nvPr/>
        </p:nvSpPr>
        <p:spPr>
          <a:xfrm>
            <a:off x="0" y="0"/>
            <a:ext cx="201168" cy="6858000"/>
          </a:xfrm>
          <a:prstGeom prst="round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Référence de source affichée en pied de diapositive : Partie 7 du DOCX"/>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Partie 7 du DOCX</a:t>
            </a:r>
          </a:p>
        </p:txBody>
      </p:sp>
      <p:sp>
        <p:nvSpPr>
          <p:cNvPr id="9" name="TextBox 8" descr="Numéro de diapositive 53 sur 84, durée prévue 1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53 / 84  ·  1 min</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Partie 07 · chapitre 31"/>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34D399"/>
                </a:solidFill>
                <a:latin typeface="Arial"/>
              </a:rPr>
              <a:t>PARTIE 07 · CHAPITRE 31</a:t>
            </a:r>
          </a:p>
        </p:txBody>
      </p:sp>
      <p:sp>
        <p:nvSpPr>
          <p:cNvPr id="4" name="TextBox 3" descr="Titre du chapitre : 31 · Créer et sécuriser son compte"/>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200" b="1" i="0">
                <a:solidFill>
                  <a:srgbClr val="F2F6FC"/>
                </a:solidFill>
                <a:latin typeface="Arial"/>
              </a:rPr>
              <a:t>31 · Créer et sécuriser son compte</a:t>
            </a:r>
          </a:p>
        </p:txBody>
      </p:sp>
      <p:sp>
        <p:nvSpPr>
          <p:cNvPr id="5" name="TextBox 4" descr="Objectif du chapitre : Créer un profil vrai et protéger ses accès."/>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550" b="1" i="0">
                <a:solidFill>
                  <a:srgbClr val="34D399"/>
                </a:solidFill>
                <a:latin typeface="Arial"/>
              </a:rPr>
              <a:t>Créer un profil vrai et protéger ses accès.</a:t>
            </a:r>
          </a:p>
        </p:txBody>
      </p:sp>
      <p:sp>
        <p:nvSpPr>
          <p:cNvPr id="6" name="Rounded Rectangle 5" descr="Point 1 : Créez un compte véridique."/>
          <p:cNvSpPr/>
          <p:nvPr/>
        </p:nvSpPr>
        <p:spPr>
          <a:xfrm>
            <a:off x="566928" y="2331720"/>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de section"/>
          <p:cNvSpPr/>
          <p:nvPr/>
        </p:nvSpPr>
        <p:spPr>
          <a:xfrm>
            <a:off x="566928" y="2331720"/>
            <a:ext cx="64008" cy="71323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Numéro d'étape 1"/>
          <p:cNvSpPr txBox="1"/>
          <p:nvPr/>
        </p:nvSpPr>
        <p:spPr>
          <a:xfrm>
            <a:off x="841247" y="2414016"/>
            <a:ext cx="822960" cy="548640"/>
          </a:xfrm>
          <a:prstGeom prst="rect">
            <a:avLst/>
          </a:prstGeom>
          <a:noFill/>
        </p:spPr>
        <p:txBody>
          <a:bodyPr wrap="square" lIns="0" rIns="0" tIns="0" bIns="0" anchor="ctr">
            <a:spAutoFit/>
          </a:bodyPr>
          <a:lstStyle/>
          <a:p>
            <a:pPr algn="l">
              <a:lnSpc>
                <a:spcPct val="112000"/>
              </a:lnSpc>
            </a:pPr>
            <a:r>
              <a:rPr sz="2400" b="1" i="0">
                <a:solidFill>
                  <a:srgbClr val="34D399"/>
                </a:solidFill>
                <a:latin typeface="Arial"/>
              </a:rPr>
              <a:t>01</a:t>
            </a:r>
          </a:p>
        </p:txBody>
      </p:sp>
      <p:sp>
        <p:nvSpPr>
          <p:cNvPr id="9" name="TextBox 8" descr="Texte du point 1 : Créez un compte véridique."/>
          <p:cNvSpPr txBox="1"/>
          <p:nvPr/>
        </p:nvSpPr>
        <p:spPr>
          <a:xfrm>
            <a:off x="1755648" y="2386584"/>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Créez un compte véridique.</a:t>
            </a:r>
          </a:p>
        </p:txBody>
      </p:sp>
      <p:sp>
        <p:nvSpPr>
          <p:cNvPr id="10" name="Rounded Rectangle 9" descr="Point 2 : Activez les protections proposées."/>
          <p:cNvSpPr/>
          <p:nvPr/>
        </p:nvSpPr>
        <p:spPr>
          <a:xfrm>
            <a:off x="566928" y="3172968"/>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de section"/>
          <p:cNvSpPr/>
          <p:nvPr/>
        </p:nvSpPr>
        <p:spPr>
          <a:xfrm>
            <a:off x="566928" y="3172968"/>
            <a:ext cx="64008" cy="71323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Numéro d'étape 2"/>
          <p:cNvSpPr txBox="1"/>
          <p:nvPr/>
        </p:nvSpPr>
        <p:spPr>
          <a:xfrm>
            <a:off x="841247" y="3255264"/>
            <a:ext cx="822960" cy="548640"/>
          </a:xfrm>
          <a:prstGeom prst="rect">
            <a:avLst/>
          </a:prstGeom>
          <a:noFill/>
        </p:spPr>
        <p:txBody>
          <a:bodyPr wrap="square" lIns="0" rIns="0" tIns="0" bIns="0" anchor="ctr">
            <a:spAutoFit/>
          </a:bodyPr>
          <a:lstStyle/>
          <a:p>
            <a:pPr algn="l">
              <a:lnSpc>
                <a:spcPct val="112000"/>
              </a:lnSpc>
            </a:pPr>
            <a:r>
              <a:rPr sz="2400" b="1" i="0">
                <a:solidFill>
                  <a:srgbClr val="34D399"/>
                </a:solidFill>
                <a:latin typeface="Arial"/>
              </a:rPr>
              <a:t>02</a:t>
            </a:r>
          </a:p>
        </p:txBody>
      </p:sp>
      <p:sp>
        <p:nvSpPr>
          <p:cNvPr id="13" name="TextBox 12" descr="Texte du point 2 : Activez les protections proposées."/>
          <p:cNvSpPr txBox="1"/>
          <p:nvPr/>
        </p:nvSpPr>
        <p:spPr>
          <a:xfrm>
            <a:off x="1755648" y="3227832"/>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Activez les protections proposées.</a:t>
            </a:r>
          </a:p>
        </p:txBody>
      </p:sp>
      <p:sp>
        <p:nvSpPr>
          <p:cNvPr id="14" name="Rounded Rectangle 13" descr="Point 3 : Remplissez nom et bio exacts."/>
          <p:cNvSpPr/>
          <p:nvPr/>
        </p:nvSpPr>
        <p:spPr>
          <a:xfrm>
            <a:off x="566928" y="4014215"/>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Repère décoratif de section"/>
          <p:cNvSpPr/>
          <p:nvPr/>
        </p:nvSpPr>
        <p:spPr>
          <a:xfrm>
            <a:off x="566928" y="4014215"/>
            <a:ext cx="64008" cy="71323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Numéro d'étape 3"/>
          <p:cNvSpPr txBox="1"/>
          <p:nvPr/>
        </p:nvSpPr>
        <p:spPr>
          <a:xfrm>
            <a:off x="841247" y="4096511"/>
            <a:ext cx="822960" cy="548640"/>
          </a:xfrm>
          <a:prstGeom prst="rect">
            <a:avLst/>
          </a:prstGeom>
          <a:noFill/>
        </p:spPr>
        <p:txBody>
          <a:bodyPr wrap="square" lIns="0" rIns="0" tIns="0" bIns="0" anchor="ctr">
            <a:spAutoFit/>
          </a:bodyPr>
          <a:lstStyle/>
          <a:p>
            <a:pPr algn="l">
              <a:lnSpc>
                <a:spcPct val="112000"/>
              </a:lnSpc>
            </a:pPr>
            <a:r>
              <a:rPr sz="2400" b="1" i="0">
                <a:solidFill>
                  <a:srgbClr val="34D399"/>
                </a:solidFill>
                <a:latin typeface="Arial"/>
              </a:rPr>
              <a:t>03</a:t>
            </a:r>
          </a:p>
        </p:txBody>
      </p:sp>
      <p:sp>
        <p:nvSpPr>
          <p:cNvPr id="17" name="TextBox 16" descr="Texte du point 3 : Remplissez nom et bio exacts."/>
          <p:cNvSpPr txBox="1"/>
          <p:nvPr/>
        </p:nvSpPr>
        <p:spPr>
          <a:xfrm>
            <a:off x="1755648" y="4069079"/>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Remplissez nom et bio exacts.</a:t>
            </a:r>
          </a:p>
        </p:txBody>
      </p:sp>
      <p:sp>
        <p:nvSpPr>
          <p:cNvPr id="18" name="Rounded Rectangle 17" descr="Point 4 : Testez le lien."/>
          <p:cNvSpPr/>
          <p:nvPr/>
        </p:nvSpPr>
        <p:spPr>
          <a:xfrm>
            <a:off x="566928" y="4855464"/>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descr="Repère décoratif de section"/>
          <p:cNvSpPr/>
          <p:nvPr/>
        </p:nvSpPr>
        <p:spPr>
          <a:xfrm>
            <a:off x="566928" y="4855464"/>
            <a:ext cx="64008" cy="71323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descr="Numéro d'étape 4"/>
          <p:cNvSpPr txBox="1"/>
          <p:nvPr/>
        </p:nvSpPr>
        <p:spPr>
          <a:xfrm>
            <a:off x="841247" y="4937760"/>
            <a:ext cx="822960" cy="548640"/>
          </a:xfrm>
          <a:prstGeom prst="rect">
            <a:avLst/>
          </a:prstGeom>
          <a:noFill/>
        </p:spPr>
        <p:txBody>
          <a:bodyPr wrap="square" lIns="0" rIns="0" tIns="0" bIns="0" anchor="ctr">
            <a:spAutoFit/>
          </a:bodyPr>
          <a:lstStyle/>
          <a:p>
            <a:pPr algn="l">
              <a:lnSpc>
                <a:spcPct val="112000"/>
              </a:lnSpc>
            </a:pPr>
            <a:r>
              <a:rPr sz="2400" b="1" i="0">
                <a:solidFill>
                  <a:srgbClr val="34D399"/>
                </a:solidFill>
                <a:latin typeface="Arial"/>
              </a:rPr>
              <a:t>04</a:t>
            </a:r>
          </a:p>
        </p:txBody>
      </p:sp>
      <p:sp>
        <p:nvSpPr>
          <p:cNvPr id="21" name="TextBox 20" descr="Texte du point 4 : Testez le lien."/>
          <p:cNvSpPr txBox="1"/>
          <p:nvPr/>
        </p:nvSpPr>
        <p:spPr>
          <a:xfrm>
            <a:off x="1755648" y="4910328"/>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Testez le lien.</a:t>
            </a:r>
          </a:p>
        </p:txBody>
      </p:sp>
      <p:sp>
        <p:nvSpPr>
          <p:cNvPr id="22" name="Rounded Rectangle 21" descr="Élément graphique décoratif, sans information propre"/>
          <p:cNvSpPr/>
          <p:nvPr/>
        </p:nvSpPr>
        <p:spPr>
          <a:xfrm>
            <a:off x="0" y="0"/>
            <a:ext cx="201168" cy="6858000"/>
          </a:xfrm>
          <a:prstGeom prst="round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descr="Référence de source affichée en pied de diapositive : Chapitre 31 — Créer et sécuriser son compte"/>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 31 — Créer et sécuriser son compte</a:t>
            </a:r>
          </a:p>
        </p:txBody>
      </p:sp>
      <p:sp>
        <p:nvSpPr>
          <p:cNvPr id="24" name="TextBox 23" descr="Numéro de diapositive 54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54 / 84  ·  2 min</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Partie 07 · chapitre 32"/>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34D399"/>
                </a:solidFill>
                <a:latin typeface="Arial"/>
              </a:rPr>
              <a:t>PARTIE 07 · CHAPITRE 32</a:t>
            </a:r>
          </a:p>
        </p:txBody>
      </p:sp>
      <p:sp>
        <p:nvSpPr>
          <p:cNvPr id="4" name="TextBox 3" descr="Titre du chapitre : 32 · Conditions des programmes et disponibilité par pays"/>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2950" b="1" i="0">
                <a:solidFill>
                  <a:srgbClr val="F2F6FC"/>
                </a:solidFill>
                <a:latin typeface="Arial"/>
              </a:rPr>
              <a:t>32 · Conditions des programmes et disponibilité par pays</a:t>
            </a:r>
          </a:p>
        </p:txBody>
      </p:sp>
      <p:sp>
        <p:nvSpPr>
          <p:cNvPr id="5" name="TextBox 4" descr="Objectif du chapitre : Vérifier région, éligibilité et paiement séparément."/>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550" b="1" i="0">
                <a:solidFill>
                  <a:srgbClr val="34D399"/>
                </a:solidFill>
                <a:latin typeface="Arial"/>
              </a:rPr>
              <a:t>Vérifier région, éligibilité et paiement séparément.</a:t>
            </a:r>
          </a:p>
        </p:txBody>
      </p:sp>
      <p:sp>
        <p:nvSpPr>
          <p:cNvPr id="6" name="Rounded Rectangle 5" descr="Point 1 : Écrivez votre résidence réelle."/>
          <p:cNvSpPr/>
          <p:nvPr/>
        </p:nvSpPr>
        <p:spPr>
          <a:xfrm>
            <a:off x="566928" y="2331720"/>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de section"/>
          <p:cNvSpPr/>
          <p:nvPr/>
        </p:nvSpPr>
        <p:spPr>
          <a:xfrm>
            <a:off x="566928" y="2331720"/>
            <a:ext cx="64008" cy="71323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Numéro d'étape 1"/>
          <p:cNvSpPr txBox="1"/>
          <p:nvPr/>
        </p:nvSpPr>
        <p:spPr>
          <a:xfrm>
            <a:off x="841247" y="2414016"/>
            <a:ext cx="822960" cy="548640"/>
          </a:xfrm>
          <a:prstGeom prst="rect">
            <a:avLst/>
          </a:prstGeom>
          <a:noFill/>
        </p:spPr>
        <p:txBody>
          <a:bodyPr wrap="square" lIns="0" rIns="0" tIns="0" bIns="0" anchor="ctr">
            <a:spAutoFit/>
          </a:bodyPr>
          <a:lstStyle/>
          <a:p>
            <a:pPr algn="l">
              <a:lnSpc>
                <a:spcPct val="112000"/>
              </a:lnSpc>
            </a:pPr>
            <a:r>
              <a:rPr sz="2400" b="1" i="0">
                <a:solidFill>
                  <a:srgbClr val="34D399"/>
                </a:solidFill>
                <a:latin typeface="Arial"/>
              </a:rPr>
              <a:t>01</a:t>
            </a:r>
          </a:p>
        </p:txBody>
      </p:sp>
      <p:sp>
        <p:nvSpPr>
          <p:cNvPr id="9" name="TextBox 8" descr="Texte du point 1 : Écrivez votre résidence réelle."/>
          <p:cNvSpPr txBox="1"/>
          <p:nvPr/>
        </p:nvSpPr>
        <p:spPr>
          <a:xfrm>
            <a:off x="1755648" y="2386584"/>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Écrivez votre résidence réelle.</a:t>
            </a:r>
          </a:p>
        </p:txBody>
      </p:sp>
      <p:sp>
        <p:nvSpPr>
          <p:cNvPr id="10" name="Rounded Rectangle 9" descr="Point 2 : Recherchez la page du produit exact."/>
          <p:cNvSpPr/>
          <p:nvPr/>
        </p:nvSpPr>
        <p:spPr>
          <a:xfrm>
            <a:off x="566928" y="3172968"/>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de section"/>
          <p:cNvSpPr/>
          <p:nvPr/>
        </p:nvSpPr>
        <p:spPr>
          <a:xfrm>
            <a:off x="566928" y="3172968"/>
            <a:ext cx="64008" cy="71323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Numéro d'étape 2"/>
          <p:cNvSpPr txBox="1"/>
          <p:nvPr/>
        </p:nvSpPr>
        <p:spPr>
          <a:xfrm>
            <a:off x="841247" y="3255264"/>
            <a:ext cx="822960" cy="548640"/>
          </a:xfrm>
          <a:prstGeom prst="rect">
            <a:avLst/>
          </a:prstGeom>
          <a:noFill/>
        </p:spPr>
        <p:txBody>
          <a:bodyPr wrap="square" lIns="0" rIns="0" tIns="0" bIns="0" anchor="ctr">
            <a:spAutoFit/>
          </a:bodyPr>
          <a:lstStyle/>
          <a:p>
            <a:pPr algn="l">
              <a:lnSpc>
                <a:spcPct val="112000"/>
              </a:lnSpc>
            </a:pPr>
            <a:r>
              <a:rPr sz="2400" b="1" i="0">
                <a:solidFill>
                  <a:srgbClr val="34D399"/>
                </a:solidFill>
                <a:latin typeface="Arial"/>
              </a:rPr>
              <a:t>02</a:t>
            </a:r>
          </a:p>
        </p:txBody>
      </p:sp>
      <p:sp>
        <p:nvSpPr>
          <p:cNvPr id="13" name="TextBox 12" descr="Texte du point 2 : Recherchez la page du produit exact."/>
          <p:cNvSpPr txBox="1"/>
          <p:nvPr/>
        </p:nvSpPr>
        <p:spPr>
          <a:xfrm>
            <a:off x="1755648" y="3227832"/>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Recherchez la page du produit exact.</a:t>
            </a:r>
          </a:p>
        </p:txBody>
      </p:sp>
      <p:sp>
        <p:nvSpPr>
          <p:cNvPr id="14" name="Rounded Rectangle 13" descr="Point 3 : Notez URL et date."/>
          <p:cNvSpPr/>
          <p:nvPr/>
        </p:nvSpPr>
        <p:spPr>
          <a:xfrm>
            <a:off x="566928" y="4014215"/>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Repère décoratif de section"/>
          <p:cNvSpPr/>
          <p:nvPr/>
        </p:nvSpPr>
        <p:spPr>
          <a:xfrm>
            <a:off x="566928" y="4014215"/>
            <a:ext cx="64008" cy="71323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Numéro d'étape 3"/>
          <p:cNvSpPr txBox="1"/>
          <p:nvPr/>
        </p:nvSpPr>
        <p:spPr>
          <a:xfrm>
            <a:off x="841247" y="4096511"/>
            <a:ext cx="822960" cy="548640"/>
          </a:xfrm>
          <a:prstGeom prst="rect">
            <a:avLst/>
          </a:prstGeom>
          <a:noFill/>
        </p:spPr>
        <p:txBody>
          <a:bodyPr wrap="square" lIns="0" rIns="0" tIns="0" bIns="0" anchor="ctr">
            <a:spAutoFit/>
          </a:bodyPr>
          <a:lstStyle/>
          <a:p>
            <a:pPr algn="l">
              <a:lnSpc>
                <a:spcPct val="112000"/>
              </a:lnSpc>
            </a:pPr>
            <a:r>
              <a:rPr sz="2400" b="1" i="0">
                <a:solidFill>
                  <a:srgbClr val="34D399"/>
                </a:solidFill>
                <a:latin typeface="Arial"/>
              </a:rPr>
              <a:t>03</a:t>
            </a:r>
          </a:p>
        </p:txBody>
      </p:sp>
      <p:sp>
        <p:nvSpPr>
          <p:cNvPr id="17" name="TextBox 16" descr="Texte du point 3 : Notez URL et date."/>
          <p:cNvSpPr txBox="1"/>
          <p:nvPr/>
        </p:nvSpPr>
        <p:spPr>
          <a:xfrm>
            <a:off x="1755648" y="4069079"/>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Notez URL et date.</a:t>
            </a:r>
          </a:p>
        </p:txBody>
      </p:sp>
      <p:sp>
        <p:nvSpPr>
          <p:cNvPr id="18" name="Rounded Rectangle 17" descr="Point 4 : Vérifiez compte et moyen de paiement."/>
          <p:cNvSpPr/>
          <p:nvPr/>
        </p:nvSpPr>
        <p:spPr>
          <a:xfrm>
            <a:off x="566928" y="4855464"/>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descr="Repère décoratif de section"/>
          <p:cNvSpPr/>
          <p:nvPr/>
        </p:nvSpPr>
        <p:spPr>
          <a:xfrm>
            <a:off x="566928" y="4855464"/>
            <a:ext cx="64008" cy="71323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descr="Numéro d'étape 4"/>
          <p:cNvSpPr txBox="1"/>
          <p:nvPr/>
        </p:nvSpPr>
        <p:spPr>
          <a:xfrm>
            <a:off x="841247" y="4937760"/>
            <a:ext cx="822960" cy="548640"/>
          </a:xfrm>
          <a:prstGeom prst="rect">
            <a:avLst/>
          </a:prstGeom>
          <a:noFill/>
        </p:spPr>
        <p:txBody>
          <a:bodyPr wrap="square" lIns="0" rIns="0" tIns="0" bIns="0" anchor="ctr">
            <a:spAutoFit/>
          </a:bodyPr>
          <a:lstStyle/>
          <a:p>
            <a:pPr algn="l">
              <a:lnSpc>
                <a:spcPct val="112000"/>
              </a:lnSpc>
            </a:pPr>
            <a:r>
              <a:rPr sz="2400" b="1" i="0">
                <a:solidFill>
                  <a:srgbClr val="34D399"/>
                </a:solidFill>
                <a:latin typeface="Arial"/>
              </a:rPr>
              <a:t>04</a:t>
            </a:r>
          </a:p>
        </p:txBody>
      </p:sp>
      <p:sp>
        <p:nvSpPr>
          <p:cNvPr id="21" name="TextBox 20" descr="Texte du point 4 : Vérifiez compte et moyen de paiement."/>
          <p:cNvSpPr txBox="1"/>
          <p:nvPr/>
        </p:nvSpPr>
        <p:spPr>
          <a:xfrm>
            <a:off x="1755648" y="4910328"/>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Vérifiez compte et moyen de paiement.</a:t>
            </a:r>
          </a:p>
        </p:txBody>
      </p:sp>
      <p:sp>
        <p:nvSpPr>
          <p:cNvPr id="22" name="Rounded Rectangle 21" descr="Élément graphique décoratif, sans information propre"/>
          <p:cNvSpPr/>
          <p:nvPr/>
        </p:nvSpPr>
        <p:spPr>
          <a:xfrm>
            <a:off x="0" y="0"/>
            <a:ext cx="201168" cy="6858000"/>
          </a:xfrm>
          <a:prstGeom prst="round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descr="Référence de source affichée en pied de diapositive : Chapitre 32 — Conditions des programmes et disponibilité par pays"/>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 32 — Conditions des programmes et disponibilité par pays</a:t>
            </a:r>
          </a:p>
        </p:txBody>
      </p:sp>
      <p:sp>
        <p:nvSpPr>
          <p:cNvPr id="24" name="TextBox 23" descr="Numéro de diapositive 55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55 / 84  ·  2 min</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Atelier · partie 07 · chapitre 32"/>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34D399"/>
                </a:solidFill>
                <a:latin typeface="Arial"/>
              </a:rPr>
              <a:t>ATELIER · PARTIE 07 · CHAPITRE 32</a:t>
            </a:r>
          </a:p>
        </p:txBody>
      </p:sp>
      <p:sp>
        <p:nvSpPr>
          <p:cNvPr id="4" name="TextBox 3" descr="Titre de l'atelier : Atelier · Conditions des programmes et disponibilité par pays"/>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2950" b="1" i="0">
                <a:solidFill>
                  <a:srgbClr val="F2F6FC"/>
                </a:solidFill>
                <a:latin typeface="Arial"/>
              </a:rPr>
              <a:t>Atelier · Conditions des programmes et disponibilité par pays</a:t>
            </a:r>
          </a:p>
        </p:txBody>
      </p:sp>
      <p:sp>
        <p:nvSpPr>
          <p:cNvPr id="5" name="TextBox 4" descr="Consigne cadre : Une décision à documenter, pas un résultat à promettre"/>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600" b="1" i="0">
                <a:solidFill>
                  <a:srgbClr val="34D399"/>
                </a:solidFill>
                <a:latin typeface="Arial"/>
              </a:rPr>
              <a:t>Une décision à documenter, pas un résultat à promettre</a:t>
            </a:r>
          </a:p>
        </p:txBody>
      </p:sp>
      <p:sp>
        <p:nvSpPr>
          <p:cNvPr id="6" name="Rounded Rectangle 5" descr="Consigne d'atelier : Vérifiez le programme exact, le pays réel et le paiement sur une page officielle."/>
          <p:cNvSpPr/>
          <p:nvPr/>
        </p:nvSpPr>
        <p:spPr>
          <a:xfrm>
            <a:off x="566928" y="2377440"/>
            <a:ext cx="11064240" cy="219456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descr="Consigne d'atelier : Vérifiez le programme exact, le pays réel et le paiement sur une page officielle."/>
          <p:cNvSpPr txBox="1"/>
          <p:nvPr/>
        </p:nvSpPr>
        <p:spPr>
          <a:xfrm>
            <a:off x="960120" y="2651760"/>
            <a:ext cx="10332720" cy="1737360"/>
          </a:xfrm>
          <a:prstGeom prst="rect">
            <a:avLst/>
          </a:prstGeom>
          <a:noFill/>
        </p:spPr>
        <p:txBody>
          <a:bodyPr wrap="square" lIns="0" rIns="0" tIns="0" bIns="0" anchor="ctr">
            <a:spAutoFit/>
          </a:bodyPr>
          <a:lstStyle/>
          <a:p>
            <a:pPr algn="l">
              <a:lnSpc>
                <a:spcPct val="112000"/>
              </a:lnSpc>
            </a:pPr>
            <a:r>
              <a:rPr sz="2400" b="1" i="0">
                <a:solidFill>
                  <a:srgbClr val="F2F6FC"/>
                </a:solidFill>
                <a:latin typeface="Arial"/>
              </a:rPr>
              <a:t>Vérifiez le programme exact, le pays réel et le paiement sur une page officielle.</a:t>
            </a:r>
          </a:p>
        </p:txBody>
      </p:sp>
      <p:sp>
        <p:nvSpPr>
          <p:cNvPr id="8" name="Rounded Rectangle 7" descr="Bandeau d'information : Aucun exemple du livre ne doit être présenté comme un témoignage réel : il est annoncé comme simulation pédagogique."/>
          <p:cNvSpPr/>
          <p:nvPr/>
        </p:nvSpPr>
        <p:spPr>
          <a:xfrm>
            <a:off x="566928" y="5623560"/>
            <a:ext cx="11064240" cy="658368"/>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descr="Texte du bandeau : Aucun exemple du livre ne doit être présenté comme un témoignage réel : il est annoncé comme simulation pédagogique."/>
          <p:cNvSpPr txBox="1"/>
          <p:nvPr/>
        </p:nvSpPr>
        <p:spPr>
          <a:xfrm>
            <a:off x="822960" y="5669280"/>
            <a:ext cx="10607040" cy="566928"/>
          </a:xfrm>
          <a:prstGeom prst="rect">
            <a:avLst/>
          </a:prstGeom>
          <a:noFill/>
        </p:spPr>
        <p:txBody>
          <a:bodyPr wrap="square" lIns="0" rIns="0" tIns="0" bIns="0" anchor="ctr">
            <a:spAutoFit/>
          </a:bodyPr>
          <a:lstStyle/>
          <a:p>
            <a:pPr algn="l">
              <a:lnSpc>
                <a:spcPct val="112000"/>
              </a:lnSpc>
            </a:pPr>
            <a:r>
              <a:rPr sz="1550" b="1" i="0">
                <a:solidFill>
                  <a:srgbClr val="34D399"/>
                </a:solidFill>
                <a:latin typeface="Arial"/>
              </a:rPr>
              <a:t>Aucun exemple du livre ne doit être présenté comme un témoignage réel : il est annoncé comme simulation pédagogique.</a:t>
            </a:r>
          </a:p>
        </p:txBody>
      </p:sp>
      <p:sp>
        <p:nvSpPr>
          <p:cNvPr id="10" name="Rounded Rectangle 9" descr="Élément graphique décoratif, sans information propre"/>
          <p:cNvSpPr/>
          <p:nvPr/>
        </p:nvSpPr>
        <p:spPr>
          <a:xfrm>
            <a:off x="0" y="0"/>
            <a:ext cx="201168" cy="6858000"/>
          </a:xfrm>
          <a:prstGeom prst="round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descr="Référence de source affichée en pied de diapositive : Chapitre 32 (exemple/exercice adapté)"/>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 32 (exemple/exercice adapté)</a:t>
            </a:r>
          </a:p>
        </p:txBody>
      </p:sp>
      <p:sp>
        <p:nvSpPr>
          <p:cNvPr id="12" name="TextBox 11" descr="Numéro de diapositive 56 sur 84, durée prévue 4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56 / 84  ·  4 min</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Partie 07 · chapitre 33"/>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34D399"/>
                </a:solidFill>
                <a:latin typeface="Arial"/>
              </a:rPr>
              <a:t>PARTIE 07 · CHAPITRE 33</a:t>
            </a:r>
          </a:p>
        </p:txBody>
      </p:sp>
      <p:sp>
        <p:nvSpPr>
          <p:cNvPr id="4" name="TextBox 3" descr="Titre du chapitre : 33 · Revenus, tableau de bord et retrait"/>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200" b="1" i="0">
                <a:solidFill>
                  <a:srgbClr val="F2F6FC"/>
                </a:solidFill>
                <a:latin typeface="Arial"/>
              </a:rPr>
              <a:t>33 · Revenus, tableau de bord et retrait</a:t>
            </a:r>
          </a:p>
        </p:txBody>
      </p:sp>
      <p:sp>
        <p:nvSpPr>
          <p:cNvPr id="5" name="TextBox 4" descr="Objectif du chapitre : Séparer estimation, montant validé, payable et paiement encaissé."/>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550" b="1" i="0">
                <a:solidFill>
                  <a:srgbClr val="34D399"/>
                </a:solidFill>
                <a:latin typeface="Arial"/>
              </a:rPr>
              <a:t>Séparer estimation, montant validé, payable et paiement encaissé.</a:t>
            </a:r>
          </a:p>
        </p:txBody>
      </p:sp>
      <p:sp>
        <p:nvSpPr>
          <p:cNvPr id="6" name="Rounded Rectangle 5" descr="Point 1 : Ouvrez le programme et Balance."/>
          <p:cNvSpPr/>
          <p:nvPr/>
        </p:nvSpPr>
        <p:spPr>
          <a:xfrm>
            <a:off x="566928" y="2331720"/>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de section"/>
          <p:cNvSpPr/>
          <p:nvPr/>
        </p:nvSpPr>
        <p:spPr>
          <a:xfrm>
            <a:off x="566928" y="2331720"/>
            <a:ext cx="64008" cy="71323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Numéro d'étape 1"/>
          <p:cNvSpPr txBox="1"/>
          <p:nvPr/>
        </p:nvSpPr>
        <p:spPr>
          <a:xfrm>
            <a:off x="841247" y="2414016"/>
            <a:ext cx="822960" cy="548640"/>
          </a:xfrm>
          <a:prstGeom prst="rect">
            <a:avLst/>
          </a:prstGeom>
          <a:noFill/>
        </p:spPr>
        <p:txBody>
          <a:bodyPr wrap="square" lIns="0" rIns="0" tIns="0" bIns="0" anchor="ctr">
            <a:spAutoFit/>
          </a:bodyPr>
          <a:lstStyle/>
          <a:p>
            <a:pPr algn="l">
              <a:lnSpc>
                <a:spcPct val="112000"/>
              </a:lnSpc>
            </a:pPr>
            <a:r>
              <a:rPr sz="2400" b="1" i="0">
                <a:solidFill>
                  <a:srgbClr val="34D399"/>
                </a:solidFill>
                <a:latin typeface="Arial"/>
              </a:rPr>
              <a:t>01</a:t>
            </a:r>
          </a:p>
        </p:txBody>
      </p:sp>
      <p:sp>
        <p:nvSpPr>
          <p:cNvPr id="9" name="TextBox 8" descr="Texte du point 1 : Ouvrez le programme et Balance."/>
          <p:cNvSpPr txBox="1"/>
          <p:nvPr/>
        </p:nvSpPr>
        <p:spPr>
          <a:xfrm>
            <a:off x="1755648" y="2386584"/>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Ouvrez le programme et Balance.</a:t>
            </a:r>
          </a:p>
        </p:txBody>
      </p:sp>
      <p:sp>
        <p:nvSpPr>
          <p:cNvPr id="10" name="Rounded Rectangle 9" descr="Point 2 : Notez état précis de chaque montant."/>
          <p:cNvSpPr/>
          <p:nvPr/>
        </p:nvSpPr>
        <p:spPr>
          <a:xfrm>
            <a:off x="566928" y="3172968"/>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de section"/>
          <p:cNvSpPr/>
          <p:nvPr/>
        </p:nvSpPr>
        <p:spPr>
          <a:xfrm>
            <a:off x="566928" y="3172968"/>
            <a:ext cx="64008" cy="71323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Numéro d'étape 2"/>
          <p:cNvSpPr txBox="1"/>
          <p:nvPr/>
        </p:nvSpPr>
        <p:spPr>
          <a:xfrm>
            <a:off x="841247" y="3255264"/>
            <a:ext cx="822960" cy="548640"/>
          </a:xfrm>
          <a:prstGeom prst="rect">
            <a:avLst/>
          </a:prstGeom>
          <a:noFill/>
        </p:spPr>
        <p:txBody>
          <a:bodyPr wrap="square" lIns="0" rIns="0" tIns="0" bIns="0" anchor="ctr">
            <a:spAutoFit/>
          </a:bodyPr>
          <a:lstStyle/>
          <a:p>
            <a:pPr algn="l">
              <a:lnSpc>
                <a:spcPct val="112000"/>
              </a:lnSpc>
            </a:pPr>
            <a:r>
              <a:rPr sz="2400" b="1" i="0">
                <a:solidFill>
                  <a:srgbClr val="34D399"/>
                </a:solidFill>
                <a:latin typeface="Arial"/>
              </a:rPr>
              <a:t>02</a:t>
            </a:r>
          </a:p>
        </p:txBody>
      </p:sp>
      <p:sp>
        <p:nvSpPr>
          <p:cNvPr id="13" name="TextBox 12" descr="Texte du point 2 : Notez état précis de chaque montant."/>
          <p:cNvSpPr txBox="1"/>
          <p:nvPr/>
        </p:nvSpPr>
        <p:spPr>
          <a:xfrm>
            <a:off x="1755648" y="3227832"/>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Notez état précis de chaque montant.</a:t>
            </a:r>
          </a:p>
        </p:txBody>
      </p:sp>
      <p:sp>
        <p:nvSpPr>
          <p:cNvPr id="14" name="Rounded Rectangle 13" descr="Point 3 : Vérifiez seuil et mode régional."/>
          <p:cNvSpPr/>
          <p:nvPr/>
        </p:nvSpPr>
        <p:spPr>
          <a:xfrm>
            <a:off x="566928" y="4014215"/>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Repère décoratif de section"/>
          <p:cNvSpPr/>
          <p:nvPr/>
        </p:nvSpPr>
        <p:spPr>
          <a:xfrm>
            <a:off x="566928" y="4014215"/>
            <a:ext cx="64008" cy="71323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Numéro d'étape 3"/>
          <p:cNvSpPr txBox="1"/>
          <p:nvPr/>
        </p:nvSpPr>
        <p:spPr>
          <a:xfrm>
            <a:off x="841247" y="4096511"/>
            <a:ext cx="822960" cy="548640"/>
          </a:xfrm>
          <a:prstGeom prst="rect">
            <a:avLst/>
          </a:prstGeom>
          <a:noFill/>
        </p:spPr>
        <p:txBody>
          <a:bodyPr wrap="square" lIns="0" rIns="0" tIns="0" bIns="0" anchor="ctr">
            <a:spAutoFit/>
          </a:bodyPr>
          <a:lstStyle/>
          <a:p>
            <a:pPr algn="l">
              <a:lnSpc>
                <a:spcPct val="112000"/>
              </a:lnSpc>
            </a:pPr>
            <a:r>
              <a:rPr sz="2400" b="1" i="0">
                <a:solidFill>
                  <a:srgbClr val="34D399"/>
                </a:solidFill>
                <a:latin typeface="Arial"/>
              </a:rPr>
              <a:t>03</a:t>
            </a:r>
          </a:p>
        </p:txBody>
      </p:sp>
      <p:sp>
        <p:nvSpPr>
          <p:cNvPr id="17" name="TextBox 16" descr="Texte du point 3 : Vérifiez seuil et mode régional."/>
          <p:cNvSpPr txBox="1"/>
          <p:nvPr/>
        </p:nvSpPr>
        <p:spPr>
          <a:xfrm>
            <a:off x="1755648" y="4069079"/>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Vérifiez seuil et mode régional.</a:t>
            </a:r>
          </a:p>
        </p:txBody>
      </p:sp>
      <p:sp>
        <p:nvSpPr>
          <p:cNvPr id="18" name="Rounded Rectangle 17" descr="Point 4 : Comparez au relevé reçu."/>
          <p:cNvSpPr/>
          <p:nvPr/>
        </p:nvSpPr>
        <p:spPr>
          <a:xfrm>
            <a:off x="566928" y="4855464"/>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descr="Repère décoratif de section"/>
          <p:cNvSpPr/>
          <p:nvPr/>
        </p:nvSpPr>
        <p:spPr>
          <a:xfrm>
            <a:off x="566928" y="4855464"/>
            <a:ext cx="64008" cy="71323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descr="Numéro d'étape 4"/>
          <p:cNvSpPr txBox="1"/>
          <p:nvPr/>
        </p:nvSpPr>
        <p:spPr>
          <a:xfrm>
            <a:off x="841247" y="4937760"/>
            <a:ext cx="822960" cy="548640"/>
          </a:xfrm>
          <a:prstGeom prst="rect">
            <a:avLst/>
          </a:prstGeom>
          <a:noFill/>
        </p:spPr>
        <p:txBody>
          <a:bodyPr wrap="square" lIns="0" rIns="0" tIns="0" bIns="0" anchor="ctr">
            <a:spAutoFit/>
          </a:bodyPr>
          <a:lstStyle/>
          <a:p>
            <a:pPr algn="l">
              <a:lnSpc>
                <a:spcPct val="112000"/>
              </a:lnSpc>
            </a:pPr>
            <a:r>
              <a:rPr sz="2400" b="1" i="0">
                <a:solidFill>
                  <a:srgbClr val="34D399"/>
                </a:solidFill>
                <a:latin typeface="Arial"/>
              </a:rPr>
              <a:t>04</a:t>
            </a:r>
          </a:p>
        </p:txBody>
      </p:sp>
      <p:sp>
        <p:nvSpPr>
          <p:cNvPr id="21" name="TextBox 20" descr="Texte du point 4 : Comparez au relevé reçu."/>
          <p:cNvSpPr txBox="1"/>
          <p:nvPr/>
        </p:nvSpPr>
        <p:spPr>
          <a:xfrm>
            <a:off x="1755648" y="4910328"/>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Comparez au relevé reçu.</a:t>
            </a:r>
          </a:p>
        </p:txBody>
      </p:sp>
      <p:sp>
        <p:nvSpPr>
          <p:cNvPr id="22" name="Rounded Rectangle 21" descr="Élément graphique décoratif, sans information propre"/>
          <p:cNvSpPr/>
          <p:nvPr/>
        </p:nvSpPr>
        <p:spPr>
          <a:xfrm>
            <a:off x="0" y="0"/>
            <a:ext cx="201168" cy="6858000"/>
          </a:xfrm>
          <a:prstGeom prst="round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descr="Référence de source affichée en pied de diapositive : Chapitre 33 — Revenus, tableau de bord et retrait"/>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 33 — Revenus, tableau de bord et retrait</a:t>
            </a:r>
          </a:p>
        </p:txBody>
      </p:sp>
      <p:sp>
        <p:nvSpPr>
          <p:cNvPr id="24" name="TextBox 23" descr="Numéro de diapositive 57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57 / 84  ·  2 min</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Partie 07 · chapitre 34"/>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34D399"/>
                </a:solidFill>
                <a:latin typeface="Arial"/>
              </a:rPr>
              <a:t>PARTIE 07 · CHAPITRE 34</a:t>
            </a:r>
          </a:p>
        </p:txBody>
      </p:sp>
      <p:sp>
        <p:nvSpPr>
          <p:cNvPr id="4" name="TextBox 3" descr="Titre du chapitre : 34 · Paiement, fiscalité, délais et problèmes"/>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200" b="1" i="0">
                <a:solidFill>
                  <a:srgbClr val="F2F6FC"/>
                </a:solidFill>
                <a:latin typeface="Arial"/>
              </a:rPr>
              <a:t>34 · Paiement, fiscalité, délais et problèmes</a:t>
            </a:r>
          </a:p>
        </p:txBody>
      </p:sp>
      <p:sp>
        <p:nvSpPr>
          <p:cNvPr id="5" name="TextBox 4" descr="Objectif du chapitre : Tester la chaîne programme → prestataire → retrait → obligations locales."/>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550" b="1" i="0">
                <a:solidFill>
                  <a:srgbClr val="34D399"/>
                </a:solidFill>
                <a:latin typeface="Arial"/>
              </a:rPr>
              <a:t>Tester la chaîne programme → prestataire → retrait → obligations locales.</a:t>
            </a:r>
          </a:p>
        </p:txBody>
      </p:sp>
      <p:sp>
        <p:nvSpPr>
          <p:cNvPr id="6" name="Rounded Rectangle 5" descr="Point 1 : Vérifiez pays et type de compte."/>
          <p:cNvSpPr/>
          <p:nvPr/>
        </p:nvSpPr>
        <p:spPr>
          <a:xfrm>
            <a:off x="566928" y="2331720"/>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de section"/>
          <p:cNvSpPr/>
          <p:nvPr/>
        </p:nvSpPr>
        <p:spPr>
          <a:xfrm>
            <a:off x="566928" y="2331720"/>
            <a:ext cx="64008" cy="71323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Numéro d'étape 1"/>
          <p:cNvSpPr txBox="1"/>
          <p:nvPr/>
        </p:nvSpPr>
        <p:spPr>
          <a:xfrm>
            <a:off x="841247" y="2414016"/>
            <a:ext cx="822960" cy="548640"/>
          </a:xfrm>
          <a:prstGeom prst="rect">
            <a:avLst/>
          </a:prstGeom>
          <a:noFill/>
        </p:spPr>
        <p:txBody>
          <a:bodyPr wrap="square" lIns="0" rIns="0" tIns="0" bIns="0" anchor="ctr">
            <a:spAutoFit/>
          </a:bodyPr>
          <a:lstStyle/>
          <a:p>
            <a:pPr algn="l">
              <a:lnSpc>
                <a:spcPct val="112000"/>
              </a:lnSpc>
            </a:pPr>
            <a:r>
              <a:rPr sz="2400" b="1" i="0">
                <a:solidFill>
                  <a:srgbClr val="34D399"/>
                </a:solidFill>
                <a:latin typeface="Arial"/>
              </a:rPr>
              <a:t>01</a:t>
            </a:r>
          </a:p>
        </p:txBody>
      </p:sp>
      <p:sp>
        <p:nvSpPr>
          <p:cNvPr id="9" name="TextBox 8" descr="Texte du point 1 : Vérifiez pays et type de compte."/>
          <p:cNvSpPr txBox="1"/>
          <p:nvPr/>
        </p:nvSpPr>
        <p:spPr>
          <a:xfrm>
            <a:off x="1755648" y="2386584"/>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Vérifiez pays et type de compte.</a:t>
            </a:r>
          </a:p>
        </p:txBody>
      </p:sp>
      <p:sp>
        <p:nvSpPr>
          <p:cNvPr id="10" name="Rounded Rectangle 9" descr="Point 2 : Contrôlez séparément recevoir et retirer."/>
          <p:cNvSpPr/>
          <p:nvPr/>
        </p:nvSpPr>
        <p:spPr>
          <a:xfrm>
            <a:off x="566928" y="3172968"/>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de section"/>
          <p:cNvSpPr/>
          <p:nvPr/>
        </p:nvSpPr>
        <p:spPr>
          <a:xfrm>
            <a:off x="566928" y="3172968"/>
            <a:ext cx="64008" cy="71323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Numéro d'étape 2"/>
          <p:cNvSpPr txBox="1"/>
          <p:nvPr/>
        </p:nvSpPr>
        <p:spPr>
          <a:xfrm>
            <a:off x="841247" y="3255264"/>
            <a:ext cx="822960" cy="548640"/>
          </a:xfrm>
          <a:prstGeom prst="rect">
            <a:avLst/>
          </a:prstGeom>
          <a:noFill/>
        </p:spPr>
        <p:txBody>
          <a:bodyPr wrap="square" lIns="0" rIns="0" tIns="0" bIns="0" anchor="ctr">
            <a:spAutoFit/>
          </a:bodyPr>
          <a:lstStyle/>
          <a:p>
            <a:pPr algn="l">
              <a:lnSpc>
                <a:spcPct val="112000"/>
              </a:lnSpc>
            </a:pPr>
            <a:r>
              <a:rPr sz="2400" b="1" i="0">
                <a:solidFill>
                  <a:srgbClr val="34D399"/>
                </a:solidFill>
                <a:latin typeface="Arial"/>
              </a:rPr>
              <a:t>02</a:t>
            </a:r>
          </a:p>
        </p:txBody>
      </p:sp>
      <p:sp>
        <p:nvSpPr>
          <p:cNvPr id="13" name="TextBox 12" descr="Texte du point 2 : Contrôlez séparément recevoir et retirer."/>
          <p:cNvSpPr txBox="1"/>
          <p:nvPr/>
        </p:nvSpPr>
        <p:spPr>
          <a:xfrm>
            <a:off x="1755648" y="3227832"/>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Contrôlez séparément recevoir et retirer.</a:t>
            </a:r>
          </a:p>
        </p:txBody>
      </p:sp>
      <p:sp>
        <p:nvSpPr>
          <p:cNvPr id="14" name="Rounded Rectangle 13" descr="Point 3 : Consignez frais, devise et délai."/>
          <p:cNvSpPr/>
          <p:nvPr/>
        </p:nvSpPr>
        <p:spPr>
          <a:xfrm>
            <a:off x="566928" y="4014215"/>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Repère décoratif de section"/>
          <p:cNvSpPr/>
          <p:nvPr/>
        </p:nvSpPr>
        <p:spPr>
          <a:xfrm>
            <a:off x="566928" y="4014215"/>
            <a:ext cx="64008" cy="71323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Numéro d'étape 3"/>
          <p:cNvSpPr txBox="1"/>
          <p:nvPr/>
        </p:nvSpPr>
        <p:spPr>
          <a:xfrm>
            <a:off x="841247" y="4096511"/>
            <a:ext cx="822960" cy="548640"/>
          </a:xfrm>
          <a:prstGeom prst="rect">
            <a:avLst/>
          </a:prstGeom>
          <a:noFill/>
        </p:spPr>
        <p:txBody>
          <a:bodyPr wrap="square" lIns="0" rIns="0" tIns="0" bIns="0" anchor="ctr">
            <a:spAutoFit/>
          </a:bodyPr>
          <a:lstStyle/>
          <a:p>
            <a:pPr algn="l">
              <a:lnSpc>
                <a:spcPct val="112000"/>
              </a:lnSpc>
            </a:pPr>
            <a:r>
              <a:rPr sz="2400" b="1" i="0">
                <a:solidFill>
                  <a:srgbClr val="34D399"/>
                </a:solidFill>
                <a:latin typeface="Arial"/>
              </a:rPr>
              <a:t>03</a:t>
            </a:r>
          </a:p>
        </p:txBody>
      </p:sp>
      <p:sp>
        <p:nvSpPr>
          <p:cNvPr id="17" name="TextBox 16" descr="Texte du point 3 : Consignez frais, devise et délai."/>
          <p:cNvSpPr txBox="1"/>
          <p:nvPr/>
        </p:nvSpPr>
        <p:spPr>
          <a:xfrm>
            <a:off x="1755648" y="4069079"/>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Consignez frais, devise et délai.</a:t>
            </a:r>
          </a:p>
        </p:txBody>
      </p:sp>
      <p:sp>
        <p:nvSpPr>
          <p:cNvPr id="18" name="Rounded Rectangle 17" descr="Point 4 : Testez légalement sur un petit montant si possible."/>
          <p:cNvSpPr/>
          <p:nvPr/>
        </p:nvSpPr>
        <p:spPr>
          <a:xfrm>
            <a:off x="566928" y="4855464"/>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descr="Repère décoratif de section"/>
          <p:cNvSpPr/>
          <p:nvPr/>
        </p:nvSpPr>
        <p:spPr>
          <a:xfrm>
            <a:off x="566928" y="4855464"/>
            <a:ext cx="64008" cy="71323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descr="Numéro d'étape 4"/>
          <p:cNvSpPr txBox="1"/>
          <p:nvPr/>
        </p:nvSpPr>
        <p:spPr>
          <a:xfrm>
            <a:off x="841247" y="4937760"/>
            <a:ext cx="822960" cy="548640"/>
          </a:xfrm>
          <a:prstGeom prst="rect">
            <a:avLst/>
          </a:prstGeom>
          <a:noFill/>
        </p:spPr>
        <p:txBody>
          <a:bodyPr wrap="square" lIns="0" rIns="0" tIns="0" bIns="0" anchor="ctr">
            <a:spAutoFit/>
          </a:bodyPr>
          <a:lstStyle/>
          <a:p>
            <a:pPr algn="l">
              <a:lnSpc>
                <a:spcPct val="112000"/>
              </a:lnSpc>
            </a:pPr>
            <a:r>
              <a:rPr sz="2400" b="1" i="0">
                <a:solidFill>
                  <a:srgbClr val="34D399"/>
                </a:solidFill>
                <a:latin typeface="Arial"/>
              </a:rPr>
              <a:t>04</a:t>
            </a:r>
          </a:p>
        </p:txBody>
      </p:sp>
      <p:sp>
        <p:nvSpPr>
          <p:cNvPr id="21" name="TextBox 20" descr="Texte du point 4 : Testez légalement sur un petit montant si possible."/>
          <p:cNvSpPr txBox="1"/>
          <p:nvPr/>
        </p:nvSpPr>
        <p:spPr>
          <a:xfrm>
            <a:off x="1755648" y="4910328"/>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Testez légalement sur un petit montant si possible.</a:t>
            </a:r>
          </a:p>
        </p:txBody>
      </p:sp>
      <p:sp>
        <p:nvSpPr>
          <p:cNvPr id="22" name="Rounded Rectangle 21" descr="Élément graphique décoratif, sans information propre"/>
          <p:cNvSpPr/>
          <p:nvPr/>
        </p:nvSpPr>
        <p:spPr>
          <a:xfrm>
            <a:off x="0" y="0"/>
            <a:ext cx="201168" cy="6858000"/>
          </a:xfrm>
          <a:prstGeom prst="round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descr="Référence de source affichée en pied de diapositive : Chapitre 34 — Paiement, fiscalité, délais et problèmes"/>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 34 — Paiement, fiscalité, délais et problèmes</a:t>
            </a:r>
          </a:p>
        </p:txBody>
      </p:sp>
      <p:sp>
        <p:nvSpPr>
          <p:cNvPr id="24" name="TextBox 23" descr="Numéro de diapositive 58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58 / 84  ·  2 min</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Partie 07 · chapitre 35"/>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34D399"/>
                </a:solidFill>
                <a:latin typeface="Arial"/>
              </a:rPr>
              <a:t>PARTIE 07 · CHAPITRE 35</a:t>
            </a:r>
          </a:p>
        </p:txBody>
      </p:sp>
      <p:sp>
        <p:nvSpPr>
          <p:cNvPr id="4" name="TextBox 3" descr="Titre du chapitre : 35 · Stratégies pour l’Afrique francophone"/>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200" b="1" i="0">
                <a:solidFill>
                  <a:srgbClr val="F2F6FC"/>
                </a:solidFill>
                <a:latin typeface="Arial"/>
              </a:rPr>
              <a:t>35 · Stratégies pour l’Afrique francophone</a:t>
            </a:r>
          </a:p>
        </p:txBody>
      </p:sp>
      <p:sp>
        <p:nvSpPr>
          <p:cNvPr id="5" name="TextBox 4" descr="Objectif du chapitre : Adapter l’offre au pays, à la langue et à la livraison réels."/>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550" b="1" i="0">
                <a:solidFill>
                  <a:srgbClr val="34D399"/>
                </a:solidFill>
                <a:latin typeface="Arial"/>
              </a:rPr>
              <a:t>Adapter l’offre au pays, à la langue et à la livraison réels.</a:t>
            </a:r>
          </a:p>
        </p:txBody>
      </p:sp>
      <p:sp>
        <p:nvSpPr>
          <p:cNvPr id="6" name="Rounded Rectangle 5" descr="Point 1 : Définissez pays et ville."/>
          <p:cNvSpPr/>
          <p:nvPr/>
        </p:nvSpPr>
        <p:spPr>
          <a:xfrm>
            <a:off x="566928" y="2331720"/>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de section"/>
          <p:cNvSpPr/>
          <p:nvPr/>
        </p:nvSpPr>
        <p:spPr>
          <a:xfrm>
            <a:off x="566928" y="2331720"/>
            <a:ext cx="64008" cy="71323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Numéro d'étape 1"/>
          <p:cNvSpPr txBox="1"/>
          <p:nvPr/>
        </p:nvSpPr>
        <p:spPr>
          <a:xfrm>
            <a:off x="841247" y="2414016"/>
            <a:ext cx="822960" cy="548640"/>
          </a:xfrm>
          <a:prstGeom prst="rect">
            <a:avLst/>
          </a:prstGeom>
          <a:noFill/>
        </p:spPr>
        <p:txBody>
          <a:bodyPr wrap="square" lIns="0" rIns="0" tIns="0" bIns="0" anchor="ctr">
            <a:spAutoFit/>
          </a:bodyPr>
          <a:lstStyle/>
          <a:p>
            <a:pPr algn="l">
              <a:lnSpc>
                <a:spcPct val="112000"/>
              </a:lnSpc>
            </a:pPr>
            <a:r>
              <a:rPr sz="2400" b="1" i="0">
                <a:solidFill>
                  <a:srgbClr val="34D399"/>
                </a:solidFill>
                <a:latin typeface="Arial"/>
              </a:rPr>
              <a:t>01</a:t>
            </a:r>
          </a:p>
        </p:txBody>
      </p:sp>
      <p:sp>
        <p:nvSpPr>
          <p:cNvPr id="9" name="TextBox 8" descr="Texte du point 1 : Définissez pays et ville."/>
          <p:cNvSpPr txBox="1"/>
          <p:nvPr/>
        </p:nvSpPr>
        <p:spPr>
          <a:xfrm>
            <a:off x="1755648" y="2386584"/>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Définissez pays et ville.</a:t>
            </a:r>
          </a:p>
        </p:txBody>
      </p:sp>
      <p:sp>
        <p:nvSpPr>
          <p:cNvPr id="10" name="Rounded Rectangle 9" descr="Point 2 : Identifiez langue et contraintes de connexion."/>
          <p:cNvSpPr/>
          <p:nvPr/>
        </p:nvSpPr>
        <p:spPr>
          <a:xfrm>
            <a:off x="566928" y="3172968"/>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de section"/>
          <p:cNvSpPr/>
          <p:nvPr/>
        </p:nvSpPr>
        <p:spPr>
          <a:xfrm>
            <a:off x="566928" y="3172968"/>
            <a:ext cx="64008" cy="71323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Numéro d'étape 2"/>
          <p:cNvSpPr txBox="1"/>
          <p:nvPr/>
        </p:nvSpPr>
        <p:spPr>
          <a:xfrm>
            <a:off x="841247" y="3255264"/>
            <a:ext cx="822960" cy="548640"/>
          </a:xfrm>
          <a:prstGeom prst="rect">
            <a:avLst/>
          </a:prstGeom>
          <a:noFill/>
        </p:spPr>
        <p:txBody>
          <a:bodyPr wrap="square" lIns="0" rIns="0" tIns="0" bIns="0" anchor="ctr">
            <a:spAutoFit/>
          </a:bodyPr>
          <a:lstStyle/>
          <a:p>
            <a:pPr algn="l">
              <a:lnSpc>
                <a:spcPct val="112000"/>
              </a:lnSpc>
            </a:pPr>
            <a:r>
              <a:rPr sz="2400" b="1" i="0">
                <a:solidFill>
                  <a:srgbClr val="34D399"/>
                </a:solidFill>
                <a:latin typeface="Arial"/>
              </a:rPr>
              <a:t>02</a:t>
            </a:r>
          </a:p>
        </p:txBody>
      </p:sp>
      <p:sp>
        <p:nvSpPr>
          <p:cNvPr id="13" name="TextBox 12" descr="Texte du point 2 : Identifiez langue et contraintes de connexion."/>
          <p:cNvSpPr txBox="1"/>
          <p:nvPr/>
        </p:nvSpPr>
        <p:spPr>
          <a:xfrm>
            <a:off x="1755648" y="3227832"/>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Identifiez langue et contraintes de connexion.</a:t>
            </a:r>
          </a:p>
        </p:txBody>
      </p:sp>
      <p:sp>
        <p:nvSpPr>
          <p:cNvPr id="14" name="Rounded Rectangle 13" descr="Point 3 : Vérifiez programme et paiement séparément."/>
          <p:cNvSpPr/>
          <p:nvPr/>
        </p:nvSpPr>
        <p:spPr>
          <a:xfrm>
            <a:off x="566928" y="4014215"/>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Repère décoratif de section"/>
          <p:cNvSpPr/>
          <p:nvPr/>
        </p:nvSpPr>
        <p:spPr>
          <a:xfrm>
            <a:off x="566928" y="4014215"/>
            <a:ext cx="64008" cy="71323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Numéro d'étape 3"/>
          <p:cNvSpPr txBox="1"/>
          <p:nvPr/>
        </p:nvSpPr>
        <p:spPr>
          <a:xfrm>
            <a:off x="841247" y="4096511"/>
            <a:ext cx="822960" cy="548640"/>
          </a:xfrm>
          <a:prstGeom prst="rect">
            <a:avLst/>
          </a:prstGeom>
          <a:noFill/>
        </p:spPr>
        <p:txBody>
          <a:bodyPr wrap="square" lIns="0" rIns="0" tIns="0" bIns="0" anchor="ctr">
            <a:spAutoFit/>
          </a:bodyPr>
          <a:lstStyle/>
          <a:p>
            <a:pPr algn="l">
              <a:lnSpc>
                <a:spcPct val="112000"/>
              </a:lnSpc>
            </a:pPr>
            <a:r>
              <a:rPr sz="2400" b="1" i="0">
                <a:solidFill>
                  <a:srgbClr val="34D399"/>
                </a:solidFill>
                <a:latin typeface="Arial"/>
              </a:rPr>
              <a:t>03</a:t>
            </a:r>
          </a:p>
        </p:txBody>
      </p:sp>
      <p:sp>
        <p:nvSpPr>
          <p:cNvPr id="17" name="TextBox 16" descr="Texte du point 3 : Vérifiez programme et paiement séparément."/>
          <p:cNvSpPr txBox="1"/>
          <p:nvPr/>
        </p:nvSpPr>
        <p:spPr>
          <a:xfrm>
            <a:off x="1755648" y="4069079"/>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Vérifiez programme et paiement séparément.</a:t>
            </a:r>
          </a:p>
        </p:txBody>
      </p:sp>
      <p:sp>
        <p:nvSpPr>
          <p:cNvPr id="18" name="Rounded Rectangle 17" descr="Point 4 : Testez une offre locale."/>
          <p:cNvSpPr/>
          <p:nvPr/>
        </p:nvSpPr>
        <p:spPr>
          <a:xfrm>
            <a:off x="566928" y="4855464"/>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descr="Repère décoratif de section"/>
          <p:cNvSpPr/>
          <p:nvPr/>
        </p:nvSpPr>
        <p:spPr>
          <a:xfrm>
            <a:off x="566928" y="4855464"/>
            <a:ext cx="64008" cy="713232"/>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descr="Numéro d'étape 4"/>
          <p:cNvSpPr txBox="1"/>
          <p:nvPr/>
        </p:nvSpPr>
        <p:spPr>
          <a:xfrm>
            <a:off x="841247" y="4937760"/>
            <a:ext cx="822960" cy="548640"/>
          </a:xfrm>
          <a:prstGeom prst="rect">
            <a:avLst/>
          </a:prstGeom>
          <a:noFill/>
        </p:spPr>
        <p:txBody>
          <a:bodyPr wrap="square" lIns="0" rIns="0" tIns="0" bIns="0" anchor="ctr">
            <a:spAutoFit/>
          </a:bodyPr>
          <a:lstStyle/>
          <a:p>
            <a:pPr algn="l">
              <a:lnSpc>
                <a:spcPct val="112000"/>
              </a:lnSpc>
            </a:pPr>
            <a:r>
              <a:rPr sz="2400" b="1" i="0">
                <a:solidFill>
                  <a:srgbClr val="34D399"/>
                </a:solidFill>
                <a:latin typeface="Arial"/>
              </a:rPr>
              <a:t>04</a:t>
            </a:r>
          </a:p>
        </p:txBody>
      </p:sp>
      <p:sp>
        <p:nvSpPr>
          <p:cNvPr id="21" name="TextBox 20" descr="Texte du point 4 : Testez une offre locale."/>
          <p:cNvSpPr txBox="1"/>
          <p:nvPr/>
        </p:nvSpPr>
        <p:spPr>
          <a:xfrm>
            <a:off x="1755648" y="4910328"/>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Testez une offre locale.</a:t>
            </a:r>
          </a:p>
        </p:txBody>
      </p:sp>
      <p:sp>
        <p:nvSpPr>
          <p:cNvPr id="22" name="Rounded Rectangle 21" descr="Élément graphique décoratif, sans information propre"/>
          <p:cNvSpPr/>
          <p:nvPr/>
        </p:nvSpPr>
        <p:spPr>
          <a:xfrm>
            <a:off x="0" y="0"/>
            <a:ext cx="201168" cy="6858000"/>
          </a:xfrm>
          <a:prstGeom prst="round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descr="Référence de source affichée en pied de diapositive : Chapitre 35 — Stratégies pour l’Afrique francophone"/>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 35 — Stratégies pour l’Afrique francophone</a:t>
            </a:r>
          </a:p>
        </p:txBody>
      </p:sp>
      <p:sp>
        <p:nvSpPr>
          <p:cNvPr id="24" name="TextBox 23" descr="Numéro de diapositive 59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59 / 84  ·  2 min</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Synthèse · partie 07"/>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34D399"/>
                </a:solidFill>
                <a:latin typeface="Arial"/>
              </a:rPr>
              <a:t>SYNTHÈSE · PARTIE 07</a:t>
            </a:r>
          </a:p>
        </p:txBody>
      </p:sp>
      <p:sp>
        <p:nvSpPr>
          <p:cNvPr id="4" name="TextBox 3" descr="Titre : À retenir · partie 07"/>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600" b="1" i="0">
                <a:solidFill>
                  <a:srgbClr val="F2F6FC"/>
                </a:solidFill>
                <a:latin typeface="Arial"/>
              </a:rPr>
              <a:t>À retenir · partie 07</a:t>
            </a:r>
          </a:p>
        </p:txBody>
      </p:sp>
      <p:sp>
        <p:nvSpPr>
          <p:cNvPr id="5" name="TextBox 4" descr="Sous-titre : TIKTOK DU COMPTE AU PAIEMENT"/>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600" b="1" i="0">
                <a:solidFill>
                  <a:srgbClr val="34D399"/>
                </a:solidFill>
                <a:latin typeface="Arial"/>
              </a:rPr>
              <a:t>TIKTOK DU COMPTE AU PAIEMENT</a:t>
            </a:r>
          </a:p>
        </p:txBody>
      </p:sp>
      <p:sp>
        <p:nvSpPr>
          <p:cNvPr id="6" name="Rounded Rectangle 5" descr="Point 1 : Créer un profil vrai et protéger ses accès."/>
          <p:cNvSpPr/>
          <p:nvPr/>
        </p:nvSpPr>
        <p:spPr>
          <a:xfrm>
            <a:off x="566928" y="2212848"/>
            <a:ext cx="11064240" cy="59436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de section"/>
          <p:cNvSpPr/>
          <p:nvPr/>
        </p:nvSpPr>
        <p:spPr>
          <a:xfrm>
            <a:off x="566928" y="2212848"/>
            <a:ext cx="64008" cy="59436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Numéro d'étape 1"/>
          <p:cNvSpPr txBox="1"/>
          <p:nvPr/>
        </p:nvSpPr>
        <p:spPr>
          <a:xfrm>
            <a:off x="841247" y="2235708"/>
            <a:ext cx="822960" cy="548640"/>
          </a:xfrm>
          <a:prstGeom prst="rect">
            <a:avLst/>
          </a:prstGeom>
          <a:noFill/>
        </p:spPr>
        <p:txBody>
          <a:bodyPr wrap="square" lIns="0" rIns="0" tIns="0" bIns="0" anchor="ctr">
            <a:spAutoFit/>
          </a:bodyPr>
          <a:lstStyle/>
          <a:p>
            <a:pPr algn="l">
              <a:lnSpc>
                <a:spcPct val="112000"/>
              </a:lnSpc>
            </a:pPr>
            <a:r>
              <a:rPr sz="2400" b="1" i="0">
                <a:solidFill>
                  <a:srgbClr val="34D399"/>
                </a:solidFill>
                <a:latin typeface="Arial"/>
              </a:rPr>
              <a:t>01</a:t>
            </a:r>
          </a:p>
        </p:txBody>
      </p:sp>
      <p:sp>
        <p:nvSpPr>
          <p:cNvPr id="9" name="TextBox 8" descr="Texte du point 1 : Créer un profil vrai et protéger ses accès."/>
          <p:cNvSpPr txBox="1"/>
          <p:nvPr/>
        </p:nvSpPr>
        <p:spPr>
          <a:xfrm>
            <a:off x="1755648" y="2267712"/>
            <a:ext cx="9646919" cy="484632"/>
          </a:xfrm>
          <a:prstGeom prst="rect">
            <a:avLst/>
          </a:prstGeom>
          <a:noFill/>
        </p:spPr>
        <p:txBody>
          <a:bodyPr wrap="square" lIns="0" rIns="0" tIns="0" bIns="0" anchor="ctr">
            <a:spAutoFit/>
          </a:bodyPr>
          <a:lstStyle/>
          <a:p>
            <a:pPr algn="l">
              <a:lnSpc>
                <a:spcPct val="112000"/>
              </a:lnSpc>
            </a:pPr>
            <a:r>
              <a:rPr sz="1500" b="0" i="0">
                <a:solidFill>
                  <a:srgbClr val="F2F6FC"/>
                </a:solidFill>
                <a:latin typeface="Arial"/>
              </a:rPr>
              <a:t>Créer un profil vrai et protéger ses accès.</a:t>
            </a:r>
          </a:p>
        </p:txBody>
      </p:sp>
      <p:sp>
        <p:nvSpPr>
          <p:cNvPr id="10" name="Rounded Rectangle 9" descr="Point 2 : Vérifier région, éligibilité et paiement séparément."/>
          <p:cNvSpPr/>
          <p:nvPr/>
        </p:nvSpPr>
        <p:spPr>
          <a:xfrm>
            <a:off x="566928" y="2916936"/>
            <a:ext cx="11064240" cy="59436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de section"/>
          <p:cNvSpPr/>
          <p:nvPr/>
        </p:nvSpPr>
        <p:spPr>
          <a:xfrm>
            <a:off x="566928" y="2916936"/>
            <a:ext cx="64008" cy="59436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Numéro d'étape 2"/>
          <p:cNvSpPr txBox="1"/>
          <p:nvPr/>
        </p:nvSpPr>
        <p:spPr>
          <a:xfrm>
            <a:off x="841247" y="2939796"/>
            <a:ext cx="822960" cy="548640"/>
          </a:xfrm>
          <a:prstGeom prst="rect">
            <a:avLst/>
          </a:prstGeom>
          <a:noFill/>
        </p:spPr>
        <p:txBody>
          <a:bodyPr wrap="square" lIns="0" rIns="0" tIns="0" bIns="0" anchor="ctr">
            <a:spAutoFit/>
          </a:bodyPr>
          <a:lstStyle/>
          <a:p>
            <a:pPr algn="l">
              <a:lnSpc>
                <a:spcPct val="112000"/>
              </a:lnSpc>
            </a:pPr>
            <a:r>
              <a:rPr sz="2400" b="1" i="0">
                <a:solidFill>
                  <a:srgbClr val="34D399"/>
                </a:solidFill>
                <a:latin typeface="Arial"/>
              </a:rPr>
              <a:t>02</a:t>
            </a:r>
          </a:p>
        </p:txBody>
      </p:sp>
      <p:sp>
        <p:nvSpPr>
          <p:cNvPr id="13" name="TextBox 12" descr="Texte du point 2 : Vérifier région, éligibilité et paiement séparément."/>
          <p:cNvSpPr txBox="1"/>
          <p:nvPr/>
        </p:nvSpPr>
        <p:spPr>
          <a:xfrm>
            <a:off x="1755648" y="2971800"/>
            <a:ext cx="9646919" cy="484632"/>
          </a:xfrm>
          <a:prstGeom prst="rect">
            <a:avLst/>
          </a:prstGeom>
          <a:noFill/>
        </p:spPr>
        <p:txBody>
          <a:bodyPr wrap="square" lIns="0" rIns="0" tIns="0" bIns="0" anchor="ctr">
            <a:spAutoFit/>
          </a:bodyPr>
          <a:lstStyle/>
          <a:p>
            <a:pPr algn="l">
              <a:lnSpc>
                <a:spcPct val="112000"/>
              </a:lnSpc>
            </a:pPr>
            <a:r>
              <a:rPr sz="1500" b="0" i="0">
                <a:solidFill>
                  <a:srgbClr val="F2F6FC"/>
                </a:solidFill>
                <a:latin typeface="Arial"/>
              </a:rPr>
              <a:t>Vérifier région, éligibilité et paiement séparément.</a:t>
            </a:r>
          </a:p>
        </p:txBody>
      </p:sp>
      <p:sp>
        <p:nvSpPr>
          <p:cNvPr id="14" name="Rounded Rectangle 13" descr="Point 3 : Séparer estimation, montant validé, payable et paiement encaissé."/>
          <p:cNvSpPr/>
          <p:nvPr/>
        </p:nvSpPr>
        <p:spPr>
          <a:xfrm>
            <a:off x="566928" y="3621024"/>
            <a:ext cx="11064240" cy="59436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Repère décoratif de section"/>
          <p:cNvSpPr/>
          <p:nvPr/>
        </p:nvSpPr>
        <p:spPr>
          <a:xfrm>
            <a:off x="566928" y="3621024"/>
            <a:ext cx="64008" cy="59436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Numéro d'étape 3"/>
          <p:cNvSpPr txBox="1"/>
          <p:nvPr/>
        </p:nvSpPr>
        <p:spPr>
          <a:xfrm>
            <a:off x="841247" y="3643884"/>
            <a:ext cx="822960" cy="548640"/>
          </a:xfrm>
          <a:prstGeom prst="rect">
            <a:avLst/>
          </a:prstGeom>
          <a:noFill/>
        </p:spPr>
        <p:txBody>
          <a:bodyPr wrap="square" lIns="0" rIns="0" tIns="0" bIns="0" anchor="ctr">
            <a:spAutoFit/>
          </a:bodyPr>
          <a:lstStyle/>
          <a:p>
            <a:pPr algn="l">
              <a:lnSpc>
                <a:spcPct val="112000"/>
              </a:lnSpc>
            </a:pPr>
            <a:r>
              <a:rPr sz="2400" b="1" i="0">
                <a:solidFill>
                  <a:srgbClr val="34D399"/>
                </a:solidFill>
                <a:latin typeface="Arial"/>
              </a:rPr>
              <a:t>03</a:t>
            </a:r>
          </a:p>
        </p:txBody>
      </p:sp>
      <p:sp>
        <p:nvSpPr>
          <p:cNvPr id="17" name="TextBox 16" descr="Texte du point 3 : Séparer estimation, montant validé, payable et paiement encaissé."/>
          <p:cNvSpPr txBox="1"/>
          <p:nvPr/>
        </p:nvSpPr>
        <p:spPr>
          <a:xfrm>
            <a:off x="1755648" y="3675887"/>
            <a:ext cx="9646919" cy="484632"/>
          </a:xfrm>
          <a:prstGeom prst="rect">
            <a:avLst/>
          </a:prstGeom>
          <a:noFill/>
        </p:spPr>
        <p:txBody>
          <a:bodyPr wrap="square" lIns="0" rIns="0" tIns="0" bIns="0" anchor="ctr">
            <a:spAutoFit/>
          </a:bodyPr>
          <a:lstStyle/>
          <a:p>
            <a:pPr algn="l">
              <a:lnSpc>
                <a:spcPct val="112000"/>
              </a:lnSpc>
            </a:pPr>
            <a:r>
              <a:rPr sz="1500" b="0" i="0">
                <a:solidFill>
                  <a:srgbClr val="F2F6FC"/>
                </a:solidFill>
                <a:latin typeface="Arial"/>
              </a:rPr>
              <a:t>Séparer estimation, montant validé, payable et paiement encaissé.</a:t>
            </a:r>
          </a:p>
        </p:txBody>
      </p:sp>
      <p:sp>
        <p:nvSpPr>
          <p:cNvPr id="18" name="Rounded Rectangle 17" descr="Point 4 : Tester la chaîne programme → prestataire → retrait → obligations locales."/>
          <p:cNvSpPr/>
          <p:nvPr/>
        </p:nvSpPr>
        <p:spPr>
          <a:xfrm>
            <a:off x="566928" y="4325112"/>
            <a:ext cx="11064240" cy="59436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descr="Repère décoratif de section"/>
          <p:cNvSpPr/>
          <p:nvPr/>
        </p:nvSpPr>
        <p:spPr>
          <a:xfrm>
            <a:off x="566928" y="4325112"/>
            <a:ext cx="64008" cy="59436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descr="Numéro d'étape 4"/>
          <p:cNvSpPr txBox="1"/>
          <p:nvPr/>
        </p:nvSpPr>
        <p:spPr>
          <a:xfrm>
            <a:off x="841247" y="4347972"/>
            <a:ext cx="822960" cy="548640"/>
          </a:xfrm>
          <a:prstGeom prst="rect">
            <a:avLst/>
          </a:prstGeom>
          <a:noFill/>
        </p:spPr>
        <p:txBody>
          <a:bodyPr wrap="square" lIns="0" rIns="0" tIns="0" bIns="0" anchor="ctr">
            <a:spAutoFit/>
          </a:bodyPr>
          <a:lstStyle/>
          <a:p>
            <a:pPr algn="l">
              <a:lnSpc>
                <a:spcPct val="112000"/>
              </a:lnSpc>
            </a:pPr>
            <a:r>
              <a:rPr sz="2400" b="1" i="0">
                <a:solidFill>
                  <a:srgbClr val="34D399"/>
                </a:solidFill>
                <a:latin typeface="Arial"/>
              </a:rPr>
              <a:t>04</a:t>
            </a:r>
          </a:p>
        </p:txBody>
      </p:sp>
      <p:sp>
        <p:nvSpPr>
          <p:cNvPr id="21" name="TextBox 20" descr="Texte du point 4 : Tester la chaîne programme → prestataire → retrait → obligations locales."/>
          <p:cNvSpPr txBox="1"/>
          <p:nvPr/>
        </p:nvSpPr>
        <p:spPr>
          <a:xfrm>
            <a:off x="1755648" y="4379976"/>
            <a:ext cx="9646919" cy="484632"/>
          </a:xfrm>
          <a:prstGeom prst="rect">
            <a:avLst/>
          </a:prstGeom>
          <a:noFill/>
        </p:spPr>
        <p:txBody>
          <a:bodyPr wrap="square" lIns="0" rIns="0" tIns="0" bIns="0" anchor="ctr">
            <a:spAutoFit/>
          </a:bodyPr>
          <a:lstStyle/>
          <a:p>
            <a:pPr algn="l">
              <a:lnSpc>
                <a:spcPct val="112000"/>
              </a:lnSpc>
            </a:pPr>
            <a:r>
              <a:rPr sz="1500" b="0" i="0">
                <a:solidFill>
                  <a:srgbClr val="F2F6FC"/>
                </a:solidFill>
                <a:latin typeface="Arial"/>
              </a:rPr>
              <a:t>Tester la chaîne programme → prestataire → retrait → obligations locales.</a:t>
            </a:r>
          </a:p>
        </p:txBody>
      </p:sp>
      <p:sp>
        <p:nvSpPr>
          <p:cNvPr id="22" name="Rounded Rectangle 21" descr="Point 5 : Adapter l’offre au pays, à la langue et à la livraison réels."/>
          <p:cNvSpPr/>
          <p:nvPr/>
        </p:nvSpPr>
        <p:spPr>
          <a:xfrm>
            <a:off x="566928" y="5029200"/>
            <a:ext cx="11064240" cy="59436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descr="Repère décoratif de section"/>
          <p:cNvSpPr/>
          <p:nvPr/>
        </p:nvSpPr>
        <p:spPr>
          <a:xfrm>
            <a:off x="566928" y="5029200"/>
            <a:ext cx="64008" cy="59436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descr="Numéro d'étape 5"/>
          <p:cNvSpPr txBox="1"/>
          <p:nvPr/>
        </p:nvSpPr>
        <p:spPr>
          <a:xfrm>
            <a:off x="841247" y="5052060"/>
            <a:ext cx="822960" cy="548640"/>
          </a:xfrm>
          <a:prstGeom prst="rect">
            <a:avLst/>
          </a:prstGeom>
          <a:noFill/>
        </p:spPr>
        <p:txBody>
          <a:bodyPr wrap="square" lIns="0" rIns="0" tIns="0" bIns="0" anchor="ctr">
            <a:spAutoFit/>
          </a:bodyPr>
          <a:lstStyle/>
          <a:p>
            <a:pPr algn="l">
              <a:lnSpc>
                <a:spcPct val="112000"/>
              </a:lnSpc>
            </a:pPr>
            <a:r>
              <a:rPr sz="2400" b="1" i="0">
                <a:solidFill>
                  <a:srgbClr val="34D399"/>
                </a:solidFill>
                <a:latin typeface="Arial"/>
              </a:rPr>
              <a:t>05</a:t>
            </a:r>
          </a:p>
        </p:txBody>
      </p:sp>
      <p:sp>
        <p:nvSpPr>
          <p:cNvPr id="25" name="TextBox 24" descr="Texte du point 5 : Adapter l’offre au pays, à la langue et à la livraison réels."/>
          <p:cNvSpPr txBox="1"/>
          <p:nvPr/>
        </p:nvSpPr>
        <p:spPr>
          <a:xfrm>
            <a:off x="1755648" y="5084064"/>
            <a:ext cx="9646919" cy="484632"/>
          </a:xfrm>
          <a:prstGeom prst="rect">
            <a:avLst/>
          </a:prstGeom>
          <a:noFill/>
        </p:spPr>
        <p:txBody>
          <a:bodyPr wrap="square" lIns="0" rIns="0" tIns="0" bIns="0" anchor="ctr">
            <a:spAutoFit/>
          </a:bodyPr>
          <a:lstStyle/>
          <a:p>
            <a:pPr algn="l">
              <a:lnSpc>
                <a:spcPct val="112000"/>
              </a:lnSpc>
            </a:pPr>
            <a:r>
              <a:rPr sz="1500" b="0" i="0">
                <a:solidFill>
                  <a:srgbClr val="F2F6FC"/>
                </a:solidFill>
                <a:latin typeface="Arial"/>
              </a:rPr>
              <a:t>Adapter l’offre au pays, à la langue et à la livraison réels.</a:t>
            </a:r>
          </a:p>
        </p:txBody>
      </p:sp>
      <p:sp>
        <p:nvSpPr>
          <p:cNvPr id="26" name="Rounded Rectangle 25" descr="Élément graphique décoratif, sans information propre"/>
          <p:cNvSpPr/>
          <p:nvPr/>
        </p:nvSpPr>
        <p:spPr>
          <a:xfrm>
            <a:off x="0" y="0"/>
            <a:ext cx="201168" cy="6858000"/>
          </a:xfrm>
          <a:prstGeom prst="round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descr="Référence de source affichée en pied de diapositive : Chapitres 31–35"/>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Chapitres 31–35</a:t>
            </a:r>
          </a:p>
        </p:txBody>
      </p:sp>
      <p:sp>
        <p:nvSpPr>
          <p:cNvPr id="28" name="TextBox 27" descr="Numéro de diapositive 60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60 / 84  ·  2 min</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descr="Élément graphique décoratif, sans information propr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descr="Bandeau supérieur de partie"/>
          <p:cNvSpPr/>
          <p:nvPr/>
        </p:nvSpPr>
        <p:spPr>
          <a:xfrm>
            <a:off x="0" y="0"/>
            <a:ext cx="12191695" cy="256032"/>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descr="Titre de section : PARTIE 08"/>
          <p:cNvSpPr txBox="1"/>
          <p:nvPr/>
        </p:nvSpPr>
        <p:spPr>
          <a:xfrm>
            <a:off x="822960" y="2148840"/>
            <a:ext cx="8357616" cy="1097280"/>
          </a:xfrm>
          <a:prstGeom prst="rect">
            <a:avLst/>
          </a:prstGeom>
          <a:noFill/>
        </p:spPr>
        <p:txBody>
          <a:bodyPr wrap="square" lIns="0" rIns="0" tIns="0" bIns="0" anchor="t">
            <a:spAutoFit/>
          </a:bodyPr>
          <a:lstStyle/>
          <a:p>
            <a:pPr algn="l">
              <a:lnSpc>
                <a:spcPct val="106000"/>
              </a:lnSpc>
            </a:pPr>
            <a:r>
              <a:rPr sz="5600" b="1" i="0">
                <a:solidFill>
                  <a:srgbClr val="F2F6FC"/>
                </a:solidFill>
                <a:latin typeface="Arial"/>
              </a:rPr>
              <a:t>PARTIE 08</a:t>
            </a:r>
          </a:p>
        </p:txBody>
      </p:sp>
      <p:sp>
        <p:nvSpPr>
          <p:cNvPr id="6" name="TextBox 5" descr="Sous-titre de section : PARCOURS D’EXÉCUTION"/>
          <p:cNvSpPr txBox="1"/>
          <p:nvPr/>
        </p:nvSpPr>
        <p:spPr>
          <a:xfrm>
            <a:off x="822960" y="3291840"/>
            <a:ext cx="10058400" cy="1463040"/>
          </a:xfrm>
          <a:prstGeom prst="rect">
            <a:avLst/>
          </a:prstGeom>
          <a:noFill/>
        </p:spPr>
        <p:txBody>
          <a:bodyPr wrap="square" lIns="0" rIns="0" tIns="0" bIns="0" anchor="t">
            <a:spAutoFit/>
          </a:bodyPr>
          <a:lstStyle/>
          <a:p>
            <a:pPr algn="l">
              <a:lnSpc>
                <a:spcPct val="112000"/>
              </a:lnSpc>
            </a:pPr>
            <a:r>
              <a:rPr sz="3000" b="1" i="0">
                <a:solidFill>
                  <a:srgbClr val="60A5FA"/>
                </a:solidFill>
                <a:latin typeface="Arial"/>
              </a:rPr>
              <a:t>PARCOURS D’EXÉCUTION</a:t>
            </a:r>
          </a:p>
        </p:txBody>
      </p:sp>
      <p:sp>
        <p:nvSpPr>
          <p:cNvPr id="7" name="Rounded Rectangle 6" descr="Élément graphique décoratif, sans information propre"/>
          <p:cNvSpPr/>
          <p:nvPr/>
        </p:nvSpPr>
        <p:spPr>
          <a:xfrm>
            <a:off x="0" y="0"/>
            <a:ext cx="201168" cy="6858000"/>
          </a:xfrm>
          <a:prstGeom prst="round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Référence de source affichée en pied de diapositive : Partie 8 du DOCX"/>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Partie 8 du DOCX</a:t>
            </a:r>
          </a:p>
        </p:txBody>
      </p:sp>
      <p:sp>
        <p:nvSpPr>
          <p:cNvPr id="9" name="TextBox 8" descr="Numéro de diapositive 61 sur 84, durée prévue 1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61 / 84  ·  1 min</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Partie 08 · chapitre 36"/>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60A5FA"/>
                </a:solidFill>
                <a:latin typeface="Arial"/>
              </a:rPr>
              <a:t>PARTIE 08 · CHAPITRE 36</a:t>
            </a:r>
          </a:p>
        </p:txBody>
      </p:sp>
      <p:sp>
        <p:nvSpPr>
          <p:cNvPr id="4" name="TextBox 3" descr="Titre du chapitre : 36 · Lancer son système en 30 jours"/>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200" b="1" i="0">
                <a:solidFill>
                  <a:srgbClr val="F2F6FC"/>
                </a:solidFill>
                <a:latin typeface="Arial"/>
              </a:rPr>
              <a:t>36 · Lancer son système en 30 jours</a:t>
            </a:r>
          </a:p>
        </p:txBody>
      </p:sp>
      <p:sp>
        <p:nvSpPr>
          <p:cNvPr id="5" name="TextBox 4" descr="Objectif du chapitre : Bâtir un premier système mesurable sans viser un revenu garanti."/>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550" b="1" i="0">
                <a:solidFill>
                  <a:srgbClr val="60A5FA"/>
                </a:solidFill>
                <a:latin typeface="Arial"/>
              </a:rPr>
              <a:t>Bâtir un premier système mesurable sans viser un revenu garanti.</a:t>
            </a:r>
          </a:p>
        </p:txBody>
      </p:sp>
      <p:sp>
        <p:nvSpPr>
          <p:cNvPr id="6" name="Rounded Rectangle 5" descr="Point 1 : Bloquez un temps réaliste chaque semaine."/>
          <p:cNvSpPr/>
          <p:nvPr/>
        </p:nvSpPr>
        <p:spPr>
          <a:xfrm>
            <a:off x="566928" y="2331720"/>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de section"/>
          <p:cNvSpPr/>
          <p:nvPr/>
        </p:nvSpPr>
        <p:spPr>
          <a:xfrm>
            <a:off x="566928" y="2331720"/>
            <a:ext cx="64008" cy="713232"/>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Numéro d'étape 1"/>
          <p:cNvSpPr txBox="1"/>
          <p:nvPr/>
        </p:nvSpPr>
        <p:spPr>
          <a:xfrm>
            <a:off x="841247" y="2414016"/>
            <a:ext cx="822960" cy="548640"/>
          </a:xfrm>
          <a:prstGeom prst="rect">
            <a:avLst/>
          </a:prstGeom>
          <a:noFill/>
        </p:spPr>
        <p:txBody>
          <a:bodyPr wrap="square" lIns="0" rIns="0" tIns="0" bIns="0" anchor="ctr">
            <a:spAutoFit/>
          </a:bodyPr>
          <a:lstStyle/>
          <a:p>
            <a:pPr algn="l">
              <a:lnSpc>
                <a:spcPct val="112000"/>
              </a:lnSpc>
            </a:pPr>
            <a:r>
              <a:rPr sz="2400" b="1" i="0">
                <a:solidFill>
                  <a:srgbClr val="60A5FA"/>
                </a:solidFill>
                <a:latin typeface="Arial"/>
              </a:rPr>
              <a:t>01</a:t>
            </a:r>
          </a:p>
        </p:txBody>
      </p:sp>
      <p:sp>
        <p:nvSpPr>
          <p:cNvPr id="9" name="TextBox 8" descr="Texte du point 1 : Bloquez un temps réaliste chaque semaine."/>
          <p:cNvSpPr txBox="1"/>
          <p:nvPr/>
        </p:nvSpPr>
        <p:spPr>
          <a:xfrm>
            <a:off x="1755648" y="2386584"/>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Bloquez un temps réaliste chaque semaine.</a:t>
            </a:r>
          </a:p>
        </p:txBody>
      </p:sp>
      <p:sp>
        <p:nvSpPr>
          <p:cNvPr id="10" name="Rounded Rectangle 9" descr="Point 2 : Produisez un livrable par phase."/>
          <p:cNvSpPr/>
          <p:nvPr/>
        </p:nvSpPr>
        <p:spPr>
          <a:xfrm>
            <a:off x="566928" y="3172968"/>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de section"/>
          <p:cNvSpPr/>
          <p:nvPr/>
        </p:nvSpPr>
        <p:spPr>
          <a:xfrm>
            <a:off x="566928" y="3172968"/>
            <a:ext cx="64008" cy="713232"/>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Numéro d'étape 2"/>
          <p:cNvSpPr txBox="1"/>
          <p:nvPr/>
        </p:nvSpPr>
        <p:spPr>
          <a:xfrm>
            <a:off x="841247" y="3255264"/>
            <a:ext cx="822960" cy="548640"/>
          </a:xfrm>
          <a:prstGeom prst="rect">
            <a:avLst/>
          </a:prstGeom>
          <a:noFill/>
        </p:spPr>
        <p:txBody>
          <a:bodyPr wrap="square" lIns="0" rIns="0" tIns="0" bIns="0" anchor="ctr">
            <a:spAutoFit/>
          </a:bodyPr>
          <a:lstStyle/>
          <a:p>
            <a:pPr algn="l">
              <a:lnSpc>
                <a:spcPct val="112000"/>
              </a:lnSpc>
            </a:pPr>
            <a:r>
              <a:rPr sz="2400" b="1" i="0">
                <a:solidFill>
                  <a:srgbClr val="60A5FA"/>
                </a:solidFill>
                <a:latin typeface="Arial"/>
              </a:rPr>
              <a:t>02</a:t>
            </a:r>
          </a:p>
        </p:txBody>
      </p:sp>
      <p:sp>
        <p:nvSpPr>
          <p:cNvPr id="13" name="TextBox 12" descr="Texte du point 2 : Produisez un livrable par phase."/>
          <p:cNvSpPr txBox="1"/>
          <p:nvPr/>
        </p:nvSpPr>
        <p:spPr>
          <a:xfrm>
            <a:off x="1755648" y="3227832"/>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Produisez un livrable par phase.</a:t>
            </a:r>
          </a:p>
        </p:txBody>
      </p:sp>
      <p:sp>
        <p:nvSpPr>
          <p:cNvPr id="14" name="Rounded Rectangle 13" descr="Point 3 : Consignez sources et coûts."/>
          <p:cNvSpPr/>
          <p:nvPr/>
        </p:nvSpPr>
        <p:spPr>
          <a:xfrm>
            <a:off x="566928" y="4014215"/>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Repère décoratif de section"/>
          <p:cNvSpPr/>
          <p:nvPr/>
        </p:nvSpPr>
        <p:spPr>
          <a:xfrm>
            <a:off x="566928" y="4014215"/>
            <a:ext cx="64008" cy="713232"/>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Numéro d'étape 3"/>
          <p:cNvSpPr txBox="1"/>
          <p:nvPr/>
        </p:nvSpPr>
        <p:spPr>
          <a:xfrm>
            <a:off x="841247" y="4096511"/>
            <a:ext cx="822960" cy="548640"/>
          </a:xfrm>
          <a:prstGeom prst="rect">
            <a:avLst/>
          </a:prstGeom>
          <a:noFill/>
        </p:spPr>
        <p:txBody>
          <a:bodyPr wrap="square" lIns="0" rIns="0" tIns="0" bIns="0" anchor="ctr">
            <a:spAutoFit/>
          </a:bodyPr>
          <a:lstStyle/>
          <a:p>
            <a:pPr algn="l">
              <a:lnSpc>
                <a:spcPct val="112000"/>
              </a:lnSpc>
            </a:pPr>
            <a:r>
              <a:rPr sz="2400" b="1" i="0">
                <a:solidFill>
                  <a:srgbClr val="60A5FA"/>
                </a:solidFill>
                <a:latin typeface="Arial"/>
              </a:rPr>
              <a:t>03</a:t>
            </a:r>
          </a:p>
        </p:txBody>
      </p:sp>
      <p:sp>
        <p:nvSpPr>
          <p:cNvPr id="17" name="TextBox 16" descr="Texte du point 3 : Consignez sources et coûts."/>
          <p:cNvSpPr txBox="1"/>
          <p:nvPr/>
        </p:nvSpPr>
        <p:spPr>
          <a:xfrm>
            <a:off x="1755648" y="4069079"/>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Consignez sources et coûts.</a:t>
            </a:r>
          </a:p>
        </p:txBody>
      </p:sp>
      <p:sp>
        <p:nvSpPr>
          <p:cNvPr id="18" name="Rounded Rectangle 17" descr="Point 4 : Faites un bilan écrit au jour 30."/>
          <p:cNvSpPr/>
          <p:nvPr/>
        </p:nvSpPr>
        <p:spPr>
          <a:xfrm>
            <a:off x="566928" y="4855464"/>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descr="Repère décoratif de section"/>
          <p:cNvSpPr/>
          <p:nvPr/>
        </p:nvSpPr>
        <p:spPr>
          <a:xfrm>
            <a:off x="566928" y="4855464"/>
            <a:ext cx="64008" cy="713232"/>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descr="Numéro d'étape 4"/>
          <p:cNvSpPr txBox="1"/>
          <p:nvPr/>
        </p:nvSpPr>
        <p:spPr>
          <a:xfrm>
            <a:off x="841247" y="4937760"/>
            <a:ext cx="822960" cy="548640"/>
          </a:xfrm>
          <a:prstGeom prst="rect">
            <a:avLst/>
          </a:prstGeom>
          <a:noFill/>
        </p:spPr>
        <p:txBody>
          <a:bodyPr wrap="square" lIns="0" rIns="0" tIns="0" bIns="0" anchor="ctr">
            <a:spAutoFit/>
          </a:bodyPr>
          <a:lstStyle/>
          <a:p>
            <a:pPr algn="l">
              <a:lnSpc>
                <a:spcPct val="112000"/>
              </a:lnSpc>
            </a:pPr>
            <a:r>
              <a:rPr sz="2400" b="1" i="0">
                <a:solidFill>
                  <a:srgbClr val="60A5FA"/>
                </a:solidFill>
                <a:latin typeface="Arial"/>
              </a:rPr>
              <a:t>04</a:t>
            </a:r>
          </a:p>
        </p:txBody>
      </p:sp>
      <p:sp>
        <p:nvSpPr>
          <p:cNvPr id="21" name="TextBox 20" descr="Texte du point 4 : Faites un bilan écrit au jour 30."/>
          <p:cNvSpPr txBox="1"/>
          <p:nvPr/>
        </p:nvSpPr>
        <p:spPr>
          <a:xfrm>
            <a:off x="1755648" y="4910328"/>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Faites un bilan écrit au jour 30.</a:t>
            </a:r>
          </a:p>
        </p:txBody>
      </p:sp>
      <p:sp>
        <p:nvSpPr>
          <p:cNvPr id="22" name="Rounded Rectangle 21" descr="Élément graphique décoratif, sans information propre"/>
          <p:cNvSpPr/>
          <p:nvPr/>
        </p:nvSpPr>
        <p:spPr>
          <a:xfrm>
            <a:off x="0" y="0"/>
            <a:ext cx="201168" cy="6858000"/>
          </a:xfrm>
          <a:prstGeom prst="round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descr="Référence de source affichée en pied de diapositive : Chapitre 36 — Lancer son système en 30 jours"/>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 36 — Lancer son système en 30 jours</a:t>
            </a:r>
          </a:p>
        </p:txBody>
      </p:sp>
      <p:sp>
        <p:nvSpPr>
          <p:cNvPr id="24" name="TextBox 23" descr="Numéro de diapositive 62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62 / 84  ·  2 min</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Partie 08 · chapitre 37"/>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60A5FA"/>
                </a:solidFill>
                <a:latin typeface="Arial"/>
              </a:rPr>
              <a:t>PARTIE 08 · CHAPITRE 37</a:t>
            </a:r>
          </a:p>
        </p:txBody>
      </p:sp>
      <p:sp>
        <p:nvSpPr>
          <p:cNvPr id="4" name="TextBox 3" descr="Titre du chapitre : 37 · Consolider et automatiser en 60 jours"/>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200" b="1" i="0">
                <a:solidFill>
                  <a:srgbClr val="F2F6FC"/>
                </a:solidFill>
                <a:latin typeface="Arial"/>
              </a:rPr>
              <a:t>37 · Consolider et automatiser en 60 jours</a:t>
            </a:r>
          </a:p>
        </p:txBody>
      </p:sp>
      <p:sp>
        <p:nvSpPr>
          <p:cNvPr id="5" name="TextBox 4" descr="Objectif du chapitre : Stabiliser le système des jours 31 à 60, pas commencer soixante jours supplémentaires."/>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550" b="1" i="0">
                <a:solidFill>
                  <a:srgbClr val="60A5FA"/>
                </a:solidFill>
                <a:latin typeface="Arial"/>
              </a:rPr>
              <a:t>Stabiliser le système des jours 31 à 60, pas commencer soixante jours supplémentaires.</a:t>
            </a:r>
          </a:p>
        </p:txBody>
      </p:sp>
      <p:sp>
        <p:nvSpPr>
          <p:cNvPr id="6" name="Rounded Rectangle 5" descr="Point 1 : Relisez le bilan du jour 30."/>
          <p:cNvSpPr/>
          <p:nvPr/>
        </p:nvSpPr>
        <p:spPr>
          <a:xfrm>
            <a:off x="566928" y="2331720"/>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de section"/>
          <p:cNvSpPr/>
          <p:nvPr/>
        </p:nvSpPr>
        <p:spPr>
          <a:xfrm>
            <a:off x="566928" y="2331720"/>
            <a:ext cx="64008" cy="713232"/>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Numéro d'étape 1"/>
          <p:cNvSpPr txBox="1"/>
          <p:nvPr/>
        </p:nvSpPr>
        <p:spPr>
          <a:xfrm>
            <a:off x="841247" y="2414016"/>
            <a:ext cx="822960" cy="548640"/>
          </a:xfrm>
          <a:prstGeom prst="rect">
            <a:avLst/>
          </a:prstGeom>
          <a:noFill/>
        </p:spPr>
        <p:txBody>
          <a:bodyPr wrap="square" lIns="0" rIns="0" tIns="0" bIns="0" anchor="ctr">
            <a:spAutoFit/>
          </a:bodyPr>
          <a:lstStyle/>
          <a:p>
            <a:pPr algn="l">
              <a:lnSpc>
                <a:spcPct val="112000"/>
              </a:lnSpc>
            </a:pPr>
            <a:r>
              <a:rPr sz="2400" b="1" i="0">
                <a:solidFill>
                  <a:srgbClr val="60A5FA"/>
                </a:solidFill>
                <a:latin typeface="Arial"/>
              </a:rPr>
              <a:t>01</a:t>
            </a:r>
          </a:p>
        </p:txBody>
      </p:sp>
      <p:sp>
        <p:nvSpPr>
          <p:cNvPr id="9" name="TextBox 8" descr="Texte du point 1 : Relisez le bilan du jour 30."/>
          <p:cNvSpPr txBox="1"/>
          <p:nvPr/>
        </p:nvSpPr>
        <p:spPr>
          <a:xfrm>
            <a:off x="1755648" y="2386584"/>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Relisez le bilan du jour 30.</a:t>
            </a:r>
          </a:p>
        </p:txBody>
      </p:sp>
      <p:sp>
        <p:nvSpPr>
          <p:cNvPr id="10" name="Rounded Rectangle 9" descr="Point 2 : Choisissez une hypothèse."/>
          <p:cNvSpPr/>
          <p:nvPr/>
        </p:nvSpPr>
        <p:spPr>
          <a:xfrm>
            <a:off x="566928" y="3172968"/>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de section"/>
          <p:cNvSpPr/>
          <p:nvPr/>
        </p:nvSpPr>
        <p:spPr>
          <a:xfrm>
            <a:off x="566928" y="3172968"/>
            <a:ext cx="64008" cy="713232"/>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Numéro d'étape 2"/>
          <p:cNvSpPr txBox="1"/>
          <p:nvPr/>
        </p:nvSpPr>
        <p:spPr>
          <a:xfrm>
            <a:off x="841247" y="3255264"/>
            <a:ext cx="822960" cy="548640"/>
          </a:xfrm>
          <a:prstGeom prst="rect">
            <a:avLst/>
          </a:prstGeom>
          <a:noFill/>
        </p:spPr>
        <p:txBody>
          <a:bodyPr wrap="square" lIns="0" rIns="0" tIns="0" bIns="0" anchor="ctr">
            <a:spAutoFit/>
          </a:bodyPr>
          <a:lstStyle/>
          <a:p>
            <a:pPr algn="l">
              <a:lnSpc>
                <a:spcPct val="112000"/>
              </a:lnSpc>
            </a:pPr>
            <a:r>
              <a:rPr sz="2400" b="1" i="0">
                <a:solidFill>
                  <a:srgbClr val="60A5FA"/>
                </a:solidFill>
                <a:latin typeface="Arial"/>
              </a:rPr>
              <a:t>02</a:t>
            </a:r>
          </a:p>
        </p:txBody>
      </p:sp>
      <p:sp>
        <p:nvSpPr>
          <p:cNvPr id="13" name="TextBox 12" descr="Texte du point 2 : Choisissez une hypothèse."/>
          <p:cNvSpPr txBox="1"/>
          <p:nvPr/>
        </p:nvSpPr>
        <p:spPr>
          <a:xfrm>
            <a:off x="1755648" y="3227832"/>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Choisissez une hypothèse.</a:t>
            </a:r>
          </a:p>
        </p:txBody>
      </p:sp>
      <p:sp>
        <p:nvSpPr>
          <p:cNvPr id="14" name="Rounded Rectangle 13" descr="Point 3 : Testez une offre bornée."/>
          <p:cNvSpPr/>
          <p:nvPr/>
        </p:nvSpPr>
        <p:spPr>
          <a:xfrm>
            <a:off x="566928" y="4014215"/>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Repère décoratif de section"/>
          <p:cNvSpPr/>
          <p:nvPr/>
        </p:nvSpPr>
        <p:spPr>
          <a:xfrm>
            <a:off x="566928" y="4014215"/>
            <a:ext cx="64008" cy="713232"/>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Numéro d'étape 3"/>
          <p:cNvSpPr txBox="1"/>
          <p:nvPr/>
        </p:nvSpPr>
        <p:spPr>
          <a:xfrm>
            <a:off x="841247" y="4096511"/>
            <a:ext cx="822960" cy="548640"/>
          </a:xfrm>
          <a:prstGeom prst="rect">
            <a:avLst/>
          </a:prstGeom>
          <a:noFill/>
        </p:spPr>
        <p:txBody>
          <a:bodyPr wrap="square" lIns="0" rIns="0" tIns="0" bIns="0" anchor="ctr">
            <a:spAutoFit/>
          </a:bodyPr>
          <a:lstStyle/>
          <a:p>
            <a:pPr algn="l">
              <a:lnSpc>
                <a:spcPct val="112000"/>
              </a:lnSpc>
            </a:pPr>
            <a:r>
              <a:rPr sz="2400" b="1" i="0">
                <a:solidFill>
                  <a:srgbClr val="60A5FA"/>
                </a:solidFill>
                <a:latin typeface="Arial"/>
              </a:rPr>
              <a:t>03</a:t>
            </a:r>
          </a:p>
        </p:txBody>
      </p:sp>
      <p:sp>
        <p:nvSpPr>
          <p:cNvPr id="17" name="TextBox 16" descr="Texte du point 3 : Testez une offre bornée."/>
          <p:cNvSpPr txBox="1"/>
          <p:nvPr/>
        </p:nvSpPr>
        <p:spPr>
          <a:xfrm>
            <a:off x="1755648" y="4069079"/>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Testez une offre bornée.</a:t>
            </a:r>
          </a:p>
        </p:txBody>
      </p:sp>
      <p:sp>
        <p:nvSpPr>
          <p:cNvPr id="18" name="Rounded Rectangle 17" descr="Point 4 : Consignez coûts et frictions."/>
          <p:cNvSpPr/>
          <p:nvPr/>
        </p:nvSpPr>
        <p:spPr>
          <a:xfrm>
            <a:off x="566928" y="4855464"/>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descr="Repère décoratif de section"/>
          <p:cNvSpPr/>
          <p:nvPr/>
        </p:nvSpPr>
        <p:spPr>
          <a:xfrm>
            <a:off x="566928" y="4855464"/>
            <a:ext cx="64008" cy="713232"/>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descr="Numéro d'étape 4"/>
          <p:cNvSpPr txBox="1"/>
          <p:nvPr/>
        </p:nvSpPr>
        <p:spPr>
          <a:xfrm>
            <a:off x="841247" y="4937760"/>
            <a:ext cx="822960" cy="548640"/>
          </a:xfrm>
          <a:prstGeom prst="rect">
            <a:avLst/>
          </a:prstGeom>
          <a:noFill/>
        </p:spPr>
        <p:txBody>
          <a:bodyPr wrap="square" lIns="0" rIns="0" tIns="0" bIns="0" anchor="ctr">
            <a:spAutoFit/>
          </a:bodyPr>
          <a:lstStyle/>
          <a:p>
            <a:pPr algn="l">
              <a:lnSpc>
                <a:spcPct val="112000"/>
              </a:lnSpc>
            </a:pPr>
            <a:r>
              <a:rPr sz="2400" b="1" i="0">
                <a:solidFill>
                  <a:srgbClr val="60A5FA"/>
                </a:solidFill>
                <a:latin typeface="Arial"/>
              </a:rPr>
              <a:t>04</a:t>
            </a:r>
          </a:p>
        </p:txBody>
      </p:sp>
      <p:sp>
        <p:nvSpPr>
          <p:cNvPr id="21" name="TextBox 20" descr="Texte du point 4 : Consignez coûts et frictions."/>
          <p:cNvSpPr txBox="1"/>
          <p:nvPr/>
        </p:nvSpPr>
        <p:spPr>
          <a:xfrm>
            <a:off x="1755648" y="4910328"/>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Consignez coûts et frictions.</a:t>
            </a:r>
          </a:p>
        </p:txBody>
      </p:sp>
      <p:sp>
        <p:nvSpPr>
          <p:cNvPr id="22" name="Rounded Rectangle 21" descr="Élément graphique décoratif, sans information propre"/>
          <p:cNvSpPr/>
          <p:nvPr/>
        </p:nvSpPr>
        <p:spPr>
          <a:xfrm>
            <a:off x="0" y="0"/>
            <a:ext cx="201168" cy="6858000"/>
          </a:xfrm>
          <a:prstGeom prst="round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descr="Référence de source affichée en pied de diapositive : Chapitre 37 — Consolider et automatiser en 60 jours"/>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 37 — Consolider et automatiser en 60 jours</a:t>
            </a:r>
          </a:p>
        </p:txBody>
      </p:sp>
      <p:sp>
        <p:nvSpPr>
          <p:cNvPr id="24" name="TextBox 23" descr="Numéro de diapositive 63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63 / 84  ·  2 min</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Partie 08 · chapitre 38"/>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60A5FA"/>
                </a:solidFill>
                <a:latin typeface="Arial"/>
              </a:rPr>
              <a:t>PARTIE 08 · CHAPITRE 38</a:t>
            </a:r>
          </a:p>
        </p:txBody>
      </p:sp>
      <p:sp>
        <p:nvSpPr>
          <p:cNvPr id="4" name="TextBox 3" descr="Titre du chapitre : 38 · Parcours selon son profil"/>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200" b="1" i="0">
                <a:solidFill>
                  <a:srgbClr val="F2F6FC"/>
                </a:solidFill>
                <a:latin typeface="Arial"/>
              </a:rPr>
              <a:t>38 · Parcours selon son profil</a:t>
            </a:r>
          </a:p>
        </p:txBody>
      </p:sp>
      <p:sp>
        <p:nvSpPr>
          <p:cNvPr id="5" name="TextBox 4" descr="Objectif du chapitre : Adapter format et preuves à son activité réelle."/>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550" b="1" i="0">
                <a:solidFill>
                  <a:srgbClr val="60A5FA"/>
                </a:solidFill>
                <a:latin typeface="Arial"/>
              </a:rPr>
              <a:t>Adapter format et preuves à son activité réelle.</a:t>
            </a:r>
          </a:p>
        </p:txBody>
      </p:sp>
      <p:sp>
        <p:nvSpPr>
          <p:cNvPr id="6" name="Rounded Rectangle 5" descr="Point 1 : Choisissez le profil qui vous ressemble."/>
          <p:cNvSpPr/>
          <p:nvPr/>
        </p:nvSpPr>
        <p:spPr>
          <a:xfrm>
            <a:off x="566928" y="2331720"/>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de section"/>
          <p:cNvSpPr/>
          <p:nvPr/>
        </p:nvSpPr>
        <p:spPr>
          <a:xfrm>
            <a:off x="566928" y="2331720"/>
            <a:ext cx="64008" cy="713232"/>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Numéro d'étape 1"/>
          <p:cNvSpPr txBox="1"/>
          <p:nvPr/>
        </p:nvSpPr>
        <p:spPr>
          <a:xfrm>
            <a:off x="841247" y="2414016"/>
            <a:ext cx="822960" cy="548640"/>
          </a:xfrm>
          <a:prstGeom prst="rect">
            <a:avLst/>
          </a:prstGeom>
          <a:noFill/>
        </p:spPr>
        <p:txBody>
          <a:bodyPr wrap="square" lIns="0" rIns="0" tIns="0" bIns="0" anchor="ctr">
            <a:spAutoFit/>
          </a:bodyPr>
          <a:lstStyle/>
          <a:p>
            <a:pPr algn="l">
              <a:lnSpc>
                <a:spcPct val="112000"/>
              </a:lnSpc>
            </a:pPr>
            <a:r>
              <a:rPr sz="2400" b="1" i="0">
                <a:solidFill>
                  <a:srgbClr val="60A5FA"/>
                </a:solidFill>
                <a:latin typeface="Arial"/>
              </a:rPr>
              <a:t>01</a:t>
            </a:r>
          </a:p>
        </p:txBody>
      </p:sp>
      <p:sp>
        <p:nvSpPr>
          <p:cNvPr id="9" name="TextBox 8" descr="Texte du point 1 : Choisissez le profil qui vous ressemble."/>
          <p:cNvSpPr txBox="1"/>
          <p:nvPr/>
        </p:nvSpPr>
        <p:spPr>
          <a:xfrm>
            <a:off x="1755648" y="2386584"/>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Choisissez le profil qui vous ressemble.</a:t>
            </a:r>
          </a:p>
        </p:txBody>
      </p:sp>
      <p:sp>
        <p:nvSpPr>
          <p:cNvPr id="10" name="Rounded Rectangle 9" descr="Point 2 : Sélectionnez un problème concret."/>
          <p:cNvSpPr/>
          <p:nvPr/>
        </p:nvSpPr>
        <p:spPr>
          <a:xfrm>
            <a:off x="566928" y="3172968"/>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de section"/>
          <p:cNvSpPr/>
          <p:nvPr/>
        </p:nvSpPr>
        <p:spPr>
          <a:xfrm>
            <a:off x="566928" y="3172968"/>
            <a:ext cx="64008" cy="713232"/>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Numéro d'étape 2"/>
          <p:cNvSpPr txBox="1"/>
          <p:nvPr/>
        </p:nvSpPr>
        <p:spPr>
          <a:xfrm>
            <a:off x="841247" y="3255264"/>
            <a:ext cx="822960" cy="548640"/>
          </a:xfrm>
          <a:prstGeom prst="rect">
            <a:avLst/>
          </a:prstGeom>
          <a:noFill/>
        </p:spPr>
        <p:txBody>
          <a:bodyPr wrap="square" lIns="0" rIns="0" tIns="0" bIns="0" anchor="ctr">
            <a:spAutoFit/>
          </a:bodyPr>
          <a:lstStyle/>
          <a:p>
            <a:pPr algn="l">
              <a:lnSpc>
                <a:spcPct val="112000"/>
              </a:lnSpc>
            </a:pPr>
            <a:r>
              <a:rPr sz="2400" b="1" i="0">
                <a:solidFill>
                  <a:srgbClr val="60A5FA"/>
                </a:solidFill>
                <a:latin typeface="Arial"/>
              </a:rPr>
              <a:t>02</a:t>
            </a:r>
          </a:p>
        </p:txBody>
      </p:sp>
      <p:sp>
        <p:nvSpPr>
          <p:cNvPr id="13" name="TextBox 12" descr="Texte du point 2 : Sélectionnez un problème concret."/>
          <p:cNvSpPr txBox="1"/>
          <p:nvPr/>
        </p:nvSpPr>
        <p:spPr>
          <a:xfrm>
            <a:off x="1755648" y="3227832"/>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Sélectionnez un problème concret.</a:t>
            </a:r>
          </a:p>
        </p:txBody>
      </p:sp>
      <p:sp>
        <p:nvSpPr>
          <p:cNvPr id="14" name="Rounded Rectangle 13" descr="Point 3 : Associez une preuve légitime."/>
          <p:cNvSpPr/>
          <p:nvPr/>
        </p:nvSpPr>
        <p:spPr>
          <a:xfrm>
            <a:off x="566928" y="4014215"/>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Repère décoratif de section"/>
          <p:cNvSpPr/>
          <p:nvPr/>
        </p:nvSpPr>
        <p:spPr>
          <a:xfrm>
            <a:off x="566928" y="4014215"/>
            <a:ext cx="64008" cy="713232"/>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Numéro d'étape 3"/>
          <p:cNvSpPr txBox="1"/>
          <p:nvPr/>
        </p:nvSpPr>
        <p:spPr>
          <a:xfrm>
            <a:off x="841247" y="4096511"/>
            <a:ext cx="822960" cy="548640"/>
          </a:xfrm>
          <a:prstGeom prst="rect">
            <a:avLst/>
          </a:prstGeom>
          <a:noFill/>
        </p:spPr>
        <p:txBody>
          <a:bodyPr wrap="square" lIns="0" rIns="0" tIns="0" bIns="0" anchor="ctr">
            <a:spAutoFit/>
          </a:bodyPr>
          <a:lstStyle/>
          <a:p>
            <a:pPr algn="l">
              <a:lnSpc>
                <a:spcPct val="112000"/>
              </a:lnSpc>
            </a:pPr>
            <a:r>
              <a:rPr sz="2400" b="1" i="0">
                <a:solidFill>
                  <a:srgbClr val="60A5FA"/>
                </a:solidFill>
                <a:latin typeface="Arial"/>
              </a:rPr>
              <a:t>03</a:t>
            </a:r>
          </a:p>
        </p:txBody>
      </p:sp>
      <p:sp>
        <p:nvSpPr>
          <p:cNvPr id="17" name="TextBox 16" descr="Texte du point 3 : Associez une preuve légitime."/>
          <p:cNvSpPr txBox="1"/>
          <p:nvPr/>
        </p:nvSpPr>
        <p:spPr>
          <a:xfrm>
            <a:off x="1755648" y="4069079"/>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Associez une preuve légitime.</a:t>
            </a:r>
          </a:p>
        </p:txBody>
      </p:sp>
      <p:sp>
        <p:nvSpPr>
          <p:cNvPr id="18" name="Rounded Rectangle 17" descr="Point 4 : Choisissez un format tenable."/>
          <p:cNvSpPr/>
          <p:nvPr/>
        </p:nvSpPr>
        <p:spPr>
          <a:xfrm>
            <a:off x="566928" y="4855464"/>
            <a:ext cx="11064240" cy="713232"/>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descr="Repère décoratif de section"/>
          <p:cNvSpPr/>
          <p:nvPr/>
        </p:nvSpPr>
        <p:spPr>
          <a:xfrm>
            <a:off x="566928" y="4855464"/>
            <a:ext cx="64008" cy="713232"/>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descr="Numéro d'étape 4"/>
          <p:cNvSpPr txBox="1"/>
          <p:nvPr/>
        </p:nvSpPr>
        <p:spPr>
          <a:xfrm>
            <a:off x="841247" y="4937760"/>
            <a:ext cx="822960" cy="548640"/>
          </a:xfrm>
          <a:prstGeom prst="rect">
            <a:avLst/>
          </a:prstGeom>
          <a:noFill/>
        </p:spPr>
        <p:txBody>
          <a:bodyPr wrap="square" lIns="0" rIns="0" tIns="0" bIns="0" anchor="ctr">
            <a:spAutoFit/>
          </a:bodyPr>
          <a:lstStyle/>
          <a:p>
            <a:pPr algn="l">
              <a:lnSpc>
                <a:spcPct val="112000"/>
              </a:lnSpc>
            </a:pPr>
            <a:r>
              <a:rPr sz="2400" b="1" i="0">
                <a:solidFill>
                  <a:srgbClr val="60A5FA"/>
                </a:solidFill>
                <a:latin typeface="Arial"/>
              </a:rPr>
              <a:t>04</a:t>
            </a:r>
          </a:p>
        </p:txBody>
      </p:sp>
      <p:sp>
        <p:nvSpPr>
          <p:cNvPr id="21" name="TextBox 20" descr="Texte du point 4 : Choisissez un format tenable."/>
          <p:cNvSpPr txBox="1"/>
          <p:nvPr/>
        </p:nvSpPr>
        <p:spPr>
          <a:xfrm>
            <a:off x="1755648" y="4910328"/>
            <a:ext cx="9646919" cy="603504"/>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Choisissez un format tenable.</a:t>
            </a:r>
          </a:p>
        </p:txBody>
      </p:sp>
      <p:sp>
        <p:nvSpPr>
          <p:cNvPr id="22" name="Rounded Rectangle 21" descr="Élément graphique décoratif, sans information propre"/>
          <p:cNvSpPr/>
          <p:nvPr/>
        </p:nvSpPr>
        <p:spPr>
          <a:xfrm>
            <a:off x="0" y="0"/>
            <a:ext cx="201168" cy="6858000"/>
          </a:xfrm>
          <a:prstGeom prst="round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descr="Référence de source affichée en pied de diapositive : Chapitre 38 — Parcours selon son profil"/>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 38 — Parcours selon son profil</a:t>
            </a:r>
          </a:p>
        </p:txBody>
      </p:sp>
      <p:sp>
        <p:nvSpPr>
          <p:cNvPr id="24" name="TextBox 23" descr="Numéro de diapositive 64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64 / 84  ·  2 min</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Partie 08 · chapitre 39"/>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60A5FA"/>
                </a:solidFill>
                <a:latin typeface="Arial"/>
              </a:rPr>
              <a:t>PARTIE 08 · CHAPITRE 39</a:t>
            </a:r>
          </a:p>
        </p:txBody>
      </p:sp>
      <p:sp>
        <p:nvSpPr>
          <p:cNvPr id="4" name="TextBox 3" descr="Titre du chapitre : 39 · Construire un système reproductible"/>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200" b="1" i="0">
                <a:solidFill>
                  <a:srgbClr val="F2F6FC"/>
                </a:solidFill>
                <a:latin typeface="Arial"/>
              </a:rPr>
              <a:t>39 · Construire un système reproductible</a:t>
            </a:r>
          </a:p>
        </p:txBody>
      </p:sp>
      <p:sp>
        <p:nvSpPr>
          <p:cNvPr id="5" name="TextBox 4" descr="Objectif du chapitre : Conserver la mémoire des décisions et rendre la production révisable."/>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550" b="1" i="0">
                <a:solidFill>
                  <a:srgbClr val="60A5FA"/>
                </a:solidFill>
                <a:latin typeface="Arial"/>
              </a:rPr>
              <a:t>Conserver la mémoire des décisions et rendre la production révisable.</a:t>
            </a:r>
          </a:p>
        </p:txBody>
      </p:sp>
      <p:sp>
        <p:nvSpPr>
          <p:cNvPr id="6" name="Rounded Rectangle 5" descr="Point 1 : Dessinez entrée et sortie de chaque étape."/>
          <p:cNvSpPr/>
          <p:nvPr/>
        </p:nvSpPr>
        <p:spPr>
          <a:xfrm>
            <a:off x="566928" y="2212848"/>
            <a:ext cx="11064240" cy="59436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de section"/>
          <p:cNvSpPr/>
          <p:nvPr/>
        </p:nvSpPr>
        <p:spPr>
          <a:xfrm>
            <a:off x="566928" y="2212848"/>
            <a:ext cx="64008" cy="594360"/>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Numéro d'étape 1"/>
          <p:cNvSpPr txBox="1"/>
          <p:nvPr/>
        </p:nvSpPr>
        <p:spPr>
          <a:xfrm>
            <a:off x="841247" y="2235708"/>
            <a:ext cx="822960" cy="548640"/>
          </a:xfrm>
          <a:prstGeom prst="rect">
            <a:avLst/>
          </a:prstGeom>
          <a:noFill/>
        </p:spPr>
        <p:txBody>
          <a:bodyPr wrap="square" lIns="0" rIns="0" tIns="0" bIns="0" anchor="ctr">
            <a:spAutoFit/>
          </a:bodyPr>
          <a:lstStyle/>
          <a:p>
            <a:pPr algn="l">
              <a:lnSpc>
                <a:spcPct val="112000"/>
              </a:lnSpc>
            </a:pPr>
            <a:r>
              <a:rPr sz="2400" b="1" i="0">
                <a:solidFill>
                  <a:srgbClr val="60A5FA"/>
                </a:solidFill>
                <a:latin typeface="Arial"/>
              </a:rPr>
              <a:t>01</a:t>
            </a:r>
          </a:p>
        </p:txBody>
      </p:sp>
      <p:sp>
        <p:nvSpPr>
          <p:cNvPr id="9" name="TextBox 8" descr="Texte du point 1 : Dessinez entrée et sortie de chaque étape."/>
          <p:cNvSpPr txBox="1"/>
          <p:nvPr/>
        </p:nvSpPr>
        <p:spPr>
          <a:xfrm>
            <a:off x="1755648" y="2267712"/>
            <a:ext cx="9646919" cy="484632"/>
          </a:xfrm>
          <a:prstGeom prst="rect">
            <a:avLst/>
          </a:prstGeom>
          <a:noFill/>
        </p:spPr>
        <p:txBody>
          <a:bodyPr wrap="square" lIns="0" rIns="0" tIns="0" bIns="0" anchor="ctr">
            <a:spAutoFit/>
          </a:bodyPr>
          <a:lstStyle/>
          <a:p>
            <a:pPr algn="l">
              <a:lnSpc>
                <a:spcPct val="112000"/>
              </a:lnSpc>
            </a:pPr>
            <a:r>
              <a:rPr sz="1550" b="0" i="0">
                <a:solidFill>
                  <a:srgbClr val="F2F6FC"/>
                </a:solidFill>
                <a:latin typeface="Arial"/>
              </a:rPr>
              <a:t>Dessinez entrée et sortie de chaque étape.</a:t>
            </a:r>
          </a:p>
        </p:txBody>
      </p:sp>
      <p:sp>
        <p:nvSpPr>
          <p:cNvPr id="10" name="Rounded Rectangle 9" descr="Point 2 : Associez une source aux faits."/>
          <p:cNvSpPr/>
          <p:nvPr/>
        </p:nvSpPr>
        <p:spPr>
          <a:xfrm>
            <a:off x="566928" y="2916936"/>
            <a:ext cx="11064240" cy="59436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de section"/>
          <p:cNvSpPr/>
          <p:nvPr/>
        </p:nvSpPr>
        <p:spPr>
          <a:xfrm>
            <a:off x="566928" y="2916936"/>
            <a:ext cx="64008" cy="594360"/>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Numéro d'étape 2"/>
          <p:cNvSpPr txBox="1"/>
          <p:nvPr/>
        </p:nvSpPr>
        <p:spPr>
          <a:xfrm>
            <a:off x="841247" y="2939796"/>
            <a:ext cx="822960" cy="548640"/>
          </a:xfrm>
          <a:prstGeom prst="rect">
            <a:avLst/>
          </a:prstGeom>
          <a:noFill/>
        </p:spPr>
        <p:txBody>
          <a:bodyPr wrap="square" lIns="0" rIns="0" tIns="0" bIns="0" anchor="ctr">
            <a:spAutoFit/>
          </a:bodyPr>
          <a:lstStyle/>
          <a:p>
            <a:pPr algn="l">
              <a:lnSpc>
                <a:spcPct val="112000"/>
              </a:lnSpc>
            </a:pPr>
            <a:r>
              <a:rPr sz="2400" b="1" i="0">
                <a:solidFill>
                  <a:srgbClr val="60A5FA"/>
                </a:solidFill>
                <a:latin typeface="Arial"/>
              </a:rPr>
              <a:t>02</a:t>
            </a:r>
          </a:p>
        </p:txBody>
      </p:sp>
      <p:sp>
        <p:nvSpPr>
          <p:cNvPr id="13" name="TextBox 12" descr="Texte du point 2 : Associez une source aux faits."/>
          <p:cNvSpPr txBox="1"/>
          <p:nvPr/>
        </p:nvSpPr>
        <p:spPr>
          <a:xfrm>
            <a:off x="1755648" y="2971800"/>
            <a:ext cx="9646919" cy="484632"/>
          </a:xfrm>
          <a:prstGeom prst="rect">
            <a:avLst/>
          </a:prstGeom>
          <a:noFill/>
        </p:spPr>
        <p:txBody>
          <a:bodyPr wrap="square" lIns="0" rIns="0" tIns="0" bIns="0" anchor="ctr">
            <a:spAutoFit/>
          </a:bodyPr>
          <a:lstStyle/>
          <a:p>
            <a:pPr algn="l">
              <a:lnSpc>
                <a:spcPct val="112000"/>
              </a:lnSpc>
            </a:pPr>
            <a:r>
              <a:rPr sz="1550" b="0" i="0">
                <a:solidFill>
                  <a:srgbClr val="F2F6FC"/>
                </a:solidFill>
                <a:latin typeface="Arial"/>
              </a:rPr>
              <a:t>Associez une source aux faits.</a:t>
            </a:r>
          </a:p>
        </p:txBody>
      </p:sp>
      <p:sp>
        <p:nvSpPr>
          <p:cNvPr id="14" name="Rounded Rectangle 13" descr="Point 3 : Définissez le contrôle avant publication."/>
          <p:cNvSpPr/>
          <p:nvPr/>
        </p:nvSpPr>
        <p:spPr>
          <a:xfrm>
            <a:off x="566928" y="3621024"/>
            <a:ext cx="11064240" cy="59436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Repère décoratif de section"/>
          <p:cNvSpPr/>
          <p:nvPr/>
        </p:nvSpPr>
        <p:spPr>
          <a:xfrm>
            <a:off x="566928" y="3621024"/>
            <a:ext cx="64008" cy="594360"/>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Numéro d'étape 3"/>
          <p:cNvSpPr txBox="1"/>
          <p:nvPr/>
        </p:nvSpPr>
        <p:spPr>
          <a:xfrm>
            <a:off x="841247" y="3643884"/>
            <a:ext cx="822960" cy="548640"/>
          </a:xfrm>
          <a:prstGeom prst="rect">
            <a:avLst/>
          </a:prstGeom>
          <a:noFill/>
        </p:spPr>
        <p:txBody>
          <a:bodyPr wrap="square" lIns="0" rIns="0" tIns="0" bIns="0" anchor="ctr">
            <a:spAutoFit/>
          </a:bodyPr>
          <a:lstStyle/>
          <a:p>
            <a:pPr algn="l">
              <a:lnSpc>
                <a:spcPct val="112000"/>
              </a:lnSpc>
            </a:pPr>
            <a:r>
              <a:rPr sz="2400" b="1" i="0">
                <a:solidFill>
                  <a:srgbClr val="60A5FA"/>
                </a:solidFill>
                <a:latin typeface="Arial"/>
              </a:rPr>
              <a:t>03</a:t>
            </a:r>
          </a:p>
        </p:txBody>
      </p:sp>
      <p:sp>
        <p:nvSpPr>
          <p:cNvPr id="17" name="TextBox 16" descr="Texte du point 3 : Définissez le contrôle avant publication."/>
          <p:cNvSpPr txBox="1"/>
          <p:nvPr/>
        </p:nvSpPr>
        <p:spPr>
          <a:xfrm>
            <a:off x="1755648" y="3675887"/>
            <a:ext cx="9646919" cy="484632"/>
          </a:xfrm>
          <a:prstGeom prst="rect">
            <a:avLst/>
          </a:prstGeom>
          <a:noFill/>
        </p:spPr>
        <p:txBody>
          <a:bodyPr wrap="square" lIns="0" rIns="0" tIns="0" bIns="0" anchor="ctr">
            <a:spAutoFit/>
          </a:bodyPr>
          <a:lstStyle/>
          <a:p>
            <a:pPr algn="l">
              <a:lnSpc>
                <a:spcPct val="112000"/>
              </a:lnSpc>
            </a:pPr>
            <a:r>
              <a:rPr sz="1550" b="0" i="0">
                <a:solidFill>
                  <a:srgbClr val="F2F6FC"/>
                </a:solidFill>
                <a:latin typeface="Arial"/>
              </a:rPr>
              <a:t>Définissez le contrôle avant publication.</a:t>
            </a:r>
          </a:p>
        </p:txBody>
      </p:sp>
      <p:sp>
        <p:nvSpPr>
          <p:cNvPr id="18" name="Rounded Rectangle 17" descr="Point 4 : Mesurez objectif et coût."/>
          <p:cNvSpPr/>
          <p:nvPr/>
        </p:nvSpPr>
        <p:spPr>
          <a:xfrm>
            <a:off x="566928" y="4325112"/>
            <a:ext cx="11064240" cy="59436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descr="Repère décoratif de section"/>
          <p:cNvSpPr/>
          <p:nvPr/>
        </p:nvSpPr>
        <p:spPr>
          <a:xfrm>
            <a:off x="566928" y="4325112"/>
            <a:ext cx="64008" cy="594360"/>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descr="Numéro d'étape 4"/>
          <p:cNvSpPr txBox="1"/>
          <p:nvPr/>
        </p:nvSpPr>
        <p:spPr>
          <a:xfrm>
            <a:off x="841247" y="4347972"/>
            <a:ext cx="822960" cy="548640"/>
          </a:xfrm>
          <a:prstGeom prst="rect">
            <a:avLst/>
          </a:prstGeom>
          <a:noFill/>
        </p:spPr>
        <p:txBody>
          <a:bodyPr wrap="square" lIns="0" rIns="0" tIns="0" bIns="0" anchor="ctr">
            <a:spAutoFit/>
          </a:bodyPr>
          <a:lstStyle/>
          <a:p>
            <a:pPr algn="l">
              <a:lnSpc>
                <a:spcPct val="112000"/>
              </a:lnSpc>
            </a:pPr>
            <a:r>
              <a:rPr sz="2400" b="1" i="0">
                <a:solidFill>
                  <a:srgbClr val="60A5FA"/>
                </a:solidFill>
                <a:latin typeface="Arial"/>
              </a:rPr>
              <a:t>04</a:t>
            </a:r>
          </a:p>
        </p:txBody>
      </p:sp>
      <p:sp>
        <p:nvSpPr>
          <p:cNvPr id="21" name="TextBox 20" descr="Texte du point 4 : Mesurez objectif et coût."/>
          <p:cNvSpPr txBox="1"/>
          <p:nvPr/>
        </p:nvSpPr>
        <p:spPr>
          <a:xfrm>
            <a:off x="1755648" y="4379976"/>
            <a:ext cx="9646919" cy="484632"/>
          </a:xfrm>
          <a:prstGeom prst="rect">
            <a:avLst/>
          </a:prstGeom>
          <a:noFill/>
        </p:spPr>
        <p:txBody>
          <a:bodyPr wrap="square" lIns="0" rIns="0" tIns="0" bIns="0" anchor="ctr">
            <a:spAutoFit/>
          </a:bodyPr>
          <a:lstStyle/>
          <a:p>
            <a:pPr algn="l">
              <a:lnSpc>
                <a:spcPct val="112000"/>
              </a:lnSpc>
            </a:pPr>
            <a:r>
              <a:rPr sz="1550" b="0" i="0">
                <a:solidFill>
                  <a:srgbClr val="F2F6FC"/>
                </a:solidFill>
                <a:latin typeface="Arial"/>
              </a:rPr>
              <a:t>Mesurez objectif et coût.</a:t>
            </a:r>
          </a:p>
        </p:txBody>
      </p:sp>
      <p:sp>
        <p:nvSpPr>
          <p:cNvPr id="22" name="Rounded Rectangle 21" descr="Point 5 : Simplifiez après deux essais."/>
          <p:cNvSpPr/>
          <p:nvPr/>
        </p:nvSpPr>
        <p:spPr>
          <a:xfrm>
            <a:off x="566928" y="5029200"/>
            <a:ext cx="11064240" cy="59436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descr="Repère décoratif de section"/>
          <p:cNvSpPr/>
          <p:nvPr/>
        </p:nvSpPr>
        <p:spPr>
          <a:xfrm>
            <a:off x="566928" y="5029200"/>
            <a:ext cx="64008" cy="594360"/>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descr="Numéro d'étape 5"/>
          <p:cNvSpPr txBox="1"/>
          <p:nvPr/>
        </p:nvSpPr>
        <p:spPr>
          <a:xfrm>
            <a:off x="841247" y="5052060"/>
            <a:ext cx="822960" cy="548640"/>
          </a:xfrm>
          <a:prstGeom prst="rect">
            <a:avLst/>
          </a:prstGeom>
          <a:noFill/>
        </p:spPr>
        <p:txBody>
          <a:bodyPr wrap="square" lIns="0" rIns="0" tIns="0" bIns="0" anchor="ctr">
            <a:spAutoFit/>
          </a:bodyPr>
          <a:lstStyle/>
          <a:p>
            <a:pPr algn="l">
              <a:lnSpc>
                <a:spcPct val="112000"/>
              </a:lnSpc>
            </a:pPr>
            <a:r>
              <a:rPr sz="2400" b="1" i="0">
                <a:solidFill>
                  <a:srgbClr val="60A5FA"/>
                </a:solidFill>
                <a:latin typeface="Arial"/>
              </a:rPr>
              <a:t>05</a:t>
            </a:r>
          </a:p>
        </p:txBody>
      </p:sp>
      <p:sp>
        <p:nvSpPr>
          <p:cNvPr id="25" name="TextBox 24" descr="Texte du point 5 : Simplifiez après deux essais."/>
          <p:cNvSpPr txBox="1"/>
          <p:nvPr/>
        </p:nvSpPr>
        <p:spPr>
          <a:xfrm>
            <a:off x="1755648" y="5084064"/>
            <a:ext cx="9646919" cy="484632"/>
          </a:xfrm>
          <a:prstGeom prst="rect">
            <a:avLst/>
          </a:prstGeom>
          <a:noFill/>
        </p:spPr>
        <p:txBody>
          <a:bodyPr wrap="square" lIns="0" rIns="0" tIns="0" bIns="0" anchor="ctr">
            <a:spAutoFit/>
          </a:bodyPr>
          <a:lstStyle/>
          <a:p>
            <a:pPr algn="l">
              <a:lnSpc>
                <a:spcPct val="112000"/>
              </a:lnSpc>
            </a:pPr>
            <a:r>
              <a:rPr sz="1550" b="0" i="0">
                <a:solidFill>
                  <a:srgbClr val="F2F6FC"/>
                </a:solidFill>
                <a:latin typeface="Arial"/>
              </a:rPr>
              <a:t>Simplifiez après deux essais.</a:t>
            </a:r>
          </a:p>
        </p:txBody>
      </p:sp>
      <p:sp>
        <p:nvSpPr>
          <p:cNvPr id="26" name="Rounded Rectangle 25" descr="Élément graphique décoratif, sans information propre"/>
          <p:cNvSpPr/>
          <p:nvPr/>
        </p:nvSpPr>
        <p:spPr>
          <a:xfrm>
            <a:off x="0" y="0"/>
            <a:ext cx="201168" cy="6858000"/>
          </a:xfrm>
          <a:prstGeom prst="round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descr="Référence de source affichée en pied de diapositive : Chapitre 39 — Construire un système reproductible"/>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 39 — Construire un système reproductible</a:t>
            </a:r>
          </a:p>
        </p:txBody>
      </p:sp>
      <p:sp>
        <p:nvSpPr>
          <p:cNvPr id="28" name="TextBox 27" descr="Numéro de diapositive 65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65 / 84  ·  2 min</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Synthèse · partie 08"/>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60A5FA"/>
                </a:solidFill>
                <a:latin typeface="Arial"/>
              </a:rPr>
              <a:t>SYNTHÈSE · PARTIE 08</a:t>
            </a:r>
          </a:p>
        </p:txBody>
      </p:sp>
      <p:sp>
        <p:nvSpPr>
          <p:cNvPr id="4" name="TextBox 3" descr="Titre : À retenir · partie 08"/>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600" b="1" i="0">
                <a:solidFill>
                  <a:srgbClr val="F2F6FC"/>
                </a:solidFill>
                <a:latin typeface="Arial"/>
              </a:rPr>
              <a:t>À retenir · partie 08</a:t>
            </a:r>
          </a:p>
        </p:txBody>
      </p:sp>
      <p:sp>
        <p:nvSpPr>
          <p:cNvPr id="5" name="TextBox 4" descr="Sous-titre : PARCOURS D’EXÉCUTION"/>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600" b="1" i="0">
                <a:solidFill>
                  <a:srgbClr val="60A5FA"/>
                </a:solidFill>
                <a:latin typeface="Arial"/>
              </a:rPr>
              <a:t>PARCOURS D’EXÉCUTION</a:t>
            </a:r>
          </a:p>
        </p:txBody>
      </p:sp>
      <p:sp>
        <p:nvSpPr>
          <p:cNvPr id="6" name="Rounded Rectangle 5" descr="Point 1 : Bâtir un premier système mesurable sans viser un revenu garanti."/>
          <p:cNvSpPr/>
          <p:nvPr/>
        </p:nvSpPr>
        <p:spPr>
          <a:xfrm>
            <a:off x="566928" y="2286000"/>
            <a:ext cx="11064240" cy="658368"/>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de section"/>
          <p:cNvSpPr/>
          <p:nvPr/>
        </p:nvSpPr>
        <p:spPr>
          <a:xfrm>
            <a:off x="566928" y="2286000"/>
            <a:ext cx="64008" cy="658368"/>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Numéro d'étape 1"/>
          <p:cNvSpPr txBox="1"/>
          <p:nvPr/>
        </p:nvSpPr>
        <p:spPr>
          <a:xfrm>
            <a:off x="841247" y="2340864"/>
            <a:ext cx="822960" cy="548640"/>
          </a:xfrm>
          <a:prstGeom prst="rect">
            <a:avLst/>
          </a:prstGeom>
          <a:noFill/>
        </p:spPr>
        <p:txBody>
          <a:bodyPr wrap="square" lIns="0" rIns="0" tIns="0" bIns="0" anchor="ctr">
            <a:spAutoFit/>
          </a:bodyPr>
          <a:lstStyle/>
          <a:p>
            <a:pPr algn="l">
              <a:lnSpc>
                <a:spcPct val="112000"/>
              </a:lnSpc>
            </a:pPr>
            <a:r>
              <a:rPr sz="2400" b="1" i="0">
                <a:solidFill>
                  <a:srgbClr val="60A5FA"/>
                </a:solidFill>
                <a:latin typeface="Arial"/>
              </a:rPr>
              <a:t>01</a:t>
            </a:r>
          </a:p>
        </p:txBody>
      </p:sp>
      <p:sp>
        <p:nvSpPr>
          <p:cNvPr id="9" name="TextBox 8" descr="Texte du point 1 : Bâtir un premier système mesurable sans viser un revenu garanti."/>
          <p:cNvSpPr txBox="1"/>
          <p:nvPr/>
        </p:nvSpPr>
        <p:spPr>
          <a:xfrm>
            <a:off x="1755648" y="2340864"/>
            <a:ext cx="9646919" cy="548640"/>
          </a:xfrm>
          <a:prstGeom prst="rect">
            <a:avLst/>
          </a:prstGeom>
          <a:noFill/>
        </p:spPr>
        <p:txBody>
          <a:bodyPr wrap="square" lIns="0" rIns="0" tIns="0" bIns="0" anchor="ctr">
            <a:spAutoFit/>
          </a:bodyPr>
          <a:lstStyle/>
          <a:p>
            <a:pPr algn="l">
              <a:lnSpc>
                <a:spcPct val="112000"/>
              </a:lnSpc>
            </a:pPr>
            <a:r>
              <a:rPr sz="1550" b="0" i="0">
                <a:solidFill>
                  <a:srgbClr val="F2F6FC"/>
                </a:solidFill>
                <a:latin typeface="Arial"/>
              </a:rPr>
              <a:t>Bâtir un premier système mesurable sans viser un revenu garanti.</a:t>
            </a:r>
          </a:p>
        </p:txBody>
      </p:sp>
      <p:sp>
        <p:nvSpPr>
          <p:cNvPr id="10" name="Rounded Rectangle 9" descr="Point 2 : Stabiliser le système des jours 31 à 60, pas commencer soixante jours supplémentaires."/>
          <p:cNvSpPr/>
          <p:nvPr/>
        </p:nvSpPr>
        <p:spPr>
          <a:xfrm>
            <a:off x="566928" y="3063240"/>
            <a:ext cx="11064240" cy="658368"/>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de section"/>
          <p:cNvSpPr/>
          <p:nvPr/>
        </p:nvSpPr>
        <p:spPr>
          <a:xfrm>
            <a:off x="566928" y="3063240"/>
            <a:ext cx="64008" cy="658368"/>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Numéro d'étape 2"/>
          <p:cNvSpPr txBox="1"/>
          <p:nvPr/>
        </p:nvSpPr>
        <p:spPr>
          <a:xfrm>
            <a:off x="841247" y="3118104"/>
            <a:ext cx="822960" cy="548640"/>
          </a:xfrm>
          <a:prstGeom prst="rect">
            <a:avLst/>
          </a:prstGeom>
          <a:noFill/>
        </p:spPr>
        <p:txBody>
          <a:bodyPr wrap="square" lIns="0" rIns="0" tIns="0" bIns="0" anchor="ctr">
            <a:spAutoFit/>
          </a:bodyPr>
          <a:lstStyle/>
          <a:p>
            <a:pPr algn="l">
              <a:lnSpc>
                <a:spcPct val="112000"/>
              </a:lnSpc>
            </a:pPr>
            <a:r>
              <a:rPr sz="2400" b="1" i="0">
                <a:solidFill>
                  <a:srgbClr val="60A5FA"/>
                </a:solidFill>
                <a:latin typeface="Arial"/>
              </a:rPr>
              <a:t>02</a:t>
            </a:r>
          </a:p>
        </p:txBody>
      </p:sp>
      <p:sp>
        <p:nvSpPr>
          <p:cNvPr id="13" name="TextBox 12" descr="Texte du point 2 : Stabiliser le système des jours 31 à 60, pas commencer soixante jours supplémentaires."/>
          <p:cNvSpPr txBox="1"/>
          <p:nvPr/>
        </p:nvSpPr>
        <p:spPr>
          <a:xfrm>
            <a:off x="1755648" y="3118104"/>
            <a:ext cx="9646919" cy="548640"/>
          </a:xfrm>
          <a:prstGeom prst="rect">
            <a:avLst/>
          </a:prstGeom>
          <a:noFill/>
        </p:spPr>
        <p:txBody>
          <a:bodyPr wrap="square" lIns="0" rIns="0" tIns="0" bIns="0" anchor="ctr">
            <a:spAutoFit/>
          </a:bodyPr>
          <a:lstStyle/>
          <a:p>
            <a:pPr algn="l">
              <a:lnSpc>
                <a:spcPct val="112000"/>
              </a:lnSpc>
            </a:pPr>
            <a:r>
              <a:rPr sz="1550" b="0" i="0">
                <a:solidFill>
                  <a:srgbClr val="F2F6FC"/>
                </a:solidFill>
                <a:latin typeface="Arial"/>
              </a:rPr>
              <a:t>Stabiliser le système des jours 31 à 60, pas commencer soixante jours supplémentaires.</a:t>
            </a:r>
          </a:p>
        </p:txBody>
      </p:sp>
      <p:sp>
        <p:nvSpPr>
          <p:cNvPr id="14" name="Rounded Rectangle 13" descr="Point 3 : Adapter format et preuves à son activité réelle."/>
          <p:cNvSpPr/>
          <p:nvPr/>
        </p:nvSpPr>
        <p:spPr>
          <a:xfrm>
            <a:off x="566928" y="3840480"/>
            <a:ext cx="11064240" cy="658368"/>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Repère décoratif de section"/>
          <p:cNvSpPr/>
          <p:nvPr/>
        </p:nvSpPr>
        <p:spPr>
          <a:xfrm>
            <a:off x="566928" y="3840480"/>
            <a:ext cx="64008" cy="658368"/>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Numéro d'étape 3"/>
          <p:cNvSpPr txBox="1"/>
          <p:nvPr/>
        </p:nvSpPr>
        <p:spPr>
          <a:xfrm>
            <a:off x="841247" y="3895344"/>
            <a:ext cx="822960" cy="548640"/>
          </a:xfrm>
          <a:prstGeom prst="rect">
            <a:avLst/>
          </a:prstGeom>
          <a:noFill/>
        </p:spPr>
        <p:txBody>
          <a:bodyPr wrap="square" lIns="0" rIns="0" tIns="0" bIns="0" anchor="ctr">
            <a:spAutoFit/>
          </a:bodyPr>
          <a:lstStyle/>
          <a:p>
            <a:pPr algn="l">
              <a:lnSpc>
                <a:spcPct val="112000"/>
              </a:lnSpc>
            </a:pPr>
            <a:r>
              <a:rPr sz="2400" b="1" i="0">
                <a:solidFill>
                  <a:srgbClr val="60A5FA"/>
                </a:solidFill>
                <a:latin typeface="Arial"/>
              </a:rPr>
              <a:t>03</a:t>
            </a:r>
          </a:p>
        </p:txBody>
      </p:sp>
      <p:sp>
        <p:nvSpPr>
          <p:cNvPr id="17" name="TextBox 16" descr="Texte du point 3 : Adapter format et preuves à son activité réelle."/>
          <p:cNvSpPr txBox="1"/>
          <p:nvPr/>
        </p:nvSpPr>
        <p:spPr>
          <a:xfrm>
            <a:off x="1755648" y="3895344"/>
            <a:ext cx="9646919" cy="548640"/>
          </a:xfrm>
          <a:prstGeom prst="rect">
            <a:avLst/>
          </a:prstGeom>
          <a:noFill/>
        </p:spPr>
        <p:txBody>
          <a:bodyPr wrap="square" lIns="0" rIns="0" tIns="0" bIns="0" anchor="ctr">
            <a:spAutoFit/>
          </a:bodyPr>
          <a:lstStyle/>
          <a:p>
            <a:pPr algn="l">
              <a:lnSpc>
                <a:spcPct val="112000"/>
              </a:lnSpc>
            </a:pPr>
            <a:r>
              <a:rPr sz="1550" b="0" i="0">
                <a:solidFill>
                  <a:srgbClr val="F2F6FC"/>
                </a:solidFill>
                <a:latin typeface="Arial"/>
              </a:rPr>
              <a:t>Adapter format et preuves à son activité réelle.</a:t>
            </a:r>
          </a:p>
        </p:txBody>
      </p:sp>
      <p:sp>
        <p:nvSpPr>
          <p:cNvPr id="18" name="Rounded Rectangle 17" descr="Point 4 : Conserver la mémoire des décisions et rendre la production révisable."/>
          <p:cNvSpPr/>
          <p:nvPr/>
        </p:nvSpPr>
        <p:spPr>
          <a:xfrm>
            <a:off x="566928" y="4617720"/>
            <a:ext cx="11064240" cy="658368"/>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descr="Repère décoratif de section"/>
          <p:cNvSpPr/>
          <p:nvPr/>
        </p:nvSpPr>
        <p:spPr>
          <a:xfrm>
            <a:off x="566928" y="4617720"/>
            <a:ext cx="64008" cy="658368"/>
          </a:xfrm>
          <a:prstGeom prst="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descr="Numéro d'étape 4"/>
          <p:cNvSpPr txBox="1"/>
          <p:nvPr/>
        </p:nvSpPr>
        <p:spPr>
          <a:xfrm>
            <a:off x="841247" y="4672584"/>
            <a:ext cx="822960" cy="548640"/>
          </a:xfrm>
          <a:prstGeom prst="rect">
            <a:avLst/>
          </a:prstGeom>
          <a:noFill/>
        </p:spPr>
        <p:txBody>
          <a:bodyPr wrap="square" lIns="0" rIns="0" tIns="0" bIns="0" anchor="ctr">
            <a:spAutoFit/>
          </a:bodyPr>
          <a:lstStyle/>
          <a:p>
            <a:pPr algn="l">
              <a:lnSpc>
                <a:spcPct val="112000"/>
              </a:lnSpc>
            </a:pPr>
            <a:r>
              <a:rPr sz="2400" b="1" i="0">
                <a:solidFill>
                  <a:srgbClr val="60A5FA"/>
                </a:solidFill>
                <a:latin typeface="Arial"/>
              </a:rPr>
              <a:t>04</a:t>
            </a:r>
          </a:p>
        </p:txBody>
      </p:sp>
      <p:sp>
        <p:nvSpPr>
          <p:cNvPr id="21" name="TextBox 20" descr="Texte du point 4 : Conserver la mémoire des décisions et rendre la production révisable."/>
          <p:cNvSpPr txBox="1"/>
          <p:nvPr/>
        </p:nvSpPr>
        <p:spPr>
          <a:xfrm>
            <a:off x="1755648" y="4672583"/>
            <a:ext cx="9646919" cy="548640"/>
          </a:xfrm>
          <a:prstGeom prst="rect">
            <a:avLst/>
          </a:prstGeom>
          <a:noFill/>
        </p:spPr>
        <p:txBody>
          <a:bodyPr wrap="square" lIns="0" rIns="0" tIns="0" bIns="0" anchor="ctr">
            <a:spAutoFit/>
          </a:bodyPr>
          <a:lstStyle/>
          <a:p>
            <a:pPr algn="l">
              <a:lnSpc>
                <a:spcPct val="112000"/>
              </a:lnSpc>
            </a:pPr>
            <a:r>
              <a:rPr sz="1550" b="0" i="0">
                <a:solidFill>
                  <a:srgbClr val="F2F6FC"/>
                </a:solidFill>
                <a:latin typeface="Arial"/>
              </a:rPr>
              <a:t>Conserver la mémoire des décisions et rendre la production révisable.</a:t>
            </a:r>
          </a:p>
        </p:txBody>
      </p:sp>
      <p:sp>
        <p:nvSpPr>
          <p:cNvPr id="22" name="Rounded Rectangle 21" descr="Élément graphique décoratif, sans information propre"/>
          <p:cNvSpPr/>
          <p:nvPr/>
        </p:nvSpPr>
        <p:spPr>
          <a:xfrm>
            <a:off x="0" y="0"/>
            <a:ext cx="201168" cy="6858000"/>
          </a:xfrm>
          <a:prstGeom prst="roundRect">
            <a:avLst/>
          </a:prstGeom>
          <a:solidFill>
            <a:srgbClr val="60A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descr="Référence de source affichée en pied de diapositive : Chapitres 36–39"/>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Chapitres 36–39</a:t>
            </a:r>
          </a:p>
        </p:txBody>
      </p:sp>
      <p:sp>
        <p:nvSpPr>
          <p:cNvPr id="24" name="TextBox 23" descr="Numéro de diapositive 66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66 / 84  ·  2 min</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descr="Élément graphique décoratif, sans information propr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descr="Bandeau supérieur de partie"/>
          <p:cNvSpPr/>
          <p:nvPr/>
        </p:nvSpPr>
        <p:spPr>
          <a:xfrm>
            <a:off x="0" y="0"/>
            <a:ext cx="12191695" cy="256032"/>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descr="Titre de section : BLOC PRATIQUE"/>
          <p:cNvSpPr txBox="1"/>
          <p:nvPr/>
        </p:nvSpPr>
        <p:spPr>
          <a:xfrm>
            <a:off x="822960" y="2148840"/>
            <a:ext cx="8357616" cy="1097280"/>
          </a:xfrm>
          <a:prstGeom prst="rect">
            <a:avLst/>
          </a:prstGeom>
          <a:noFill/>
        </p:spPr>
        <p:txBody>
          <a:bodyPr wrap="square" lIns="0" rIns="0" tIns="0" bIns="0" anchor="t">
            <a:spAutoFit/>
          </a:bodyPr>
          <a:lstStyle/>
          <a:p>
            <a:pPr algn="l">
              <a:lnSpc>
                <a:spcPct val="106000"/>
              </a:lnSpc>
            </a:pPr>
            <a:r>
              <a:rPr sz="5600" b="1" i="0">
                <a:solidFill>
                  <a:srgbClr val="F2F6FC"/>
                </a:solidFill>
                <a:latin typeface="Arial"/>
              </a:rPr>
              <a:t>BLOC PRATIQUE</a:t>
            </a:r>
          </a:p>
        </p:txBody>
      </p:sp>
      <p:sp>
        <p:nvSpPr>
          <p:cNvPr id="6" name="TextBox 5" descr="Sous-titre de section : PROMPTS RÉELLEMENT PRÉSENTS DANS LE LIVRE"/>
          <p:cNvSpPr txBox="1"/>
          <p:nvPr/>
        </p:nvSpPr>
        <p:spPr>
          <a:xfrm>
            <a:off x="822960" y="3291840"/>
            <a:ext cx="10058400" cy="1463040"/>
          </a:xfrm>
          <a:prstGeom prst="rect">
            <a:avLst/>
          </a:prstGeom>
          <a:noFill/>
        </p:spPr>
        <p:txBody>
          <a:bodyPr wrap="square" lIns="0" rIns="0" tIns="0" bIns="0" anchor="t">
            <a:spAutoFit/>
          </a:bodyPr>
          <a:lstStyle/>
          <a:p>
            <a:pPr algn="l">
              <a:lnSpc>
                <a:spcPct val="112000"/>
              </a:lnSpc>
            </a:pPr>
            <a:r>
              <a:rPr sz="3000" b="1" i="0">
                <a:solidFill>
                  <a:srgbClr val="94A3B8"/>
                </a:solidFill>
                <a:latin typeface="Arial"/>
              </a:rPr>
              <a:t>PROMPTS RÉELLEMENT PRÉSENTS DANS LE LIVRE</a:t>
            </a:r>
          </a:p>
        </p:txBody>
      </p:sp>
      <p:sp>
        <p:nvSpPr>
          <p:cNvPr id="7" name="Rounded Rectangle 6" descr="Élément graphique décoratif, sans information propre"/>
          <p:cNvSpPr/>
          <p:nvPr/>
        </p:nvSpPr>
        <p:spPr>
          <a:xfrm>
            <a:off x="0" y="0"/>
            <a:ext cx="201168" cy="6858000"/>
          </a:xfrm>
          <a:prstGeom prst="round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Référence de source affichée en pied de diapositive : Annexe A et rubriques « Prompt copiable »"/>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Annexe A et rubriques « Prompt copiable »</a:t>
            </a:r>
          </a:p>
        </p:txBody>
      </p:sp>
      <p:sp>
        <p:nvSpPr>
          <p:cNvPr id="9" name="TextBox 8" descr="Numéro de diapositive 67 sur 84, durée prévue 1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67 / 84  ·  1 min</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Bloc pratique · chapitre 01"/>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22D3EE"/>
                </a:solidFill>
                <a:latin typeface="Arial"/>
              </a:rPr>
              <a:t>BLOC PRATIQUE · CHAPITRE 01</a:t>
            </a:r>
          </a:p>
        </p:txBody>
      </p:sp>
      <p:sp>
        <p:nvSpPr>
          <p:cNvPr id="4" name="TextBox 3" descr="Titre : Prompt praticable · L’ère de l’IA et du créateur solo"/>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100" b="1" i="0">
                <a:solidFill>
                  <a:srgbClr val="F2F6FC"/>
                </a:solidFill>
                <a:latin typeface="Arial"/>
              </a:rPr>
              <a:t>Prompt praticable · L’ère de l’IA et du créateur solo</a:t>
            </a:r>
          </a:p>
        </p:txBody>
      </p:sp>
      <p:sp>
        <p:nvSpPr>
          <p:cNvPr id="5" name="TextBox 4" descr="Sous-titre : Variables à compléter avant la demande"/>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600" b="1" i="0">
                <a:solidFill>
                  <a:srgbClr val="22D3EE"/>
                </a:solidFill>
                <a:latin typeface="Arial"/>
              </a:rPr>
              <a:t>Variables à compléter avant la demande</a:t>
            </a:r>
          </a:p>
        </p:txBody>
      </p:sp>
      <p:sp>
        <p:nvSpPr>
          <p:cNvPr id="6" name="Rounded Rectangle 5" descr="Variable à compléter. Carte 1 : Contexte réel et pays"/>
          <p:cNvSpPr/>
          <p:nvPr/>
        </p:nvSpPr>
        <p:spPr>
          <a:xfrm>
            <a:off x="566928" y="2331720"/>
            <a:ext cx="2601468" cy="169164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de section"/>
          <p:cNvSpPr/>
          <p:nvPr/>
        </p:nvSpPr>
        <p:spPr>
          <a:xfrm>
            <a:off x="566928" y="2331720"/>
            <a:ext cx="2601468" cy="82296"/>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Texte de la carte 1 : Contexte réel et pays"/>
          <p:cNvSpPr txBox="1"/>
          <p:nvPr/>
        </p:nvSpPr>
        <p:spPr>
          <a:xfrm>
            <a:off x="768096" y="2715768"/>
            <a:ext cx="2199132" cy="1143000"/>
          </a:xfrm>
          <a:prstGeom prst="rect">
            <a:avLst/>
          </a:prstGeom>
          <a:noFill/>
        </p:spPr>
        <p:txBody>
          <a:bodyPr wrap="square" lIns="0" rIns="0" tIns="0" bIns="0" anchor="t">
            <a:spAutoFit/>
          </a:bodyPr>
          <a:lstStyle/>
          <a:p>
            <a:pPr algn="l">
              <a:lnSpc>
                <a:spcPct val="112000"/>
              </a:lnSpc>
            </a:pPr>
            <a:r>
              <a:rPr sz="1550" b="0" i="0">
                <a:solidFill>
                  <a:srgbClr val="F2F6FC"/>
                </a:solidFill>
                <a:latin typeface="Arial"/>
              </a:rPr>
              <a:t>Contexte réel et pays</a:t>
            </a:r>
          </a:p>
        </p:txBody>
      </p:sp>
      <p:sp>
        <p:nvSpPr>
          <p:cNvPr id="9" name="TextBox 8" descr="Numéro 1"/>
          <p:cNvSpPr txBox="1"/>
          <p:nvPr/>
        </p:nvSpPr>
        <p:spPr>
          <a:xfrm>
            <a:off x="768096" y="3456432"/>
            <a:ext cx="658368" cy="365760"/>
          </a:xfrm>
          <a:prstGeom prst="rect">
            <a:avLst/>
          </a:prstGeom>
          <a:noFill/>
        </p:spPr>
        <p:txBody>
          <a:bodyPr wrap="square" lIns="0" rIns="0" tIns="0" bIns="0" anchor="t">
            <a:spAutoFit/>
          </a:bodyPr>
          <a:lstStyle/>
          <a:p>
            <a:pPr algn="l">
              <a:lnSpc>
                <a:spcPct val="112000"/>
              </a:lnSpc>
            </a:pPr>
            <a:r>
              <a:rPr sz="1500" b="1" i="0">
                <a:solidFill>
                  <a:srgbClr val="22D3EE"/>
                </a:solidFill>
                <a:latin typeface="Arial"/>
              </a:rPr>
              <a:t>01</a:t>
            </a:r>
          </a:p>
        </p:txBody>
      </p:sp>
      <p:sp>
        <p:nvSpPr>
          <p:cNvPr id="10" name="Rounded Rectangle 9" descr="Variable à compléter. Carte 2 : Sources et droits connus"/>
          <p:cNvSpPr/>
          <p:nvPr/>
        </p:nvSpPr>
        <p:spPr>
          <a:xfrm>
            <a:off x="3387852" y="2331720"/>
            <a:ext cx="2601468" cy="169164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de section"/>
          <p:cNvSpPr/>
          <p:nvPr/>
        </p:nvSpPr>
        <p:spPr>
          <a:xfrm>
            <a:off x="3387852" y="2331720"/>
            <a:ext cx="2601468" cy="82296"/>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Texte de la carte 2 : Sources et droits connus"/>
          <p:cNvSpPr txBox="1"/>
          <p:nvPr/>
        </p:nvSpPr>
        <p:spPr>
          <a:xfrm>
            <a:off x="3589020" y="2715768"/>
            <a:ext cx="2199132" cy="1143000"/>
          </a:xfrm>
          <a:prstGeom prst="rect">
            <a:avLst/>
          </a:prstGeom>
          <a:noFill/>
        </p:spPr>
        <p:txBody>
          <a:bodyPr wrap="square" lIns="0" rIns="0" tIns="0" bIns="0" anchor="t">
            <a:spAutoFit/>
          </a:bodyPr>
          <a:lstStyle/>
          <a:p>
            <a:pPr algn="l">
              <a:lnSpc>
                <a:spcPct val="112000"/>
              </a:lnSpc>
            </a:pPr>
            <a:r>
              <a:rPr sz="1550" b="0" i="0">
                <a:solidFill>
                  <a:srgbClr val="F2F6FC"/>
                </a:solidFill>
                <a:latin typeface="Arial"/>
              </a:rPr>
              <a:t>Sources et droits connus</a:t>
            </a:r>
          </a:p>
        </p:txBody>
      </p:sp>
      <p:sp>
        <p:nvSpPr>
          <p:cNvPr id="13" name="TextBox 12" descr="Numéro 2"/>
          <p:cNvSpPr txBox="1"/>
          <p:nvPr/>
        </p:nvSpPr>
        <p:spPr>
          <a:xfrm>
            <a:off x="3589020" y="3456432"/>
            <a:ext cx="658368" cy="365760"/>
          </a:xfrm>
          <a:prstGeom prst="rect">
            <a:avLst/>
          </a:prstGeom>
          <a:noFill/>
        </p:spPr>
        <p:txBody>
          <a:bodyPr wrap="square" lIns="0" rIns="0" tIns="0" bIns="0" anchor="t">
            <a:spAutoFit/>
          </a:bodyPr>
          <a:lstStyle/>
          <a:p>
            <a:pPr algn="l">
              <a:lnSpc>
                <a:spcPct val="112000"/>
              </a:lnSpc>
            </a:pPr>
            <a:r>
              <a:rPr sz="1500" b="1" i="0">
                <a:solidFill>
                  <a:srgbClr val="22D3EE"/>
                </a:solidFill>
                <a:latin typeface="Arial"/>
              </a:rPr>
              <a:t>02</a:t>
            </a:r>
          </a:p>
        </p:txBody>
      </p:sp>
      <p:sp>
        <p:nvSpPr>
          <p:cNvPr id="14" name="Rounded Rectangle 13" descr="Variable à compléter. Carte 3 : Format de sortie demandé"/>
          <p:cNvSpPr/>
          <p:nvPr/>
        </p:nvSpPr>
        <p:spPr>
          <a:xfrm>
            <a:off x="6208776" y="2331720"/>
            <a:ext cx="2601468" cy="169164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Repère décoratif de section"/>
          <p:cNvSpPr/>
          <p:nvPr/>
        </p:nvSpPr>
        <p:spPr>
          <a:xfrm>
            <a:off x="6208776" y="2331720"/>
            <a:ext cx="2601468" cy="82296"/>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Texte de la carte 3 : Format de sortie demandé"/>
          <p:cNvSpPr txBox="1"/>
          <p:nvPr/>
        </p:nvSpPr>
        <p:spPr>
          <a:xfrm>
            <a:off x="6409944" y="2715768"/>
            <a:ext cx="2199132" cy="1143000"/>
          </a:xfrm>
          <a:prstGeom prst="rect">
            <a:avLst/>
          </a:prstGeom>
          <a:noFill/>
        </p:spPr>
        <p:txBody>
          <a:bodyPr wrap="square" lIns="0" rIns="0" tIns="0" bIns="0" anchor="t">
            <a:spAutoFit/>
          </a:bodyPr>
          <a:lstStyle/>
          <a:p>
            <a:pPr algn="l">
              <a:lnSpc>
                <a:spcPct val="112000"/>
              </a:lnSpc>
            </a:pPr>
            <a:r>
              <a:rPr sz="1550" b="0" i="0">
                <a:solidFill>
                  <a:srgbClr val="F2F6FC"/>
                </a:solidFill>
                <a:latin typeface="Arial"/>
              </a:rPr>
              <a:t>Format de sortie demandé</a:t>
            </a:r>
          </a:p>
        </p:txBody>
      </p:sp>
      <p:sp>
        <p:nvSpPr>
          <p:cNvPr id="17" name="TextBox 16" descr="Numéro 3"/>
          <p:cNvSpPr txBox="1"/>
          <p:nvPr/>
        </p:nvSpPr>
        <p:spPr>
          <a:xfrm>
            <a:off x="6409944" y="3456432"/>
            <a:ext cx="658368" cy="365760"/>
          </a:xfrm>
          <a:prstGeom prst="rect">
            <a:avLst/>
          </a:prstGeom>
          <a:noFill/>
        </p:spPr>
        <p:txBody>
          <a:bodyPr wrap="square" lIns="0" rIns="0" tIns="0" bIns="0" anchor="t">
            <a:spAutoFit/>
          </a:bodyPr>
          <a:lstStyle/>
          <a:p>
            <a:pPr algn="l">
              <a:lnSpc>
                <a:spcPct val="112000"/>
              </a:lnSpc>
            </a:pPr>
            <a:r>
              <a:rPr sz="1500" b="1" i="0">
                <a:solidFill>
                  <a:srgbClr val="22D3EE"/>
                </a:solidFill>
                <a:latin typeface="Arial"/>
              </a:rPr>
              <a:t>03</a:t>
            </a:r>
          </a:p>
        </p:txBody>
      </p:sp>
      <p:sp>
        <p:nvSpPr>
          <p:cNvPr id="18" name="Rounded Rectangle 17" descr="Variable à compléter. Carte 4 : Validation humaine finale"/>
          <p:cNvSpPr/>
          <p:nvPr/>
        </p:nvSpPr>
        <p:spPr>
          <a:xfrm>
            <a:off x="9029699" y="2331720"/>
            <a:ext cx="2601468" cy="169164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descr="Repère décoratif de section"/>
          <p:cNvSpPr/>
          <p:nvPr/>
        </p:nvSpPr>
        <p:spPr>
          <a:xfrm>
            <a:off x="9029699" y="2331720"/>
            <a:ext cx="2601468" cy="82296"/>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descr="Texte de la carte 4 : Validation humaine finale"/>
          <p:cNvSpPr txBox="1"/>
          <p:nvPr/>
        </p:nvSpPr>
        <p:spPr>
          <a:xfrm>
            <a:off x="9230867" y="2715768"/>
            <a:ext cx="2199132" cy="1143000"/>
          </a:xfrm>
          <a:prstGeom prst="rect">
            <a:avLst/>
          </a:prstGeom>
          <a:noFill/>
        </p:spPr>
        <p:txBody>
          <a:bodyPr wrap="square" lIns="0" rIns="0" tIns="0" bIns="0" anchor="t">
            <a:spAutoFit/>
          </a:bodyPr>
          <a:lstStyle/>
          <a:p>
            <a:pPr algn="l">
              <a:lnSpc>
                <a:spcPct val="112000"/>
              </a:lnSpc>
            </a:pPr>
            <a:r>
              <a:rPr sz="1550" b="0" i="0">
                <a:solidFill>
                  <a:srgbClr val="F2F6FC"/>
                </a:solidFill>
                <a:latin typeface="Arial"/>
              </a:rPr>
              <a:t>Validation humaine finale</a:t>
            </a:r>
          </a:p>
        </p:txBody>
      </p:sp>
      <p:sp>
        <p:nvSpPr>
          <p:cNvPr id="21" name="TextBox 20" descr="Numéro 4"/>
          <p:cNvSpPr txBox="1"/>
          <p:nvPr/>
        </p:nvSpPr>
        <p:spPr>
          <a:xfrm>
            <a:off x="9230867" y="3456432"/>
            <a:ext cx="658368" cy="365760"/>
          </a:xfrm>
          <a:prstGeom prst="rect">
            <a:avLst/>
          </a:prstGeom>
          <a:noFill/>
        </p:spPr>
        <p:txBody>
          <a:bodyPr wrap="square" lIns="0" rIns="0" tIns="0" bIns="0" anchor="t">
            <a:spAutoFit/>
          </a:bodyPr>
          <a:lstStyle/>
          <a:p>
            <a:pPr algn="l">
              <a:lnSpc>
                <a:spcPct val="112000"/>
              </a:lnSpc>
            </a:pPr>
            <a:r>
              <a:rPr sz="1500" b="1" i="0">
                <a:solidFill>
                  <a:srgbClr val="22D3EE"/>
                </a:solidFill>
                <a:latin typeface="Arial"/>
              </a:rPr>
              <a:t>04</a:t>
            </a:r>
          </a:p>
        </p:txBody>
      </p:sp>
      <p:sp>
        <p:nvSpPr>
          <p:cNvPr id="22" name="Rounded Rectangle 21" descr="Bandeau d'information : Version complète du prompt dans les notes du présentateur · validation humaine obligatoire."/>
          <p:cNvSpPr/>
          <p:nvPr/>
        </p:nvSpPr>
        <p:spPr>
          <a:xfrm>
            <a:off x="566928" y="5623560"/>
            <a:ext cx="11064240" cy="658368"/>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descr="Texte du bandeau : Version complète du prompt dans les notes du présentateur · validation humaine obligatoire."/>
          <p:cNvSpPr txBox="1"/>
          <p:nvPr/>
        </p:nvSpPr>
        <p:spPr>
          <a:xfrm>
            <a:off x="822960" y="5669280"/>
            <a:ext cx="10607040" cy="566928"/>
          </a:xfrm>
          <a:prstGeom prst="rect">
            <a:avLst/>
          </a:prstGeom>
          <a:noFill/>
        </p:spPr>
        <p:txBody>
          <a:bodyPr wrap="square" lIns="0" rIns="0" tIns="0" bIns="0" anchor="ctr">
            <a:spAutoFit/>
          </a:bodyPr>
          <a:lstStyle/>
          <a:p>
            <a:pPr algn="l">
              <a:lnSpc>
                <a:spcPct val="112000"/>
              </a:lnSpc>
            </a:pPr>
            <a:r>
              <a:rPr sz="1550" b="1" i="0">
                <a:solidFill>
                  <a:srgbClr val="22D3EE"/>
                </a:solidFill>
                <a:latin typeface="Arial"/>
              </a:rPr>
              <a:t>Version complète du prompt dans les notes du présentateur · validation humaine obligatoire.</a:t>
            </a:r>
          </a:p>
        </p:txBody>
      </p:sp>
      <p:sp>
        <p:nvSpPr>
          <p:cNvPr id="24" name="Rounded Rectangle 23" descr="Élément graphique décoratif, sans information propre"/>
          <p:cNvSpPr/>
          <p:nvPr/>
        </p:nvSpPr>
        <p:spPr>
          <a:xfrm>
            <a:off x="0" y="0"/>
            <a:ext cx="201168" cy="6858000"/>
          </a:xfrm>
          <a:prstGeom prst="round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descr="Référence de source affichée en pied de diapositive : Chapitre 01, rubrique « Prompt copiable »"/>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 01, rubrique « Prompt copiable »</a:t>
            </a:r>
          </a:p>
        </p:txBody>
      </p:sp>
      <p:sp>
        <p:nvSpPr>
          <p:cNvPr id="26" name="TextBox 25" descr="Numéro de diapositive 68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68 / 84  ·  2 min</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Bloc pratique · chapitre 05"/>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22D3EE"/>
                </a:solidFill>
                <a:latin typeface="Arial"/>
              </a:rPr>
              <a:t>BLOC PRATIQUE · CHAPITRE 05</a:t>
            </a:r>
          </a:p>
        </p:txBody>
      </p:sp>
      <p:sp>
        <p:nvSpPr>
          <p:cNvPr id="4" name="TextBox 3" descr="Titre : Prompt praticable · Choisir une niche et une promesse"/>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2950" b="1" i="0">
                <a:solidFill>
                  <a:srgbClr val="F2F6FC"/>
                </a:solidFill>
                <a:latin typeface="Arial"/>
              </a:rPr>
              <a:t>Prompt praticable · Choisir une niche et une promesse</a:t>
            </a:r>
          </a:p>
        </p:txBody>
      </p:sp>
      <p:sp>
        <p:nvSpPr>
          <p:cNvPr id="5" name="TextBox 4" descr="Sous-titre : Variables à compléter avant la demande"/>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600" b="1" i="0">
                <a:solidFill>
                  <a:srgbClr val="22D3EE"/>
                </a:solidFill>
                <a:latin typeface="Arial"/>
              </a:rPr>
              <a:t>Variables à compléter avant la demande</a:t>
            </a:r>
          </a:p>
        </p:txBody>
      </p:sp>
      <p:sp>
        <p:nvSpPr>
          <p:cNvPr id="6" name="Rounded Rectangle 5" descr="Variable à compléter. Carte 1 : Contexte réel et pays"/>
          <p:cNvSpPr/>
          <p:nvPr/>
        </p:nvSpPr>
        <p:spPr>
          <a:xfrm>
            <a:off x="566928" y="2331720"/>
            <a:ext cx="2601468" cy="169164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de section"/>
          <p:cNvSpPr/>
          <p:nvPr/>
        </p:nvSpPr>
        <p:spPr>
          <a:xfrm>
            <a:off x="566928" y="2331720"/>
            <a:ext cx="2601468" cy="82296"/>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Texte de la carte 1 : Contexte réel et pays"/>
          <p:cNvSpPr txBox="1"/>
          <p:nvPr/>
        </p:nvSpPr>
        <p:spPr>
          <a:xfrm>
            <a:off x="768096" y="2715768"/>
            <a:ext cx="2199132" cy="1143000"/>
          </a:xfrm>
          <a:prstGeom prst="rect">
            <a:avLst/>
          </a:prstGeom>
          <a:noFill/>
        </p:spPr>
        <p:txBody>
          <a:bodyPr wrap="square" lIns="0" rIns="0" tIns="0" bIns="0" anchor="t">
            <a:spAutoFit/>
          </a:bodyPr>
          <a:lstStyle/>
          <a:p>
            <a:pPr algn="l">
              <a:lnSpc>
                <a:spcPct val="112000"/>
              </a:lnSpc>
            </a:pPr>
            <a:r>
              <a:rPr sz="1550" b="0" i="0">
                <a:solidFill>
                  <a:srgbClr val="F2F6FC"/>
                </a:solidFill>
                <a:latin typeface="Arial"/>
              </a:rPr>
              <a:t>Contexte réel et pays</a:t>
            </a:r>
          </a:p>
        </p:txBody>
      </p:sp>
      <p:sp>
        <p:nvSpPr>
          <p:cNvPr id="9" name="TextBox 8" descr="Numéro 1"/>
          <p:cNvSpPr txBox="1"/>
          <p:nvPr/>
        </p:nvSpPr>
        <p:spPr>
          <a:xfrm>
            <a:off x="768096" y="3456432"/>
            <a:ext cx="658368" cy="365760"/>
          </a:xfrm>
          <a:prstGeom prst="rect">
            <a:avLst/>
          </a:prstGeom>
          <a:noFill/>
        </p:spPr>
        <p:txBody>
          <a:bodyPr wrap="square" lIns="0" rIns="0" tIns="0" bIns="0" anchor="t">
            <a:spAutoFit/>
          </a:bodyPr>
          <a:lstStyle/>
          <a:p>
            <a:pPr algn="l">
              <a:lnSpc>
                <a:spcPct val="112000"/>
              </a:lnSpc>
            </a:pPr>
            <a:r>
              <a:rPr sz="1500" b="1" i="0">
                <a:solidFill>
                  <a:srgbClr val="22D3EE"/>
                </a:solidFill>
                <a:latin typeface="Arial"/>
              </a:rPr>
              <a:t>01</a:t>
            </a:r>
          </a:p>
        </p:txBody>
      </p:sp>
      <p:sp>
        <p:nvSpPr>
          <p:cNvPr id="10" name="Rounded Rectangle 9" descr="Variable à compléter. Carte 2 : Sources et droits connus"/>
          <p:cNvSpPr/>
          <p:nvPr/>
        </p:nvSpPr>
        <p:spPr>
          <a:xfrm>
            <a:off x="3387852" y="2331720"/>
            <a:ext cx="2601468" cy="169164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de section"/>
          <p:cNvSpPr/>
          <p:nvPr/>
        </p:nvSpPr>
        <p:spPr>
          <a:xfrm>
            <a:off x="3387852" y="2331720"/>
            <a:ext cx="2601468" cy="82296"/>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Texte de la carte 2 : Sources et droits connus"/>
          <p:cNvSpPr txBox="1"/>
          <p:nvPr/>
        </p:nvSpPr>
        <p:spPr>
          <a:xfrm>
            <a:off x="3589020" y="2715768"/>
            <a:ext cx="2199132" cy="1143000"/>
          </a:xfrm>
          <a:prstGeom prst="rect">
            <a:avLst/>
          </a:prstGeom>
          <a:noFill/>
        </p:spPr>
        <p:txBody>
          <a:bodyPr wrap="square" lIns="0" rIns="0" tIns="0" bIns="0" anchor="t">
            <a:spAutoFit/>
          </a:bodyPr>
          <a:lstStyle/>
          <a:p>
            <a:pPr algn="l">
              <a:lnSpc>
                <a:spcPct val="112000"/>
              </a:lnSpc>
            </a:pPr>
            <a:r>
              <a:rPr sz="1550" b="0" i="0">
                <a:solidFill>
                  <a:srgbClr val="F2F6FC"/>
                </a:solidFill>
                <a:latin typeface="Arial"/>
              </a:rPr>
              <a:t>Sources et droits connus</a:t>
            </a:r>
          </a:p>
        </p:txBody>
      </p:sp>
      <p:sp>
        <p:nvSpPr>
          <p:cNvPr id="13" name="TextBox 12" descr="Numéro 2"/>
          <p:cNvSpPr txBox="1"/>
          <p:nvPr/>
        </p:nvSpPr>
        <p:spPr>
          <a:xfrm>
            <a:off x="3589020" y="3456432"/>
            <a:ext cx="658368" cy="365760"/>
          </a:xfrm>
          <a:prstGeom prst="rect">
            <a:avLst/>
          </a:prstGeom>
          <a:noFill/>
        </p:spPr>
        <p:txBody>
          <a:bodyPr wrap="square" lIns="0" rIns="0" tIns="0" bIns="0" anchor="t">
            <a:spAutoFit/>
          </a:bodyPr>
          <a:lstStyle/>
          <a:p>
            <a:pPr algn="l">
              <a:lnSpc>
                <a:spcPct val="112000"/>
              </a:lnSpc>
            </a:pPr>
            <a:r>
              <a:rPr sz="1500" b="1" i="0">
                <a:solidFill>
                  <a:srgbClr val="22D3EE"/>
                </a:solidFill>
                <a:latin typeface="Arial"/>
              </a:rPr>
              <a:t>02</a:t>
            </a:r>
          </a:p>
        </p:txBody>
      </p:sp>
      <p:sp>
        <p:nvSpPr>
          <p:cNvPr id="14" name="Rounded Rectangle 13" descr="Variable à compléter. Carte 3 : Format de sortie demandé"/>
          <p:cNvSpPr/>
          <p:nvPr/>
        </p:nvSpPr>
        <p:spPr>
          <a:xfrm>
            <a:off x="6208776" y="2331720"/>
            <a:ext cx="2601468" cy="169164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Repère décoratif de section"/>
          <p:cNvSpPr/>
          <p:nvPr/>
        </p:nvSpPr>
        <p:spPr>
          <a:xfrm>
            <a:off x="6208776" y="2331720"/>
            <a:ext cx="2601468" cy="82296"/>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Texte de la carte 3 : Format de sortie demandé"/>
          <p:cNvSpPr txBox="1"/>
          <p:nvPr/>
        </p:nvSpPr>
        <p:spPr>
          <a:xfrm>
            <a:off x="6409944" y="2715768"/>
            <a:ext cx="2199132" cy="1143000"/>
          </a:xfrm>
          <a:prstGeom prst="rect">
            <a:avLst/>
          </a:prstGeom>
          <a:noFill/>
        </p:spPr>
        <p:txBody>
          <a:bodyPr wrap="square" lIns="0" rIns="0" tIns="0" bIns="0" anchor="t">
            <a:spAutoFit/>
          </a:bodyPr>
          <a:lstStyle/>
          <a:p>
            <a:pPr algn="l">
              <a:lnSpc>
                <a:spcPct val="112000"/>
              </a:lnSpc>
            </a:pPr>
            <a:r>
              <a:rPr sz="1550" b="0" i="0">
                <a:solidFill>
                  <a:srgbClr val="F2F6FC"/>
                </a:solidFill>
                <a:latin typeface="Arial"/>
              </a:rPr>
              <a:t>Format de sortie demandé</a:t>
            </a:r>
          </a:p>
        </p:txBody>
      </p:sp>
      <p:sp>
        <p:nvSpPr>
          <p:cNvPr id="17" name="TextBox 16" descr="Numéro 3"/>
          <p:cNvSpPr txBox="1"/>
          <p:nvPr/>
        </p:nvSpPr>
        <p:spPr>
          <a:xfrm>
            <a:off x="6409944" y="3456432"/>
            <a:ext cx="658368" cy="365760"/>
          </a:xfrm>
          <a:prstGeom prst="rect">
            <a:avLst/>
          </a:prstGeom>
          <a:noFill/>
        </p:spPr>
        <p:txBody>
          <a:bodyPr wrap="square" lIns="0" rIns="0" tIns="0" bIns="0" anchor="t">
            <a:spAutoFit/>
          </a:bodyPr>
          <a:lstStyle/>
          <a:p>
            <a:pPr algn="l">
              <a:lnSpc>
                <a:spcPct val="112000"/>
              </a:lnSpc>
            </a:pPr>
            <a:r>
              <a:rPr sz="1500" b="1" i="0">
                <a:solidFill>
                  <a:srgbClr val="22D3EE"/>
                </a:solidFill>
                <a:latin typeface="Arial"/>
              </a:rPr>
              <a:t>03</a:t>
            </a:r>
          </a:p>
        </p:txBody>
      </p:sp>
      <p:sp>
        <p:nvSpPr>
          <p:cNvPr id="18" name="Rounded Rectangle 17" descr="Variable à compléter. Carte 4 : Validation humaine finale"/>
          <p:cNvSpPr/>
          <p:nvPr/>
        </p:nvSpPr>
        <p:spPr>
          <a:xfrm>
            <a:off x="9029699" y="2331720"/>
            <a:ext cx="2601468" cy="169164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descr="Repère décoratif de section"/>
          <p:cNvSpPr/>
          <p:nvPr/>
        </p:nvSpPr>
        <p:spPr>
          <a:xfrm>
            <a:off x="9029699" y="2331720"/>
            <a:ext cx="2601468" cy="82296"/>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descr="Texte de la carte 4 : Validation humaine finale"/>
          <p:cNvSpPr txBox="1"/>
          <p:nvPr/>
        </p:nvSpPr>
        <p:spPr>
          <a:xfrm>
            <a:off x="9230867" y="2715768"/>
            <a:ext cx="2199132" cy="1143000"/>
          </a:xfrm>
          <a:prstGeom prst="rect">
            <a:avLst/>
          </a:prstGeom>
          <a:noFill/>
        </p:spPr>
        <p:txBody>
          <a:bodyPr wrap="square" lIns="0" rIns="0" tIns="0" bIns="0" anchor="t">
            <a:spAutoFit/>
          </a:bodyPr>
          <a:lstStyle/>
          <a:p>
            <a:pPr algn="l">
              <a:lnSpc>
                <a:spcPct val="112000"/>
              </a:lnSpc>
            </a:pPr>
            <a:r>
              <a:rPr sz="1550" b="0" i="0">
                <a:solidFill>
                  <a:srgbClr val="F2F6FC"/>
                </a:solidFill>
                <a:latin typeface="Arial"/>
              </a:rPr>
              <a:t>Validation humaine finale</a:t>
            </a:r>
          </a:p>
        </p:txBody>
      </p:sp>
      <p:sp>
        <p:nvSpPr>
          <p:cNvPr id="21" name="TextBox 20" descr="Numéro 4"/>
          <p:cNvSpPr txBox="1"/>
          <p:nvPr/>
        </p:nvSpPr>
        <p:spPr>
          <a:xfrm>
            <a:off x="9230867" y="3456432"/>
            <a:ext cx="658368" cy="365760"/>
          </a:xfrm>
          <a:prstGeom prst="rect">
            <a:avLst/>
          </a:prstGeom>
          <a:noFill/>
        </p:spPr>
        <p:txBody>
          <a:bodyPr wrap="square" lIns="0" rIns="0" tIns="0" bIns="0" anchor="t">
            <a:spAutoFit/>
          </a:bodyPr>
          <a:lstStyle/>
          <a:p>
            <a:pPr algn="l">
              <a:lnSpc>
                <a:spcPct val="112000"/>
              </a:lnSpc>
            </a:pPr>
            <a:r>
              <a:rPr sz="1500" b="1" i="0">
                <a:solidFill>
                  <a:srgbClr val="22D3EE"/>
                </a:solidFill>
                <a:latin typeface="Arial"/>
              </a:rPr>
              <a:t>04</a:t>
            </a:r>
          </a:p>
        </p:txBody>
      </p:sp>
      <p:sp>
        <p:nvSpPr>
          <p:cNvPr id="22" name="Rounded Rectangle 21" descr="Bandeau d'information : Version complète du prompt dans les notes du présentateur · validation humaine obligatoire."/>
          <p:cNvSpPr/>
          <p:nvPr/>
        </p:nvSpPr>
        <p:spPr>
          <a:xfrm>
            <a:off x="566928" y="5623560"/>
            <a:ext cx="11064240" cy="658368"/>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descr="Texte du bandeau : Version complète du prompt dans les notes du présentateur · validation humaine obligatoire."/>
          <p:cNvSpPr txBox="1"/>
          <p:nvPr/>
        </p:nvSpPr>
        <p:spPr>
          <a:xfrm>
            <a:off x="822960" y="5669280"/>
            <a:ext cx="10607040" cy="566928"/>
          </a:xfrm>
          <a:prstGeom prst="rect">
            <a:avLst/>
          </a:prstGeom>
          <a:noFill/>
        </p:spPr>
        <p:txBody>
          <a:bodyPr wrap="square" lIns="0" rIns="0" tIns="0" bIns="0" anchor="ctr">
            <a:spAutoFit/>
          </a:bodyPr>
          <a:lstStyle/>
          <a:p>
            <a:pPr algn="l">
              <a:lnSpc>
                <a:spcPct val="112000"/>
              </a:lnSpc>
            </a:pPr>
            <a:r>
              <a:rPr sz="1550" b="1" i="0">
                <a:solidFill>
                  <a:srgbClr val="22D3EE"/>
                </a:solidFill>
                <a:latin typeface="Arial"/>
              </a:rPr>
              <a:t>Version complète du prompt dans les notes du présentateur · validation humaine obligatoire.</a:t>
            </a:r>
          </a:p>
        </p:txBody>
      </p:sp>
      <p:sp>
        <p:nvSpPr>
          <p:cNvPr id="24" name="Rounded Rectangle 23" descr="Élément graphique décoratif, sans information propre"/>
          <p:cNvSpPr/>
          <p:nvPr/>
        </p:nvSpPr>
        <p:spPr>
          <a:xfrm>
            <a:off x="0" y="0"/>
            <a:ext cx="201168" cy="6858000"/>
          </a:xfrm>
          <a:prstGeom prst="round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descr="Référence de source affichée en pied de diapositive : Chapitre 05, rubrique « Prompt copiable »"/>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 05, rubrique « Prompt copiable »</a:t>
            </a:r>
          </a:p>
        </p:txBody>
      </p:sp>
      <p:sp>
        <p:nvSpPr>
          <p:cNvPr id="26" name="TextBox 25" descr="Numéro de diapositive 69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69 / 84  ·  2 min</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Bloc pratique · chapitre 12"/>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22D3EE"/>
                </a:solidFill>
                <a:latin typeface="Arial"/>
              </a:rPr>
              <a:t>BLOC PRATIQUE · CHAPITRE 12</a:t>
            </a:r>
          </a:p>
        </p:txBody>
      </p:sp>
      <p:sp>
        <p:nvSpPr>
          <p:cNvPr id="4" name="TextBox 3" descr="Titre : Prompt praticable · Hooks, storytelling et scripts"/>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200" b="1" i="0">
                <a:solidFill>
                  <a:srgbClr val="F2F6FC"/>
                </a:solidFill>
                <a:latin typeface="Arial"/>
              </a:rPr>
              <a:t>Prompt praticable · Hooks, storytelling et scripts</a:t>
            </a:r>
          </a:p>
        </p:txBody>
      </p:sp>
      <p:sp>
        <p:nvSpPr>
          <p:cNvPr id="5" name="TextBox 4" descr="Sous-titre : Variables à compléter avant la demande"/>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600" b="1" i="0">
                <a:solidFill>
                  <a:srgbClr val="22D3EE"/>
                </a:solidFill>
                <a:latin typeface="Arial"/>
              </a:rPr>
              <a:t>Variables à compléter avant la demande</a:t>
            </a:r>
          </a:p>
        </p:txBody>
      </p:sp>
      <p:sp>
        <p:nvSpPr>
          <p:cNvPr id="6" name="Rounded Rectangle 5" descr="Variable à compléter. Carte 1 : Contexte réel et pays"/>
          <p:cNvSpPr/>
          <p:nvPr/>
        </p:nvSpPr>
        <p:spPr>
          <a:xfrm>
            <a:off x="566928" y="2331720"/>
            <a:ext cx="2601468" cy="169164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de section"/>
          <p:cNvSpPr/>
          <p:nvPr/>
        </p:nvSpPr>
        <p:spPr>
          <a:xfrm>
            <a:off x="566928" y="2331720"/>
            <a:ext cx="2601468" cy="82296"/>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Texte de la carte 1 : Contexte réel et pays"/>
          <p:cNvSpPr txBox="1"/>
          <p:nvPr/>
        </p:nvSpPr>
        <p:spPr>
          <a:xfrm>
            <a:off x="768096" y="2715768"/>
            <a:ext cx="2199132" cy="1143000"/>
          </a:xfrm>
          <a:prstGeom prst="rect">
            <a:avLst/>
          </a:prstGeom>
          <a:noFill/>
        </p:spPr>
        <p:txBody>
          <a:bodyPr wrap="square" lIns="0" rIns="0" tIns="0" bIns="0" anchor="t">
            <a:spAutoFit/>
          </a:bodyPr>
          <a:lstStyle/>
          <a:p>
            <a:pPr algn="l">
              <a:lnSpc>
                <a:spcPct val="112000"/>
              </a:lnSpc>
            </a:pPr>
            <a:r>
              <a:rPr sz="1550" b="0" i="0">
                <a:solidFill>
                  <a:srgbClr val="F2F6FC"/>
                </a:solidFill>
                <a:latin typeface="Arial"/>
              </a:rPr>
              <a:t>Contexte réel et pays</a:t>
            </a:r>
          </a:p>
        </p:txBody>
      </p:sp>
      <p:sp>
        <p:nvSpPr>
          <p:cNvPr id="9" name="TextBox 8" descr="Numéro 1"/>
          <p:cNvSpPr txBox="1"/>
          <p:nvPr/>
        </p:nvSpPr>
        <p:spPr>
          <a:xfrm>
            <a:off x="768096" y="3456432"/>
            <a:ext cx="658368" cy="365760"/>
          </a:xfrm>
          <a:prstGeom prst="rect">
            <a:avLst/>
          </a:prstGeom>
          <a:noFill/>
        </p:spPr>
        <p:txBody>
          <a:bodyPr wrap="square" lIns="0" rIns="0" tIns="0" bIns="0" anchor="t">
            <a:spAutoFit/>
          </a:bodyPr>
          <a:lstStyle/>
          <a:p>
            <a:pPr algn="l">
              <a:lnSpc>
                <a:spcPct val="112000"/>
              </a:lnSpc>
            </a:pPr>
            <a:r>
              <a:rPr sz="1500" b="1" i="0">
                <a:solidFill>
                  <a:srgbClr val="22D3EE"/>
                </a:solidFill>
                <a:latin typeface="Arial"/>
              </a:rPr>
              <a:t>01</a:t>
            </a:r>
          </a:p>
        </p:txBody>
      </p:sp>
      <p:sp>
        <p:nvSpPr>
          <p:cNvPr id="10" name="Rounded Rectangle 9" descr="Variable à compléter. Carte 2 : Sources et droits connus"/>
          <p:cNvSpPr/>
          <p:nvPr/>
        </p:nvSpPr>
        <p:spPr>
          <a:xfrm>
            <a:off x="3387852" y="2331720"/>
            <a:ext cx="2601468" cy="169164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de section"/>
          <p:cNvSpPr/>
          <p:nvPr/>
        </p:nvSpPr>
        <p:spPr>
          <a:xfrm>
            <a:off x="3387852" y="2331720"/>
            <a:ext cx="2601468" cy="82296"/>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Texte de la carte 2 : Sources et droits connus"/>
          <p:cNvSpPr txBox="1"/>
          <p:nvPr/>
        </p:nvSpPr>
        <p:spPr>
          <a:xfrm>
            <a:off x="3589020" y="2715768"/>
            <a:ext cx="2199132" cy="1143000"/>
          </a:xfrm>
          <a:prstGeom prst="rect">
            <a:avLst/>
          </a:prstGeom>
          <a:noFill/>
        </p:spPr>
        <p:txBody>
          <a:bodyPr wrap="square" lIns="0" rIns="0" tIns="0" bIns="0" anchor="t">
            <a:spAutoFit/>
          </a:bodyPr>
          <a:lstStyle/>
          <a:p>
            <a:pPr algn="l">
              <a:lnSpc>
                <a:spcPct val="112000"/>
              </a:lnSpc>
            </a:pPr>
            <a:r>
              <a:rPr sz="1550" b="0" i="0">
                <a:solidFill>
                  <a:srgbClr val="F2F6FC"/>
                </a:solidFill>
                <a:latin typeface="Arial"/>
              </a:rPr>
              <a:t>Sources et droits connus</a:t>
            </a:r>
          </a:p>
        </p:txBody>
      </p:sp>
      <p:sp>
        <p:nvSpPr>
          <p:cNvPr id="13" name="TextBox 12" descr="Numéro 2"/>
          <p:cNvSpPr txBox="1"/>
          <p:nvPr/>
        </p:nvSpPr>
        <p:spPr>
          <a:xfrm>
            <a:off x="3589020" y="3456432"/>
            <a:ext cx="658368" cy="365760"/>
          </a:xfrm>
          <a:prstGeom prst="rect">
            <a:avLst/>
          </a:prstGeom>
          <a:noFill/>
        </p:spPr>
        <p:txBody>
          <a:bodyPr wrap="square" lIns="0" rIns="0" tIns="0" bIns="0" anchor="t">
            <a:spAutoFit/>
          </a:bodyPr>
          <a:lstStyle/>
          <a:p>
            <a:pPr algn="l">
              <a:lnSpc>
                <a:spcPct val="112000"/>
              </a:lnSpc>
            </a:pPr>
            <a:r>
              <a:rPr sz="1500" b="1" i="0">
                <a:solidFill>
                  <a:srgbClr val="22D3EE"/>
                </a:solidFill>
                <a:latin typeface="Arial"/>
              </a:rPr>
              <a:t>02</a:t>
            </a:r>
          </a:p>
        </p:txBody>
      </p:sp>
      <p:sp>
        <p:nvSpPr>
          <p:cNvPr id="14" name="Rounded Rectangle 13" descr="Variable à compléter. Carte 3 : Format de sortie demandé"/>
          <p:cNvSpPr/>
          <p:nvPr/>
        </p:nvSpPr>
        <p:spPr>
          <a:xfrm>
            <a:off x="6208776" y="2331720"/>
            <a:ext cx="2601468" cy="169164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Repère décoratif de section"/>
          <p:cNvSpPr/>
          <p:nvPr/>
        </p:nvSpPr>
        <p:spPr>
          <a:xfrm>
            <a:off x="6208776" y="2331720"/>
            <a:ext cx="2601468" cy="82296"/>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Texte de la carte 3 : Format de sortie demandé"/>
          <p:cNvSpPr txBox="1"/>
          <p:nvPr/>
        </p:nvSpPr>
        <p:spPr>
          <a:xfrm>
            <a:off x="6409944" y="2715768"/>
            <a:ext cx="2199132" cy="1143000"/>
          </a:xfrm>
          <a:prstGeom prst="rect">
            <a:avLst/>
          </a:prstGeom>
          <a:noFill/>
        </p:spPr>
        <p:txBody>
          <a:bodyPr wrap="square" lIns="0" rIns="0" tIns="0" bIns="0" anchor="t">
            <a:spAutoFit/>
          </a:bodyPr>
          <a:lstStyle/>
          <a:p>
            <a:pPr algn="l">
              <a:lnSpc>
                <a:spcPct val="112000"/>
              </a:lnSpc>
            </a:pPr>
            <a:r>
              <a:rPr sz="1550" b="0" i="0">
                <a:solidFill>
                  <a:srgbClr val="F2F6FC"/>
                </a:solidFill>
                <a:latin typeface="Arial"/>
              </a:rPr>
              <a:t>Format de sortie demandé</a:t>
            </a:r>
          </a:p>
        </p:txBody>
      </p:sp>
      <p:sp>
        <p:nvSpPr>
          <p:cNvPr id="17" name="TextBox 16" descr="Numéro 3"/>
          <p:cNvSpPr txBox="1"/>
          <p:nvPr/>
        </p:nvSpPr>
        <p:spPr>
          <a:xfrm>
            <a:off x="6409944" y="3456432"/>
            <a:ext cx="658368" cy="365760"/>
          </a:xfrm>
          <a:prstGeom prst="rect">
            <a:avLst/>
          </a:prstGeom>
          <a:noFill/>
        </p:spPr>
        <p:txBody>
          <a:bodyPr wrap="square" lIns="0" rIns="0" tIns="0" bIns="0" anchor="t">
            <a:spAutoFit/>
          </a:bodyPr>
          <a:lstStyle/>
          <a:p>
            <a:pPr algn="l">
              <a:lnSpc>
                <a:spcPct val="112000"/>
              </a:lnSpc>
            </a:pPr>
            <a:r>
              <a:rPr sz="1500" b="1" i="0">
                <a:solidFill>
                  <a:srgbClr val="22D3EE"/>
                </a:solidFill>
                <a:latin typeface="Arial"/>
              </a:rPr>
              <a:t>03</a:t>
            </a:r>
          </a:p>
        </p:txBody>
      </p:sp>
      <p:sp>
        <p:nvSpPr>
          <p:cNvPr id="18" name="Rounded Rectangle 17" descr="Variable à compléter. Carte 4 : Validation humaine finale"/>
          <p:cNvSpPr/>
          <p:nvPr/>
        </p:nvSpPr>
        <p:spPr>
          <a:xfrm>
            <a:off x="9029699" y="2331720"/>
            <a:ext cx="2601468" cy="169164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descr="Repère décoratif de section"/>
          <p:cNvSpPr/>
          <p:nvPr/>
        </p:nvSpPr>
        <p:spPr>
          <a:xfrm>
            <a:off x="9029699" y="2331720"/>
            <a:ext cx="2601468" cy="82296"/>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descr="Texte de la carte 4 : Validation humaine finale"/>
          <p:cNvSpPr txBox="1"/>
          <p:nvPr/>
        </p:nvSpPr>
        <p:spPr>
          <a:xfrm>
            <a:off x="9230867" y="2715768"/>
            <a:ext cx="2199132" cy="1143000"/>
          </a:xfrm>
          <a:prstGeom prst="rect">
            <a:avLst/>
          </a:prstGeom>
          <a:noFill/>
        </p:spPr>
        <p:txBody>
          <a:bodyPr wrap="square" lIns="0" rIns="0" tIns="0" bIns="0" anchor="t">
            <a:spAutoFit/>
          </a:bodyPr>
          <a:lstStyle/>
          <a:p>
            <a:pPr algn="l">
              <a:lnSpc>
                <a:spcPct val="112000"/>
              </a:lnSpc>
            </a:pPr>
            <a:r>
              <a:rPr sz="1550" b="0" i="0">
                <a:solidFill>
                  <a:srgbClr val="F2F6FC"/>
                </a:solidFill>
                <a:latin typeface="Arial"/>
              </a:rPr>
              <a:t>Validation humaine finale</a:t>
            </a:r>
          </a:p>
        </p:txBody>
      </p:sp>
      <p:sp>
        <p:nvSpPr>
          <p:cNvPr id="21" name="TextBox 20" descr="Numéro 4"/>
          <p:cNvSpPr txBox="1"/>
          <p:nvPr/>
        </p:nvSpPr>
        <p:spPr>
          <a:xfrm>
            <a:off x="9230867" y="3456432"/>
            <a:ext cx="658368" cy="365760"/>
          </a:xfrm>
          <a:prstGeom prst="rect">
            <a:avLst/>
          </a:prstGeom>
          <a:noFill/>
        </p:spPr>
        <p:txBody>
          <a:bodyPr wrap="square" lIns="0" rIns="0" tIns="0" bIns="0" anchor="t">
            <a:spAutoFit/>
          </a:bodyPr>
          <a:lstStyle/>
          <a:p>
            <a:pPr algn="l">
              <a:lnSpc>
                <a:spcPct val="112000"/>
              </a:lnSpc>
            </a:pPr>
            <a:r>
              <a:rPr sz="1500" b="1" i="0">
                <a:solidFill>
                  <a:srgbClr val="22D3EE"/>
                </a:solidFill>
                <a:latin typeface="Arial"/>
              </a:rPr>
              <a:t>04</a:t>
            </a:r>
          </a:p>
        </p:txBody>
      </p:sp>
      <p:sp>
        <p:nvSpPr>
          <p:cNvPr id="22" name="Rounded Rectangle 21" descr="Bandeau d'information : Version complète du prompt dans les notes du présentateur · validation humaine obligatoire."/>
          <p:cNvSpPr/>
          <p:nvPr/>
        </p:nvSpPr>
        <p:spPr>
          <a:xfrm>
            <a:off x="566928" y="5623560"/>
            <a:ext cx="11064240" cy="658368"/>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descr="Texte du bandeau : Version complète du prompt dans les notes du présentateur · validation humaine obligatoire."/>
          <p:cNvSpPr txBox="1"/>
          <p:nvPr/>
        </p:nvSpPr>
        <p:spPr>
          <a:xfrm>
            <a:off x="822960" y="5669280"/>
            <a:ext cx="10607040" cy="566928"/>
          </a:xfrm>
          <a:prstGeom prst="rect">
            <a:avLst/>
          </a:prstGeom>
          <a:noFill/>
        </p:spPr>
        <p:txBody>
          <a:bodyPr wrap="square" lIns="0" rIns="0" tIns="0" bIns="0" anchor="ctr">
            <a:spAutoFit/>
          </a:bodyPr>
          <a:lstStyle/>
          <a:p>
            <a:pPr algn="l">
              <a:lnSpc>
                <a:spcPct val="112000"/>
              </a:lnSpc>
            </a:pPr>
            <a:r>
              <a:rPr sz="1550" b="1" i="0">
                <a:solidFill>
                  <a:srgbClr val="22D3EE"/>
                </a:solidFill>
                <a:latin typeface="Arial"/>
              </a:rPr>
              <a:t>Version complète du prompt dans les notes du présentateur · validation humaine obligatoire.</a:t>
            </a:r>
          </a:p>
        </p:txBody>
      </p:sp>
      <p:sp>
        <p:nvSpPr>
          <p:cNvPr id="24" name="Rounded Rectangle 23" descr="Élément graphique décoratif, sans information propre"/>
          <p:cNvSpPr/>
          <p:nvPr/>
        </p:nvSpPr>
        <p:spPr>
          <a:xfrm>
            <a:off x="0" y="0"/>
            <a:ext cx="201168" cy="6858000"/>
          </a:xfrm>
          <a:prstGeom prst="round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descr="Référence de source affichée en pied de diapositive : Chapitre 12, rubrique « Prompt copiable »"/>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 12, rubrique « Prompt copiable »</a:t>
            </a:r>
          </a:p>
        </p:txBody>
      </p:sp>
      <p:sp>
        <p:nvSpPr>
          <p:cNvPr id="26" name="TextBox 25" descr="Numéro de diapositive 70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70 / 84  ·  2 min</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Bloc pratique · chapitre 17"/>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22D3EE"/>
                </a:solidFill>
                <a:latin typeface="Arial"/>
              </a:rPr>
              <a:t>BLOC PRATIQUE · CHAPITRE 17</a:t>
            </a:r>
          </a:p>
        </p:txBody>
      </p:sp>
      <p:sp>
        <p:nvSpPr>
          <p:cNvPr id="4" name="TextBox 3" descr="Titre : Prompt praticable · Le workflow en cinq étapes"/>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200" b="1" i="0">
                <a:solidFill>
                  <a:srgbClr val="F2F6FC"/>
                </a:solidFill>
                <a:latin typeface="Arial"/>
              </a:rPr>
              <a:t>Prompt praticable · Le workflow en cinq étapes</a:t>
            </a:r>
          </a:p>
        </p:txBody>
      </p:sp>
      <p:sp>
        <p:nvSpPr>
          <p:cNvPr id="5" name="TextBox 4" descr="Sous-titre : Variables à compléter avant la demande"/>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600" b="1" i="0">
                <a:solidFill>
                  <a:srgbClr val="22D3EE"/>
                </a:solidFill>
                <a:latin typeface="Arial"/>
              </a:rPr>
              <a:t>Variables à compléter avant la demande</a:t>
            </a:r>
          </a:p>
        </p:txBody>
      </p:sp>
      <p:sp>
        <p:nvSpPr>
          <p:cNvPr id="6" name="Rounded Rectangle 5" descr="Variable à compléter. Carte 1 : Contexte réel et pays"/>
          <p:cNvSpPr/>
          <p:nvPr/>
        </p:nvSpPr>
        <p:spPr>
          <a:xfrm>
            <a:off x="566928" y="2331720"/>
            <a:ext cx="2601468" cy="169164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de section"/>
          <p:cNvSpPr/>
          <p:nvPr/>
        </p:nvSpPr>
        <p:spPr>
          <a:xfrm>
            <a:off x="566928" y="2331720"/>
            <a:ext cx="2601468" cy="82296"/>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Texte de la carte 1 : Contexte réel et pays"/>
          <p:cNvSpPr txBox="1"/>
          <p:nvPr/>
        </p:nvSpPr>
        <p:spPr>
          <a:xfrm>
            <a:off x="768096" y="2715768"/>
            <a:ext cx="2199132" cy="1143000"/>
          </a:xfrm>
          <a:prstGeom prst="rect">
            <a:avLst/>
          </a:prstGeom>
          <a:noFill/>
        </p:spPr>
        <p:txBody>
          <a:bodyPr wrap="square" lIns="0" rIns="0" tIns="0" bIns="0" anchor="t">
            <a:spAutoFit/>
          </a:bodyPr>
          <a:lstStyle/>
          <a:p>
            <a:pPr algn="l">
              <a:lnSpc>
                <a:spcPct val="112000"/>
              </a:lnSpc>
            </a:pPr>
            <a:r>
              <a:rPr sz="1550" b="0" i="0">
                <a:solidFill>
                  <a:srgbClr val="F2F6FC"/>
                </a:solidFill>
                <a:latin typeface="Arial"/>
              </a:rPr>
              <a:t>Contexte réel et pays</a:t>
            </a:r>
          </a:p>
        </p:txBody>
      </p:sp>
      <p:sp>
        <p:nvSpPr>
          <p:cNvPr id="9" name="TextBox 8" descr="Numéro 1"/>
          <p:cNvSpPr txBox="1"/>
          <p:nvPr/>
        </p:nvSpPr>
        <p:spPr>
          <a:xfrm>
            <a:off x="768096" y="3456432"/>
            <a:ext cx="658368" cy="365760"/>
          </a:xfrm>
          <a:prstGeom prst="rect">
            <a:avLst/>
          </a:prstGeom>
          <a:noFill/>
        </p:spPr>
        <p:txBody>
          <a:bodyPr wrap="square" lIns="0" rIns="0" tIns="0" bIns="0" anchor="t">
            <a:spAutoFit/>
          </a:bodyPr>
          <a:lstStyle/>
          <a:p>
            <a:pPr algn="l">
              <a:lnSpc>
                <a:spcPct val="112000"/>
              </a:lnSpc>
            </a:pPr>
            <a:r>
              <a:rPr sz="1500" b="1" i="0">
                <a:solidFill>
                  <a:srgbClr val="22D3EE"/>
                </a:solidFill>
                <a:latin typeface="Arial"/>
              </a:rPr>
              <a:t>01</a:t>
            </a:r>
          </a:p>
        </p:txBody>
      </p:sp>
      <p:sp>
        <p:nvSpPr>
          <p:cNvPr id="10" name="Rounded Rectangle 9" descr="Variable à compléter. Carte 2 : Sources et droits connus"/>
          <p:cNvSpPr/>
          <p:nvPr/>
        </p:nvSpPr>
        <p:spPr>
          <a:xfrm>
            <a:off x="3387852" y="2331720"/>
            <a:ext cx="2601468" cy="169164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de section"/>
          <p:cNvSpPr/>
          <p:nvPr/>
        </p:nvSpPr>
        <p:spPr>
          <a:xfrm>
            <a:off x="3387852" y="2331720"/>
            <a:ext cx="2601468" cy="82296"/>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Texte de la carte 2 : Sources et droits connus"/>
          <p:cNvSpPr txBox="1"/>
          <p:nvPr/>
        </p:nvSpPr>
        <p:spPr>
          <a:xfrm>
            <a:off x="3589020" y="2715768"/>
            <a:ext cx="2199132" cy="1143000"/>
          </a:xfrm>
          <a:prstGeom prst="rect">
            <a:avLst/>
          </a:prstGeom>
          <a:noFill/>
        </p:spPr>
        <p:txBody>
          <a:bodyPr wrap="square" lIns="0" rIns="0" tIns="0" bIns="0" anchor="t">
            <a:spAutoFit/>
          </a:bodyPr>
          <a:lstStyle/>
          <a:p>
            <a:pPr algn="l">
              <a:lnSpc>
                <a:spcPct val="112000"/>
              </a:lnSpc>
            </a:pPr>
            <a:r>
              <a:rPr sz="1550" b="0" i="0">
                <a:solidFill>
                  <a:srgbClr val="F2F6FC"/>
                </a:solidFill>
                <a:latin typeface="Arial"/>
              </a:rPr>
              <a:t>Sources et droits connus</a:t>
            </a:r>
          </a:p>
        </p:txBody>
      </p:sp>
      <p:sp>
        <p:nvSpPr>
          <p:cNvPr id="13" name="TextBox 12" descr="Numéro 2"/>
          <p:cNvSpPr txBox="1"/>
          <p:nvPr/>
        </p:nvSpPr>
        <p:spPr>
          <a:xfrm>
            <a:off x="3589020" y="3456432"/>
            <a:ext cx="658368" cy="365760"/>
          </a:xfrm>
          <a:prstGeom prst="rect">
            <a:avLst/>
          </a:prstGeom>
          <a:noFill/>
        </p:spPr>
        <p:txBody>
          <a:bodyPr wrap="square" lIns="0" rIns="0" tIns="0" bIns="0" anchor="t">
            <a:spAutoFit/>
          </a:bodyPr>
          <a:lstStyle/>
          <a:p>
            <a:pPr algn="l">
              <a:lnSpc>
                <a:spcPct val="112000"/>
              </a:lnSpc>
            </a:pPr>
            <a:r>
              <a:rPr sz="1500" b="1" i="0">
                <a:solidFill>
                  <a:srgbClr val="22D3EE"/>
                </a:solidFill>
                <a:latin typeface="Arial"/>
              </a:rPr>
              <a:t>02</a:t>
            </a:r>
          </a:p>
        </p:txBody>
      </p:sp>
      <p:sp>
        <p:nvSpPr>
          <p:cNvPr id="14" name="Rounded Rectangle 13" descr="Variable à compléter. Carte 3 : Format de sortie demandé"/>
          <p:cNvSpPr/>
          <p:nvPr/>
        </p:nvSpPr>
        <p:spPr>
          <a:xfrm>
            <a:off x="6208776" y="2331720"/>
            <a:ext cx="2601468" cy="169164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Repère décoratif de section"/>
          <p:cNvSpPr/>
          <p:nvPr/>
        </p:nvSpPr>
        <p:spPr>
          <a:xfrm>
            <a:off x="6208776" y="2331720"/>
            <a:ext cx="2601468" cy="82296"/>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Texte de la carte 3 : Format de sortie demandé"/>
          <p:cNvSpPr txBox="1"/>
          <p:nvPr/>
        </p:nvSpPr>
        <p:spPr>
          <a:xfrm>
            <a:off x="6409944" y="2715768"/>
            <a:ext cx="2199132" cy="1143000"/>
          </a:xfrm>
          <a:prstGeom prst="rect">
            <a:avLst/>
          </a:prstGeom>
          <a:noFill/>
        </p:spPr>
        <p:txBody>
          <a:bodyPr wrap="square" lIns="0" rIns="0" tIns="0" bIns="0" anchor="t">
            <a:spAutoFit/>
          </a:bodyPr>
          <a:lstStyle/>
          <a:p>
            <a:pPr algn="l">
              <a:lnSpc>
                <a:spcPct val="112000"/>
              </a:lnSpc>
            </a:pPr>
            <a:r>
              <a:rPr sz="1550" b="0" i="0">
                <a:solidFill>
                  <a:srgbClr val="F2F6FC"/>
                </a:solidFill>
                <a:latin typeface="Arial"/>
              </a:rPr>
              <a:t>Format de sortie demandé</a:t>
            </a:r>
          </a:p>
        </p:txBody>
      </p:sp>
      <p:sp>
        <p:nvSpPr>
          <p:cNvPr id="17" name="TextBox 16" descr="Numéro 3"/>
          <p:cNvSpPr txBox="1"/>
          <p:nvPr/>
        </p:nvSpPr>
        <p:spPr>
          <a:xfrm>
            <a:off x="6409944" y="3456432"/>
            <a:ext cx="658368" cy="365760"/>
          </a:xfrm>
          <a:prstGeom prst="rect">
            <a:avLst/>
          </a:prstGeom>
          <a:noFill/>
        </p:spPr>
        <p:txBody>
          <a:bodyPr wrap="square" lIns="0" rIns="0" tIns="0" bIns="0" anchor="t">
            <a:spAutoFit/>
          </a:bodyPr>
          <a:lstStyle/>
          <a:p>
            <a:pPr algn="l">
              <a:lnSpc>
                <a:spcPct val="112000"/>
              </a:lnSpc>
            </a:pPr>
            <a:r>
              <a:rPr sz="1500" b="1" i="0">
                <a:solidFill>
                  <a:srgbClr val="22D3EE"/>
                </a:solidFill>
                <a:latin typeface="Arial"/>
              </a:rPr>
              <a:t>03</a:t>
            </a:r>
          </a:p>
        </p:txBody>
      </p:sp>
      <p:sp>
        <p:nvSpPr>
          <p:cNvPr id="18" name="Rounded Rectangle 17" descr="Variable à compléter. Carte 4 : Validation humaine finale"/>
          <p:cNvSpPr/>
          <p:nvPr/>
        </p:nvSpPr>
        <p:spPr>
          <a:xfrm>
            <a:off x="9029699" y="2331720"/>
            <a:ext cx="2601468" cy="169164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descr="Repère décoratif de section"/>
          <p:cNvSpPr/>
          <p:nvPr/>
        </p:nvSpPr>
        <p:spPr>
          <a:xfrm>
            <a:off x="9029699" y="2331720"/>
            <a:ext cx="2601468" cy="82296"/>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descr="Texte de la carte 4 : Validation humaine finale"/>
          <p:cNvSpPr txBox="1"/>
          <p:nvPr/>
        </p:nvSpPr>
        <p:spPr>
          <a:xfrm>
            <a:off x="9230867" y="2715768"/>
            <a:ext cx="2199132" cy="1143000"/>
          </a:xfrm>
          <a:prstGeom prst="rect">
            <a:avLst/>
          </a:prstGeom>
          <a:noFill/>
        </p:spPr>
        <p:txBody>
          <a:bodyPr wrap="square" lIns="0" rIns="0" tIns="0" bIns="0" anchor="t">
            <a:spAutoFit/>
          </a:bodyPr>
          <a:lstStyle/>
          <a:p>
            <a:pPr algn="l">
              <a:lnSpc>
                <a:spcPct val="112000"/>
              </a:lnSpc>
            </a:pPr>
            <a:r>
              <a:rPr sz="1550" b="0" i="0">
                <a:solidFill>
                  <a:srgbClr val="F2F6FC"/>
                </a:solidFill>
                <a:latin typeface="Arial"/>
              </a:rPr>
              <a:t>Validation humaine finale</a:t>
            </a:r>
          </a:p>
        </p:txBody>
      </p:sp>
      <p:sp>
        <p:nvSpPr>
          <p:cNvPr id="21" name="TextBox 20" descr="Numéro 4"/>
          <p:cNvSpPr txBox="1"/>
          <p:nvPr/>
        </p:nvSpPr>
        <p:spPr>
          <a:xfrm>
            <a:off x="9230867" y="3456432"/>
            <a:ext cx="658368" cy="365760"/>
          </a:xfrm>
          <a:prstGeom prst="rect">
            <a:avLst/>
          </a:prstGeom>
          <a:noFill/>
        </p:spPr>
        <p:txBody>
          <a:bodyPr wrap="square" lIns="0" rIns="0" tIns="0" bIns="0" anchor="t">
            <a:spAutoFit/>
          </a:bodyPr>
          <a:lstStyle/>
          <a:p>
            <a:pPr algn="l">
              <a:lnSpc>
                <a:spcPct val="112000"/>
              </a:lnSpc>
            </a:pPr>
            <a:r>
              <a:rPr sz="1500" b="1" i="0">
                <a:solidFill>
                  <a:srgbClr val="22D3EE"/>
                </a:solidFill>
                <a:latin typeface="Arial"/>
              </a:rPr>
              <a:t>04</a:t>
            </a:r>
          </a:p>
        </p:txBody>
      </p:sp>
      <p:sp>
        <p:nvSpPr>
          <p:cNvPr id="22" name="Rounded Rectangle 21" descr="Bandeau d'information : Version complète du prompt dans les notes du présentateur · validation humaine obligatoire."/>
          <p:cNvSpPr/>
          <p:nvPr/>
        </p:nvSpPr>
        <p:spPr>
          <a:xfrm>
            <a:off x="566928" y="5623560"/>
            <a:ext cx="11064240" cy="658368"/>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descr="Texte du bandeau : Version complète du prompt dans les notes du présentateur · validation humaine obligatoire."/>
          <p:cNvSpPr txBox="1"/>
          <p:nvPr/>
        </p:nvSpPr>
        <p:spPr>
          <a:xfrm>
            <a:off x="822960" y="5669280"/>
            <a:ext cx="10607040" cy="566928"/>
          </a:xfrm>
          <a:prstGeom prst="rect">
            <a:avLst/>
          </a:prstGeom>
          <a:noFill/>
        </p:spPr>
        <p:txBody>
          <a:bodyPr wrap="square" lIns="0" rIns="0" tIns="0" bIns="0" anchor="ctr">
            <a:spAutoFit/>
          </a:bodyPr>
          <a:lstStyle/>
          <a:p>
            <a:pPr algn="l">
              <a:lnSpc>
                <a:spcPct val="112000"/>
              </a:lnSpc>
            </a:pPr>
            <a:r>
              <a:rPr sz="1550" b="1" i="0">
                <a:solidFill>
                  <a:srgbClr val="22D3EE"/>
                </a:solidFill>
                <a:latin typeface="Arial"/>
              </a:rPr>
              <a:t>Version complète du prompt dans les notes du présentateur · validation humaine obligatoire.</a:t>
            </a:r>
          </a:p>
        </p:txBody>
      </p:sp>
      <p:sp>
        <p:nvSpPr>
          <p:cNvPr id="24" name="Rounded Rectangle 23" descr="Élément graphique décoratif, sans information propre"/>
          <p:cNvSpPr/>
          <p:nvPr/>
        </p:nvSpPr>
        <p:spPr>
          <a:xfrm>
            <a:off x="0" y="0"/>
            <a:ext cx="201168" cy="6858000"/>
          </a:xfrm>
          <a:prstGeom prst="round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descr="Référence de source affichée en pied de diapositive : Chapitre 17, rubrique « Prompt copiable »"/>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 17, rubrique « Prompt copiable »</a:t>
            </a:r>
          </a:p>
        </p:txBody>
      </p:sp>
      <p:sp>
        <p:nvSpPr>
          <p:cNvPr id="26" name="TextBox 25" descr="Numéro de diapositive 71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71 / 84  ·  2 min</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Bloc pratique · chapitre 20"/>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22D3EE"/>
                </a:solidFill>
                <a:latin typeface="Arial"/>
              </a:rPr>
              <a:t>BLOC PRATIQUE · CHAPITRE 20</a:t>
            </a:r>
          </a:p>
        </p:txBody>
      </p:sp>
      <p:sp>
        <p:nvSpPr>
          <p:cNvPr id="4" name="TextBox 3" descr="Titre : Prompt praticable · Comprendre les statistiques"/>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200" b="1" i="0">
                <a:solidFill>
                  <a:srgbClr val="F2F6FC"/>
                </a:solidFill>
                <a:latin typeface="Arial"/>
              </a:rPr>
              <a:t>Prompt praticable · Comprendre les statistiques</a:t>
            </a:r>
          </a:p>
        </p:txBody>
      </p:sp>
      <p:sp>
        <p:nvSpPr>
          <p:cNvPr id="5" name="TextBox 4" descr="Sous-titre : Variables à compléter avant la demande"/>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600" b="1" i="0">
                <a:solidFill>
                  <a:srgbClr val="22D3EE"/>
                </a:solidFill>
                <a:latin typeface="Arial"/>
              </a:rPr>
              <a:t>Variables à compléter avant la demande</a:t>
            </a:r>
          </a:p>
        </p:txBody>
      </p:sp>
      <p:sp>
        <p:nvSpPr>
          <p:cNvPr id="6" name="Rounded Rectangle 5" descr="Variable à compléter. Carte 1 : Contexte réel et pays"/>
          <p:cNvSpPr/>
          <p:nvPr/>
        </p:nvSpPr>
        <p:spPr>
          <a:xfrm>
            <a:off x="566928" y="2331720"/>
            <a:ext cx="2601468" cy="169164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de section"/>
          <p:cNvSpPr/>
          <p:nvPr/>
        </p:nvSpPr>
        <p:spPr>
          <a:xfrm>
            <a:off x="566928" y="2331720"/>
            <a:ext cx="2601468" cy="82296"/>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Texte de la carte 1 : Contexte réel et pays"/>
          <p:cNvSpPr txBox="1"/>
          <p:nvPr/>
        </p:nvSpPr>
        <p:spPr>
          <a:xfrm>
            <a:off x="768096" y="2715768"/>
            <a:ext cx="2199132" cy="1143000"/>
          </a:xfrm>
          <a:prstGeom prst="rect">
            <a:avLst/>
          </a:prstGeom>
          <a:noFill/>
        </p:spPr>
        <p:txBody>
          <a:bodyPr wrap="square" lIns="0" rIns="0" tIns="0" bIns="0" anchor="t">
            <a:spAutoFit/>
          </a:bodyPr>
          <a:lstStyle/>
          <a:p>
            <a:pPr algn="l">
              <a:lnSpc>
                <a:spcPct val="112000"/>
              </a:lnSpc>
            </a:pPr>
            <a:r>
              <a:rPr sz="1550" b="0" i="0">
                <a:solidFill>
                  <a:srgbClr val="F2F6FC"/>
                </a:solidFill>
                <a:latin typeface="Arial"/>
              </a:rPr>
              <a:t>Contexte réel et pays</a:t>
            </a:r>
          </a:p>
        </p:txBody>
      </p:sp>
      <p:sp>
        <p:nvSpPr>
          <p:cNvPr id="9" name="TextBox 8" descr="Numéro 1"/>
          <p:cNvSpPr txBox="1"/>
          <p:nvPr/>
        </p:nvSpPr>
        <p:spPr>
          <a:xfrm>
            <a:off x="768096" y="3456432"/>
            <a:ext cx="658368" cy="365760"/>
          </a:xfrm>
          <a:prstGeom prst="rect">
            <a:avLst/>
          </a:prstGeom>
          <a:noFill/>
        </p:spPr>
        <p:txBody>
          <a:bodyPr wrap="square" lIns="0" rIns="0" tIns="0" bIns="0" anchor="t">
            <a:spAutoFit/>
          </a:bodyPr>
          <a:lstStyle/>
          <a:p>
            <a:pPr algn="l">
              <a:lnSpc>
                <a:spcPct val="112000"/>
              </a:lnSpc>
            </a:pPr>
            <a:r>
              <a:rPr sz="1500" b="1" i="0">
                <a:solidFill>
                  <a:srgbClr val="22D3EE"/>
                </a:solidFill>
                <a:latin typeface="Arial"/>
              </a:rPr>
              <a:t>01</a:t>
            </a:r>
          </a:p>
        </p:txBody>
      </p:sp>
      <p:sp>
        <p:nvSpPr>
          <p:cNvPr id="10" name="Rounded Rectangle 9" descr="Variable à compléter. Carte 2 : Sources et droits connus"/>
          <p:cNvSpPr/>
          <p:nvPr/>
        </p:nvSpPr>
        <p:spPr>
          <a:xfrm>
            <a:off x="3387852" y="2331720"/>
            <a:ext cx="2601468" cy="169164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de section"/>
          <p:cNvSpPr/>
          <p:nvPr/>
        </p:nvSpPr>
        <p:spPr>
          <a:xfrm>
            <a:off x="3387852" y="2331720"/>
            <a:ext cx="2601468" cy="82296"/>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Texte de la carte 2 : Sources et droits connus"/>
          <p:cNvSpPr txBox="1"/>
          <p:nvPr/>
        </p:nvSpPr>
        <p:spPr>
          <a:xfrm>
            <a:off x="3589020" y="2715768"/>
            <a:ext cx="2199132" cy="1143000"/>
          </a:xfrm>
          <a:prstGeom prst="rect">
            <a:avLst/>
          </a:prstGeom>
          <a:noFill/>
        </p:spPr>
        <p:txBody>
          <a:bodyPr wrap="square" lIns="0" rIns="0" tIns="0" bIns="0" anchor="t">
            <a:spAutoFit/>
          </a:bodyPr>
          <a:lstStyle/>
          <a:p>
            <a:pPr algn="l">
              <a:lnSpc>
                <a:spcPct val="112000"/>
              </a:lnSpc>
            </a:pPr>
            <a:r>
              <a:rPr sz="1550" b="0" i="0">
                <a:solidFill>
                  <a:srgbClr val="F2F6FC"/>
                </a:solidFill>
                <a:latin typeface="Arial"/>
              </a:rPr>
              <a:t>Sources et droits connus</a:t>
            </a:r>
          </a:p>
        </p:txBody>
      </p:sp>
      <p:sp>
        <p:nvSpPr>
          <p:cNvPr id="13" name="TextBox 12" descr="Numéro 2"/>
          <p:cNvSpPr txBox="1"/>
          <p:nvPr/>
        </p:nvSpPr>
        <p:spPr>
          <a:xfrm>
            <a:off x="3589020" y="3456432"/>
            <a:ext cx="658368" cy="365760"/>
          </a:xfrm>
          <a:prstGeom prst="rect">
            <a:avLst/>
          </a:prstGeom>
          <a:noFill/>
        </p:spPr>
        <p:txBody>
          <a:bodyPr wrap="square" lIns="0" rIns="0" tIns="0" bIns="0" anchor="t">
            <a:spAutoFit/>
          </a:bodyPr>
          <a:lstStyle/>
          <a:p>
            <a:pPr algn="l">
              <a:lnSpc>
                <a:spcPct val="112000"/>
              </a:lnSpc>
            </a:pPr>
            <a:r>
              <a:rPr sz="1500" b="1" i="0">
                <a:solidFill>
                  <a:srgbClr val="22D3EE"/>
                </a:solidFill>
                <a:latin typeface="Arial"/>
              </a:rPr>
              <a:t>02</a:t>
            </a:r>
          </a:p>
        </p:txBody>
      </p:sp>
      <p:sp>
        <p:nvSpPr>
          <p:cNvPr id="14" name="Rounded Rectangle 13" descr="Variable à compléter. Carte 3 : Format de sortie demandé"/>
          <p:cNvSpPr/>
          <p:nvPr/>
        </p:nvSpPr>
        <p:spPr>
          <a:xfrm>
            <a:off x="6208776" y="2331720"/>
            <a:ext cx="2601468" cy="169164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Repère décoratif de section"/>
          <p:cNvSpPr/>
          <p:nvPr/>
        </p:nvSpPr>
        <p:spPr>
          <a:xfrm>
            <a:off x="6208776" y="2331720"/>
            <a:ext cx="2601468" cy="82296"/>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Texte de la carte 3 : Format de sortie demandé"/>
          <p:cNvSpPr txBox="1"/>
          <p:nvPr/>
        </p:nvSpPr>
        <p:spPr>
          <a:xfrm>
            <a:off x="6409944" y="2715768"/>
            <a:ext cx="2199132" cy="1143000"/>
          </a:xfrm>
          <a:prstGeom prst="rect">
            <a:avLst/>
          </a:prstGeom>
          <a:noFill/>
        </p:spPr>
        <p:txBody>
          <a:bodyPr wrap="square" lIns="0" rIns="0" tIns="0" bIns="0" anchor="t">
            <a:spAutoFit/>
          </a:bodyPr>
          <a:lstStyle/>
          <a:p>
            <a:pPr algn="l">
              <a:lnSpc>
                <a:spcPct val="112000"/>
              </a:lnSpc>
            </a:pPr>
            <a:r>
              <a:rPr sz="1550" b="0" i="0">
                <a:solidFill>
                  <a:srgbClr val="F2F6FC"/>
                </a:solidFill>
                <a:latin typeface="Arial"/>
              </a:rPr>
              <a:t>Format de sortie demandé</a:t>
            </a:r>
          </a:p>
        </p:txBody>
      </p:sp>
      <p:sp>
        <p:nvSpPr>
          <p:cNvPr id="17" name="TextBox 16" descr="Numéro 3"/>
          <p:cNvSpPr txBox="1"/>
          <p:nvPr/>
        </p:nvSpPr>
        <p:spPr>
          <a:xfrm>
            <a:off x="6409944" y="3456432"/>
            <a:ext cx="658368" cy="365760"/>
          </a:xfrm>
          <a:prstGeom prst="rect">
            <a:avLst/>
          </a:prstGeom>
          <a:noFill/>
        </p:spPr>
        <p:txBody>
          <a:bodyPr wrap="square" lIns="0" rIns="0" tIns="0" bIns="0" anchor="t">
            <a:spAutoFit/>
          </a:bodyPr>
          <a:lstStyle/>
          <a:p>
            <a:pPr algn="l">
              <a:lnSpc>
                <a:spcPct val="112000"/>
              </a:lnSpc>
            </a:pPr>
            <a:r>
              <a:rPr sz="1500" b="1" i="0">
                <a:solidFill>
                  <a:srgbClr val="22D3EE"/>
                </a:solidFill>
                <a:latin typeface="Arial"/>
              </a:rPr>
              <a:t>03</a:t>
            </a:r>
          </a:p>
        </p:txBody>
      </p:sp>
      <p:sp>
        <p:nvSpPr>
          <p:cNvPr id="18" name="Rounded Rectangle 17" descr="Variable à compléter. Carte 4 : Validation humaine finale"/>
          <p:cNvSpPr/>
          <p:nvPr/>
        </p:nvSpPr>
        <p:spPr>
          <a:xfrm>
            <a:off x="9029699" y="2331720"/>
            <a:ext cx="2601468" cy="169164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descr="Repère décoratif de section"/>
          <p:cNvSpPr/>
          <p:nvPr/>
        </p:nvSpPr>
        <p:spPr>
          <a:xfrm>
            <a:off x="9029699" y="2331720"/>
            <a:ext cx="2601468" cy="82296"/>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descr="Texte de la carte 4 : Validation humaine finale"/>
          <p:cNvSpPr txBox="1"/>
          <p:nvPr/>
        </p:nvSpPr>
        <p:spPr>
          <a:xfrm>
            <a:off x="9230867" y="2715768"/>
            <a:ext cx="2199132" cy="1143000"/>
          </a:xfrm>
          <a:prstGeom prst="rect">
            <a:avLst/>
          </a:prstGeom>
          <a:noFill/>
        </p:spPr>
        <p:txBody>
          <a:bodyPr wrap="square" lIns="0" rIns="0" tIns="0" bIns="0" anchor="t">
            <a:spAutoFit/>
          </a:bodyPr>
          <a:lstStyle/>
          <a:p>
            <a:pPr algn="l">
              <a:lnSpc>
                <a:spcPct val="112000"/>
              </a:lnSpc>
            </a:pPr>
            <a:r>
              <a:rPr sz="1550" b="0" i="0">
                <a:solidFill>
                  <a:srgbClr val="F2F6FC"/>
                </a:solidFill>
                <a:latin typeface="Arial"/>
              </a:rPr>
              <a:t>Validation humaine finale</a:t>
            </a:r>
          </a:p>
        </p:txBody>
      </p:sp>
      <p:sp>
        <p:nvSpPr>
          <p:cNvPr id="21" name="TextBox 20" descr="Numéro 4"/>
          <p:cNvSpPr txBox="1"/>
          <p:nvPr/>
        </p:nvSpPr>
        <p:spPr>
          <a:xfrm>
            <a:off x="9230867" y="3456432"/>
            <a:ext cx="658368" cy="365760"/>
          </a:xfrm>
          <a:prstGeom prst="rect">
            <a:avLst/>
          </a:prstGeom>
          <a:noFill/>
        </p:spPr>
        <p:txBody>
          <a:bodyPr wrap="square" lIns="0" rIns="0" tIns="0" bIns="0" anchor="t">
            <a:spAutoFit/>
          </a:bodyPr>
          <a:lstStyle/>
          <a:p>
            <a:pPr algn="l">
              <a:lnSpc>
                <a:spcPct val="112000"/>
              </a:lnSpc>
            </a:pPr>
            <a:r>
              <a:rPr sz="1500" b="1" i="0">
                <a:solidFill>
                  <a:srgbClr val="22D3EE"/>
                </a:solidFill>
                <a:latin typeface="Arial"/>
              </a:rPr>
              <a:t>04</a:t>
            </a:r>
          </a:p>
        </p:txBody>
      </p:sp>
      <p:sp>
        <p:nvSpPr>
          <p:cNvPr id="22" name="Rounded Rectangle 21" descr="Bandeau d'information : Version complète du prompt dans les notes du présentateur · validation humaine obligatoire."/>
          <p:cNvSpPr/>
          <p:nvPr/>
        </p:nvSpPr>
        <p:spPr>
          <a:xfrm>
            <a:off x="566928" y="5623560"/>
            <a:ext cx="11064240" cy="658368"/>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descr="Texte du bandeau : Version complète du prompt dans les notes du présentateur · validation humaine obligatoire."/>
          <p:cNvSpPr txBox="1"/>
          <p:nvPr/>
        </p:nvSpPr>
        <p:spPr>
          <a:xfrm>
            <a:off x="822960" y="5669280"/>
            <a:ext cx="10607040" cy="566928"/>
          </a:xfrm>
          <a:prstGeom prst="rect">
            <a:avLst/>
          </a:prstGeom>
          <a:noFill/>
        </p:spPr>
        <p:txBody>
          <a:bodyPr wrap="square" lIns="0" rIns="0" tIns="0" bIns="0" anchor="ctr">
            <a:spAutoFit/>
          </a:bodyPr>
          <a:lstStyle/>
          <a:p>
            <a:pPr algn="l">
              <a:lnSpc>
                <a:spcPct val="112000"/>
              </a:lnSpc>
            </a:pPr>
            <a:r>
              <a:rPr sz="1550" b="1" i="0">
                <a:solidFill>
                  <a:srgbClr val="22D3EE"/>
                </a:solidFill>
                <a:latin typeface="Arial"/>
              </a:rPr>
              <a:t>Version complète du prompt dans les notes du présentateur · validation humaine obligatoire.</a:t>
            </a:r>
          </a:p>
        </p:txBody>
      </p:sp>
      <p:sp>
        <p:nvSpPr>
          <p:cNvPr id="24" name="Rounded Rectangle 23" descr="Élément graphique décoratif, sans information propre"/>
          <p:cNvSpPr/>
          <p:nvPr/>
        </p:nvSpPr>
        <p:spPr>
          <a:xfrm>
            <a:off x="0" y="0"/>
            <a:ext cx="201168" cy="6858000"/>
          </a:xfrm>
          <a:prstGeom prst="round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descr="Référence de source affichée en pied de diapositive : Chapitre 20, rubrique « Prompt copiable »"/>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 20, rubrique « Prompt copiable »</a:t>
            </a:r>
          </a:p>
        </p:txBody>
      </p:sp>
      <p:sp>
        <p:nvSpPr>
          <p:cNvPr id="26" name="TextBox 25" descr="Numéro de diapositive 72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72 / 84  ·  2 min</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Bloc pratique · chapitre 25"/>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22D3EE"/>
                </a:solidFill>
                <a:latin typeface="Arial"/>
              </a:rPr>
              <a:t>BLOC PRATIQUE · CHAPITRE 25</a:t>
            </a:r>
          </a:p>
        </p:txBody>
      </p:sp>
      <p:sp>
        <p:nvSpPr>
          <p:cNvPr id="4" name="TextBox 3" descr="Titre : Prompt praticable · Audience, confiance, offre et vente"/>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2950" b="1" i="0">
                <a:solidFill>
                  <a:srgbClr val="F2F6FC"/>
                </a:solidFill>
                <a:latin typeface="Arial"/>
              </a:rPr>
              <a:t>Prompt praticable · Audience, confiance, offre et vente</a:t>
            </a:r>
          </a:p>
        </p:txBody>
      </p:sp>
      <p:sp>
        <p:nvSpPr>
          <p:cNvPr id="5" name="TextBox 4" descr="Sous-titre : Variables à compléter avant la demande"/>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600" b="1" i="0">
                <a:solidFill>
                  <a:srgbClr val="22D3EE"/>
                </a:solidFill>
                <a:latin typeface="Arial"/>
              </a:rPr>
              <a:t>Variables à compléter avant la demande</a:t>
            </a:r>
          </a:p>
        </p:txBody>
      </p:sp>
      <p:sp>
        <p:nvSpPr>
          <p:cNvPr id="6" name="Rounded Rectangle 5" descr="Variable à compléter. Carte 1 : Contexte réel et pays"/>
          <p:cNvSpPr/>
          <p:nvPr/>
        </p:nvSpPr>
        <p:spPr>
          <a:xfrm>
            <a:off x="566928" y="2331720"/>
            <a:ext cx="2601468" cy="169164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de section"/>
          <p:cNvSpPr/>
          <p:nvPr/>
        </p:nvSpPr>
        <p:spPr>
          <a:xfrm>
            <a:off x="566928" y="2331720"/>
            <a:ext cx="2601468" cy="82296"/>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Texte de la carte 1 : Contexte réel et pays"/>
          <p:cNvSpPr txBox="1"/>
          <p:nvPr/>
        </p:nvSpPr>
        <p:spPr>
          <a:xfrm>
            <a:off x="768096" y="2715768"/>
            <a:ext cx="2199132" cy="1143000"/>
          </a:xfrm>
          <a:prstGeom prst="rect">
            <a:avLst/>
          </a:prstGeom>
          <a:noFill/>
        </p:spPr>
        <p:txBody>
          <a:bodyPr wrap="square" lIns="0" rIns="0" tIns="0" bIns="0" anchor="t">
            <a:spAutoFit/>
          </a:bodyPr>
          <a:lstStyle/>
          <a:p>
            <a:pPr algn="l">
              <a:lnSpc>
                <a:spcPct val="112000"/>
              </a:lnSpc>
            </a:pPr>
            <a:r>
              <a:rPr sz="1550" b="0" i="0">
                <a:solidFill>
                  <a:srgbClr val="F2F6FC"/>
                </a:solidFill>
                <a:latin typeface="Arial"/>
              </a:rPr>
              <a:t>Contexte réel et pays</a:t>
            </a:r>
          </a:p>
        </p:txBody>
      </p:sp>
      <p:sp>
        <p:nvSpPr>
          <p:cNvPr id="9" name="TextBox 8" descr="Numéro 1"/>
          <p:cNvSpPr txBox="1"/>
          <p:nvPr/>
        </p:nvSpPr>
        <p:spPr>
          <a:xfrm>
            <a:off x="768096" y="3456432"/>
            <a:ext cx="658368" cy="365760"/>
          </a:xfrm>
          <a:prstGeom prst="rect">
            <a:avLst/>
          </a:prstGeom>
          <a:noFill/>
        </p:spPr>
        <p:txBody>
          <a:bodyPr wrap="square" lIns="0" rIns="0" tIns="0" bIns="0" anchor="t">
            <a:spAutoFit/>
          </a:bodyPr>
          <a:lstStyle/>
          <a:p>
            <a:pPr algn="l">
              <a:lnSpc>
                <a:spcPct val="112000"/>
              </a:lnSpc>
            </a:pPr>
            <a:r>
              <a:rPr sz="1500" b="1" i="0">
                <a:solidFill>
                  <a:srgbClr val="22D3EE"/>
                </a:solidFill>
                <a:latin typeface="Arial"/>
              </a:rPr>
              <a:t>01</a:t>
            </a:r>
          </a:p>
        </p:txBody>
      </p:sp>
      <p:sp>
        <p:nvSpPr>
          <p:cNvPr id="10" name="Rounded Rectangle 9" descr="Variable à compléter. Carte 2 : Sources et droits connus"/>
          <p:cNvSpPr/>
          <p:nvPr/>
        </p:nvSpPr>
        <p:spPr>
          <a:xfrm>
            <a:off x="3387852" y="2331720"/>
            <a:ext cx="2601468" cy="169164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de section"/>
          <p:cNvSpPr/>
          <p:nvPr/>
        </p:nvSpPr>
        <p:spPr>
          <a:xfrm>
            <a:off x="3387852" y="2331720"/>
            <a:ext cx="2601468" cy="82296"/>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Texte de la carte 2 : Sources et droits connus"/>
          <p:cNvSpPr txBox="1"/>
          <p:nvPr/>
        </p:nvSpPr>
        <p:spPr>
          <a:xfrm>
            <a:off x="3589020" y="2715768"/>
            <a:ext cx="2199132" cy="1143000"/>
          </a:xfrm>
          <a:prstGeom prst="rect">
            <a:avLst/>
          </a:prstGeom>
          <a:noFill/>
        </p:spPr>
        <p:txBody>
          <a:bodyPr wrap="square" lIns="0" rIns="0" tIns="0" bIns="0" anchor="t">
            <a:spAutoFit/>
          </a:bodyPr>
          <a:lstStyle/>
          <a:p>
            <a:pPr algn="l">
              <a:lnSpc>
                <a:spcPct val="112000"/>
              </a:lnSpc>
            </a:pPr>
            <a:r>
              <a:rPr sz="1550" b="0" i="0">
                <a:solidFill>
                  <a:srgbClr val="F2F6FC"/>
                </a:solidFill>
                <a:latin typeface="Arial"/>
              </a:rPr>
              <a:t>Sources et droits connus</a:t>
            </a:r>
          </a:p>
        </p:txBody>
      </p:sp>
      <p:sp>
        <p:nvSpPr>
          <p:cNvPr id="13" name="TextBox 12" descr="Numéro 2"/>
          <p:cNvSpPr txBox="1"/>
          <p:nvPr/>
        </p:nvSpPr>
        <p:spPr>
          <a:xfrm>
            <a:off x="3589020" y="3456432"/>
            <a:ext cx="658368" cy="365760"/>
          </a:xfrm>
          <a:prstGeom prst="rect">
            <a:avLst/>
          </a:prstGeom>
          <a:noFill/>
        </p:spPr>
        <p:txBody>
          <a:bodyPr wrap="square" lIns="0" rIns="0" tIns="0" bIns="0" anchor="t">
            <a:spAutoFit/>
          </a:bodyPr>
          <a:lstStyle/>
          <a:p>
            <a:pPr algn="l">
              <a:lnSpc>
                <a:spcPct val="112000"/>
              </a:lnSpc>
            </a:pPr>
            <a:r>
              <a:rPr sz="1500" b="1" i="0">
                <a:solidFill>
                  <a:srgbClr val="22D3EE"/>
                </a:solidFill>
                <a:latin typeface="Arial"/>
              </a:rPr>
              <a:t>02</a:t>
            </a:r>
          </a:p>
        </p:txBody>
      </p:sp>
      <p:sp>
        <p:nvSpPr>
          <p:cNvPr id="14" name="Rounded Rectangle 13" descr="Variable à compléter. Carte 3 : Format de sortie demandé"/>
          <p:cNvSpPr/>
          <p:nvPr/>
        </p:nvSpPr>
        <p:spPr>
          <a:xfrm>
            <a:off x="6208776" y="2331720"/>
            <a:ext cx="2601468" cy="169164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Repère décoratif de section"/>
          <p:cNvSpPr/>
          <p:nvPr/>
        </p:nvSpPr>
        <p:spPr>
          <a:xfrm>
            <a:off x="6208776" y="2331720"/>
            <a:ext cx="2601468" cy="82296"/>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Texte de la carte 3 : Format de sortie demandé"/>
          <p:cNvSpPr txBox="1"/>
          <p:nvPr/>
        </p:nvSpPr>
        <p:spPr>
          <a:xfrm>
            <a:off x="6409944" y="2715768"/>
            <a:ext cx="2199132" cy="1143000"/>
          </a:xfrm>
          <a:prstGeom prst="rect">
            <a:avLst/>
          </a:prstGeom>
          <a:noFill/>
        </p:spPr>
        <p:txBody>
          <a:bodyPr wrap="square" lIns="0" rIns="0" tIns="0" bIns="0" anchor="t">
            <a:spAutoFit/>
          </a:bodyPr>
          <a:lstStyle/>
          <a:p>
            <a:pPr algn="l">
              <a:lnSpc>
                <a:spcPct val="112000"/>
              </a:lnSpc>
            </a:pPr>
            <a:r>
              <a:rPr sz="1550" b="0" i="0">
                <a:solidFill>
                  <a:srgbClr val="F2F6FC"/>
                </a:solidFill>
                <a:latin typeface="Arial"/>
              </a:rPr>
              <a:t>Format de sortie demandé</a:t>
            </a:r>
          </a:p>
        </p:txBody>
      </p:sp>
      <p:sp>
        <p:nvSpPr>
          <p:cNvPr id="17" name="TextBox 16" descr="Numéro 3"/>
          <p:cNvSpPr txBox="1"/>
          <p:nvPr/>
        </p:nvSpPr>
        <p:spPr>
          <a:xfrm>
            <a:off x="6409944" y="3456432"/>
            <a:ext cx="658368" cy="365760"/>
          </a:xfrm>
          <a:prstGeom prst="rect">
            <a:avLst/>
          </a:prstGeom>
          <a:noFill/>
        </p:spPr>
        <p:txBody>
          <a:bodyPr wrap="square" lIns="0" rIns="0" tIns="0" bIns="0" anchor="t">
            <a:spAutoFit/>
          </a:bodyPr>
          <a:lstStyle/>
          <a:p>
            <a:pPr algn="l">
              <a:lnSpc>
                <a:spcPct val="112000"/>
              </a:lnSpc>
            </a:pPr>
            <a:r>
              <a:rPr sz="1500" b="1" i="0">
                <a:solidFill>
                  <a:srgbClr val="22D3EE"/>
                </a:solidFill>
                <a:latin typeface="Arial"/>
              </a:rPr>
              <a:t>03</a:t>
            </a:r>
          </a:p>
        </p:txBody>
      </p:sp>
      <p:sp>
        <p:nvSpPr>
          <p:cNvPr id="18" name="Rounded Rectangle 17" descr="Variable à compléter. Carte 4 : Validation humaine finale"/>
          <p:cNvSpPr/>
          <p:nvPr/>
        </p:nvSpPr>
        <p:spPr>
          <a:xfrm>
            <a:off x="9029699" y="2331720"/>
            <a:ext cx="2601468" cy="169164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descr="Repère décoratif de section"/>
          <p:cNvSpPr/>
          <p:nvPr/>
        </p:nvSpPr>
        <p:spPr>
          <a:xfrm>
            <a:off x="9029699" y="2331720"/>
            <a:ext cx="2601468" cy="82296"/>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descr="Texte de la carte 4 : Validation humaine finale"/>
          <p:cNvSpPr txBox="1"/>
          <p:nvPr/>
        </p:nvSpPr>
        <p:spPr>
          <a:xfrm>
            <a:off x="9230867" y="2715768"/>
            <a:ext cx="2199132" cy="1143000"/>
          </a:xfrm>
          <a:prstGeom prst="rect">
            <a:avLst/>
          </a:prstGeom>
          <a:noFill/>
        </p:spPr>
        <p:txBody>
          <a:bodyPr wrap="square" lIns="0" rIns="0" tIns="0" bIns="0" anchor="t">
            <a:spAutoFit/>
          </a:bodyPr>
          <a:lstStyle/>
          <a:p>
            <a:pPr algn="l">
              <a:lnSpc>
                <a:spcPct val="112000"/>
              </a:lnSpc>
            </a:pPr>
            <a:r>
              <a:rPr sz="1550" b="0" i="0">
                <a:solidFill>
                  <a:srgbClr val="F2F6FC"/>
                </a:solidFill>
                <a:latin typeface="Arial"/>
              </a:rPr>
              <a:t>Validation humaine finale</a:t>
            </a:r>
          </a:p>
        </p:txBody>
      </p:sp>
      <p:sp>
        <p:nvSpPr>
          <p:cNvPr id="21" name="TextBox 20" descr="Numéro 4"/>
          <p:cNvSpPr txBox="1"/>
          <p:nvPr/>
        </p:nvSpPr>
        <p:spPr>
          <a:xfrm>
            <a:off x="9230867" y="3456432"/>
            <a:ext cx="658368" cy="365760"/>
          </a:xfrm>
          <a:prstGeom prst="rect">
            <a:avLst/>
          </a:prstGeom>
          <a:noFill/>
        </p:spPr>
        <p:txBody>
          <a:bodyPr wrap="square" lIns="0" rIns="0" tIns="0" bIns="0" anchor="t">
            <a:spAutoFit/>
          </a:bodyPr>
          <a:lstStyle/>
          <a:p>
            <a:pPr algn="l">
              <a:lnSpc>
                <a:spcPct val="112000"/>
              </a:lnSpc>
            </a:pPr>
            <a:r>
              <a:rPr sz="1500" b="1" i="0">
                <a:solidFill>
                  <a:srgbClr val="22D3EE"/>
                </a:solidFill>
                <a:latin typeface="Arial"/>
              </a:rPr>
              <a:t>04</a:t>
            </a:r>
          </a:p>
        </p:txBody>
      </p:sp>
      <p:sp>
        <p:nvSpPr>
          <p:cNvPr id="22" name="Rounded Rectangle 21" descr="Bandeau d'information : Version complète du prompt dans les notes du présentateur · validation humaine obligatoire."/>
          <p:cNvSpPr/>
          <p:nvPr/>
        </p:nvSpPr>
        <p:spPr>
          <a:xfrm>
            <a:off x="566928" y="5623560"/>
            <a:ext cx="11064240" cy="658368"/>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descr="Texte du bandeau : Version complète du prompt dans les notes du présentateur · validation humaine obligatoire."/>
          <p:cNvSpPr txBox="1"/>
          <p:nvPr/>
        </p:nvSpPr>
        <p:spPr>
          <a:xfrm>
            <a:off x="822960" y="5669280"/>
            <a:ext cx="10607040" cy="566928"/>
          </a:xfrm>
          <a:prstGeom prst="rect">
            <a:avLst/>
          </a:prstGeom>
          <a:noFill/>
        </p:spPr>
        <p:txBody>
          <a:bodyPr wrap="square" lIns="0" rIns="0" tIns="0" bIns="0" anchor="ctr">
            <a:spAutoFit/>
          </a:bodyPr>
          <a:lstStyle/>
          <a:p>
            <a:pPr algn="l">
              <a:lnSpc>
                <a:spcPct val="112000"/>
              </a:lnSpc>
            </a:pPr>
            <a:r>
              <a:rPr sz="1550" b="1" i="0">
                <a:solidFill>
                  <a:srgbClr val="22D3EE"/>
                </a:solidFill>
                <a:latin typeface="Arial"/>
              </a:rPr>
              <a:t>Version complète du prompt dans les notes du présentateur · validation humaine obligatoire.</a:t>
            </a:r>
          </a:p>
        </p:txBody>
      </p:sp>
      <p:sp>
        <p:nvSpPr>
          <p:cNvPr id="24" name="Rounded Rectangle 23" descr="Élément graphique décoratif, sans information propre"/>
          <p:cNvSpPr/>
          <p:nvPr/>
        </p:nvSpPr>
        <p:spPr>
          <a:xfrm>
            <a:off x="0" y="0"/>
            <a:ext cx="201168" cy="6858000"/>
          </a:xfrm>
          <a:prstGeom prst="round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descr="Référence de source affichée en pied de diapositive : Chapitre 25, rubrique « Prompt copiable »"/>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 25, rubrique « Prompt copiable »</a:t>
            </a:r>
          </a:p>
        </p:txBody>
      </p:sp>
      <p:sp>
        <p:nvSpPr>
          <p:cNvPr id="26" name="TextBox 25" descr="Numéro de diapositive 73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73 / 84  ·  2 min</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descr="Élément graphique décoratif, sans information propr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descr="Bandeau supérieur de partie"/>
          <p:cNvSpPr/>
          <p:nvPr/>
        </p:nvSpPr>
        <p:spPr>
          <a:xfrm>
            <a:off x="0" y="0"/>
            <a:ext cx="12191695" cy="256032"/>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descr="Titre de section : BLOC VÉRIFICATION"/>
          <p:cNvSpPr txBox="1"/>
          <p:nvPr/>
        </p:nvSpPr>
        <p:spPr>
          <a:xfrm>
            <a:off x="822960" y="2148840"/>
            <a:ext cx="8357616" cy="1097280"/>
          </a:xfrm>
          <a:prstGeom prst="rect">
            <a:avLst/>
          </a:prstGeom>
          <a:noFill/>
        </p:spPr>
        <p:txBody>
          <a:bodyPr wrap="square" lIns="0" rIns="0" tIns="0" bIns="0" anchor="t">
            <a:spAutoFit/>
          </a:bodyPr>
          <a:lstStyle/>
          <a:p>
            <a:pPr algn="l">
              <a:lnSpc>
                <a:spcPct val="106000"/>
              </a:lnSpc>
            </a:pPr>
            <a:r>
              <a:rPr sz="5600" b="1" i="0">
                <a:solidFill>
                  <a:srgbClr val="F2F6FC"/>
                </a:solidFill>
                <a:latin typeface="Arial"/>
              </a:rPr>
              <a:t>BLOC VÉRIFICATION</a:t>
            </a:r>
          </a:p>
        </p:txBody>
      </p:sp>
      <p:sp>
        <p:nvSpPr>
          <p:cNvPr id="6" name="TextBox 5" descr="Sous-titre de section : CE QUI CHANGE VITE DOIT ÊTRE RECONTRÔLÉ"/>
          <p:cNvSpPr txBox="1"/>
          <p:nvPr/>
        </p:nvSpPr>
        <p:spPr>
          <a:xfrm>
            <a:off x="822960" y="3291840"/>
            <a:ext cx="10058400" cy="1463040"/>
          </a:xfrm>
          <a:prstGeom prst="rect">
            <a:avLst/>
          </a:prstGeom>
          <a:noFill/>
        </p:spPr>
        <p:txBody>
          <a:bodyPr wrap="square" lIns="0" rIns="0" tIns="0" bIns="0" anchor="t">
            <a:spAutoFit/>
          </a:bodyPr>
          <a:lstStyle/>
          <a:p>
            <a:pPr algn="l">
              <a:lnSpc>
                <a:spcPct val="112000"/>
              </a:lnSpc>
            </a:pPr>
            <a:r>
              <a:rPr sz="3000" b="1" i="0">
                <a:solidFill>
                  <a:srgbClr val="94A3B8"/>
                </a:solidFill>
                <a:latin typeface="Arial"/>
              </a:rPr>
              <a:t>CE QUI CHANGE VITE DOIT ÊTRE RECONTRÔLÉ</a:t>
            </a:r>
          </a:p>
        </p:txBody>
      </p:sp>
      <p:sp>
        <p:nvSpPr>
          <p:cNvPr id="7" name="Rounded Rectangle 6" descr="Élément graphique décoratif, sans information propre"/>
          <p:cNvSpPr/>
          <p:nvPr/>
        </p:nvSpPr>
        <p:spPr>
          <a:xfrm>
            <a:off x="0" y="0"/>
            <a:ext cx="201168" cy="6858000"/>
          </a:xfrm>
          <a:prstGeom prst="round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Référence de source affichée en pied de diapositive : Sources officielles [T1][T2][Y1][Y2][G1]"/>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Sources officielles [T1][T2][Y1][Y2][G1]</a:t>
            </a:r>
          </a:p>
        </p:txBody>
      </p:sp>
      <p:sp>
        <p:nvSpPr>
          <p:cNvPr id="9" name="TextBox 8" descr="Numéro de diapositive 74 sur 84, durée prévue 1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74 / 84  ·  1 min</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Vérification officielle · chapitre 26"/>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34D399"/>
                </a:solidFill>
                <a:latin typeface="Arial"/>
              </a:rPr>
              <a:t>VÉRIFICATION OFFICIELLE · CHAPITRE 26</a:t>
            </a:r>
          </a:p>
        </p:txBody>
      </p:sp>
      <p:sp>
        <p:nvSpPr>
          <p:cNvPr id="4" name="TextBox 3" descr="Titre : Creator Rewards : conditions, pas promesse"/>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200" b="1" i="0">
                <a:solidFill>
                  <a:srgbClr val="F2F6FC"/>
                </a:solidFill>
                <a:latin typeface="Arial"/>
              </a:rPr>
              <a:t>Creator Rewards : conditions, pas promesse</a:t>
            </a:r>
          </a:p>
        </p:txBody>
      </p:sp>
      <p:sp>
        <p:nvSpPr>
          <p:cNvPr id="5" name="TextBox 4" descr="Sous-titre : Repères généraux · vérifiés le 28 septembre 2026"/>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600" b="1" i="0">
                <a:solidFill>
                  <a:srgbClr val="34D399"/>
                </a:solidFill>
                <a:latin typeface="Arial"/>
              </a:rPr>
              <a:t>Repères généraux · vérifiés le 28 septembre 2026</a:t>
            </a:r>
          </a:p>
        </p:txBody>
      </p:sp>
      <p:sp>
        <p:nvSpPr>
          <p:cNvPr id="6" name="Rounded Rectangle 5" descr="Point 1 : Compte personnel en règle ; pays admissible"/>
          <p:cNvSpPr/>
          <p:nvPr/>
        </p:nvSpPr>
        <p:spPr>
          <a:xfrm>
            <a:off x="566928" y="2286000"/>
            <a:ext cx="11064240" cy="658368"/>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de section"/>
          <p:cNvSpPr/>
          <p:nvPr/>
        </p:nvSpPr>
        <p:spPr>
          <a:xfrm>
            <a:off x="566928" y="2286000"/>
            <a:ext cx="64008" cy="65836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Numéro d'étape 1"/>
          <p:cNvSpPr txBox="1"/>
          <p:nvPr/>
        </p:nvSpPr>
        <p:spPr>
          <a:xfrm>
            <a:off x="841247" y="2340864"/>
            <a:ext cx="822960" cy="548640"/>
          </a:xfrm>
          <a:prstGeom prst="rect">
            <a:avLst/>
          </a:prstGeom>
          <a:noFill/>
        </p:spPr>
        <p:txBody>
          <a:bodyPr wrap="square" lIns="0" rIns="0" tIns="0" bIns="0" anchor="ctr">
            <a:spAutoFit/>
          </a:bodyPr>
          <a:lstStyle/>
          <a:p>
            <a:pPr algn="l">
              <a:lnSpc>
                <a:spcPct val="112000"/>
              </a:lnSpc>
            </a:pPr>
            <a:r>
              <a:rPr sz="2400" b="1" i="0">
                <a:solidFill>
                  <a:srgbClr val="34D399"/>
                </a:solidFill>
                <a:latin typeface="Arial"/>
              </a:rPr>
              <a:t>01</a:t>
            </a:r>
          </a:p>
        </p:txBody>
      </p:sp>
      <p:sp>
        <p:nvSpPr>
          <p:cNvPr id="9" name="TextBox 8" descr="Texte du point 1 : Compte personnel en règle ; pays admissible"/>
          <p:cNvSpPr txBox="1"/>
          <p:nvPr/>
        </p:nvSpPr>
        <p:spPr>
          <a:xfrm>
            <a:off x="1755648" y="2340864"/>
            <a:ext cx="9646919" cy="548640"/>
          </a:xfrm>
          <a:prstGeom prst="rect">
            <a:avLst/>
          </a:prstGeom>
          <a:noFill/>
        </p:spPr>
        <p:txBody>
          <a:bodyPr wrap="square" lIns="0" rIns="0" tIns="0" bIns="0" anchor="ctr">
            <a:spAutoFit/>
          </a:bodyPr>
          <a:lstStyle/>
          <a:p>
            <a:pPr algn="l">
              <a:lnSpc>
                <a:spcPct val="112000"/>
              </a:lnSpc>
            </a:pPr>
            <a:r>
              <a:rPr sz="1550" b="0" i="0">
                <a:solidFill>
                  <a:srgbClr val="F2F6FC"/>
                </a:solidFill>
                <a:latin typeface="Arial"/>
              </a:rPr>
              <a:t>Compte personnel en règle ; pays admissible</a:t>
            </a:r>
          </a:p>
        </p:txBody>
      </p:sp>
      <p:sp>
        <p:nvSpPr>
          <p:cNvPr id="10" name="Rounded Rectangle 9" descr="Point 2 : 18 ans ou plus (19 en Corée du Sud)"/>
          <p:cNvSpPr/>
          <p:nvPr/>
        </p:nvSpPr>
        <p:spPr>
          <a:xfrm>
            <a:off x="566928" y="3063240"/>
            <a:ext cx="11064240" cy="658368"/>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de section"/>
          <p:cNvSpPr/>
          <p:nvPr/>
        </p:nvSpPr>
        <p:spPr>
          <a:xfrm>
            <a:off x="566928" y="3063240"/>
            <a:ext cx="64008" cy="65836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Numéro d'étape 2"/>
          <p:cNvSpPr txBox="1"/>
          <p:nvPr/>
        </p:nvSpPr>
        <p:spPr>
          <a:xfrm>
            <a:off x="841247" y="3118104"/>
            <a:ext cx="822960" cy="548640"/>
          </a:xfrm>
          <a:prstGeom prst="rect">
            <a:avLst/>
          </a:prstGeom>
          <a:noFill/>
        </p:spPr>
        <p:txBody>
          <a:bodyPr wrap="square" lIns="0" rIns="0" tIns="0" bIns="0" anchor="ctr">
            <a:spAutoFit/>
          </a:bodyPr>
          <a:lstStyle/>
          <a:p>
            <a:pPr algn="l">
              <a:lnSpc>
                <a:spcPct val="112000"/>
              </a:lnSpc>
            </a:pPr>
            <a:r>
              <a:rPr sz="2400" b="1" i="0">
                <a:solidFill>
                  <a:srgbClr val="34D399"/>
                </a:solidFill>
                <a:latin typeface="Arial"/>
              </a:rPr>
              <a:t>02</a:t>
            </a:r>
          </a:p>
        </p:txBody>
      </p:sp>
      <p:sp>
        <p:nvSpPr>
          <p:cNvPr id="13" name="TextBox 12" descr="Texte du point 2 : 18 ans ou plus (19 en Corée du Sud)"/>
          <p:cNvSpPr txBox="1"/>
          <p:nvPr/>
        </p:nvSpPr>
        <p:spPr>
          <a:xfrm>
            <a:off x="1755648" y="3118104"/>
            <a:ext cx="9646919" cy="548640"/>
          </a:xfrm>
          <a:prstGeom prst="rect">
            <a:avLst/>
          </a:prstGeom>
          <a:noFill/>
        </p:spPr>
        <p:txBody>
          <a:bodyPr wrap="square" lIns="0" rIns="0" tIns="0" bIns="0" anchor="ctr">
            <a:spAutoFit/>
          </a:bodyPr>
          <a:lstStyle/>
          <a:p>
            <a:pPr algn="l">
              <a:lnSpc>
                <a:spcPct val="112000"/>
              </a:lnSpc>
            </a:pPr>
            <a:r>
              <a:rPr sz="1550" b="0" i="0">
                <a:solidFill>
                  <a:srgbClr val="F2F6FC"/>
                </a:solidFill>
                <a:latin typeface="Arial"/>
              </a:rPr>
              <a:t>18 ans ou plus (19 en Corée du Sud)</a:t>
            </a:r>
          </a:p>
        </p:txBody>
      </p:sp>
      <p:sp>
        <p:nvSpPr>
          <p:cNvPr id="14" name="Rounded Rectangle 13" descr="Point 3 : 10 000 abonnés et 100 000 vues / 30 jours"/>
          <p:cNvSpPr/>
          <p:nvPr/>
        </p:nvSpPr>
        <p:spPr>
          <a:xfrm>
            <a:off x="566928" y="3840480"/>
            <a:ext cx="11064240" cy="658368"/>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Repère décoratif de section"/>
          <p:cNvSpPr/>
          <p:nvPr/>
        </p:nvSpPr>
        <p:spPr>
          <a:xfrm>
            <a:off x="566928" y="3840480"/>
            <a:ext cx="64008" cy="65836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Numéro d'étape 3"/>
          <p:cNvSpPr txBox="1"/>
          <p:nvPr/>
        </p:nvSpPr>
        <p:spPr>
          <a:xfrm>
            <a:off x="841247" y="3895344"/>
            <a:ext cx="822960" cy="548640"/>
          </a:xfrm>
          <a:prstGeom prst="rect">
            <a:avLst/>
          </a:prstGeom>
          <a:noFill/>
        </p:spPr>
        <p:txBody>
          <a:bodyPr wrap="square" lIns="0" rIns="0" tIns="0" bIns="0" anchor="ctr">
            <a:spAutoFit/>
          </a:bodyPr>
          <a:lstStyle/>
          <a:p>
            <a:pPr algn="l">
              <a:lnSpc>
                <a:spcPct val="112000"/>
              </a:lnSpc>
            </a:pPr>
            <a:r>
              <a:rPr sz="2400" b="1" i="0">
                <a:solidFill>
                  <a:srgbClr val="34D399"/>
                </a:solidFill>
                <a:latin typeface="Arial"/>
              </a:rPr>
              <a:t>03</a:t>
            </a:r>
          </a:p>
        </p:txBody>
      </p:sp>
      <p:sp>
        <p:nvSpPr>
          <p:cNvPr id="17" name="TextBox 16" descr="Texte du point 3 : 10 000 abonnés et 100 000 vues / 30 jours"/>
          <p:cNvSpPr txBox="1"/>
          <p:nvPr/>
        </p:nvSpPr>
        <p:spPr>
          <a:xfrm>
            <a:off x="1755648" y="3895344"/>
            <a:ext cx="9646919" cy="548640"/>
          </a:xfrm>
          <a:prstGeom prst="rect">
            <a:avLst/>
          </a:prstGeom>
          <a:noFill/>
        </p:spPr>
        <p:txBody>
          <a:bodyPr wrap="square" lIns="0" rIns="0" tIns="0" bIns="0" anchor="ctr">
            <a:spAutoFit/>
          </a:bodyPr>
          <a:lstStyle/>
          <a:p>
            <a:pPr algn="l">
              <a:lnSpc>
                <a:spcPct val="112000"/>
              </a:lnSpc>
            </a:pPr>
            <a:r>
              <a:rPr sz="1550" b="0" i="0">
                <a:solidFill>
                  <a:srgbClr val="F2F6FC"/>
                </a:solidFill>
                <a:latin typeface="Arial"/>
              </a:rPr>
              <a:t>10 000 abonnés et 100 000 vues / 30 jours</a:t>
            </a:r>
          </a:p>
        </p:txBody>
      </p:sp>
      <p:sp>
        <p:nvSpPr>
          <p:cNvPr id="18" name="Rounded Rectangle 17" descr="Point 4 : Vidéos originales d’au moins une minute"/>
          <p:cNvSpPr/>
          <p:nvPr/>
        </p:nvSpPr>
        <p:spPr>
          <a:xfrm>
            <a:off x="566928" y="4617720"/>
            <a:ext cx="11064240" cy="658368"/>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descr="Repère décoratif de section"/>
          <p:cNvSpPr/>
          <p:nvPr/>
        </p:nvSpPr>
        <p:spPr>
          <a:xfrm>
            <a:off x="566928" y="4617720"/>
            <a:ext cx="64008" cy="65836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descr="Numéro d'étape 4"/>
          <p:cNvSpPr txBox="1"/>
          <p:nvPr/>
        </p:nvSpPr>
        <p:spPr>
          <a:xfrm>
            <a:off x="841247" y="4672584"/>
            <a:ext cx="822960" cy="548640"/>
          </a:xfrm>
          <a:prstGeom prst="rect">
            <a:avLst/>
          </a:prstGeom>
          <a:noFill/>
        </p:spPr>
        <p:txBody>
          <a:bodyPr wrap="square" lIns="0" rIns="0" tIns="0" bIns="0" anchor="ctr">
            <a:spAutoFit/>
          </a:bodyPr>
          <a:lstStyle/>
          <a:p>
            <a:pPr algn="l">
              <a:lnSpc>
                <a:spcPct val="112000"/>
              </a:lnSpc>
            </a:pPr>
            <a:r>
              <a:rPr sz="2400" b="1" i="0">
                <a:solidFill>
                  <a:srgbClr val="34D399"/>
                </a:solidFill>
                <a:latin typeface="Arial"/>
              </a:rPr>
              <a:t>04</a:t>
            </a:r>
          </a:p>
        </p:txBody>
      </p:sp>
      <p:sp>
        <p:nvSpPr>
          <p:cNvPr id="21" name="TextBox 20" descr="Texte du point 4 : Vidéos originales d’au moins une minute"/>
          <p:cNvSpPr txBox="1"/>
          <p:nvPr/>
        </p:nvSpPr>
        <p:spPr>
          <a:xfrm>
            <a:off x="1755648" y="4672583"/>
            <a:ext cx="9646919" cy="548640"/>
          </a:xfrm>
          <a:prstGeom prst="rect">
            <a:avLst/>
          </a:prstGeom>
          <a:noFill/>
        </p:spPr>
        <p:txBody>
          <a:bodyPr wrap="square" lIns="0" rIns="0" tIns="0" bIns="0" anchor="ctr">
            <a:spAutoFit/>
          </a:bodyPr>
          <a:lstStyle/>
          <a:p>
            <a:pPr algn="l">
              <a:lnSpc>
                <a:spcPct val="112000"/>
              </a:lnSpc>
            </a:pPr>
            <a:r>
              <a:rPr sz="1550" b="0" i="0">
                <a:solidFill>
                  <a:srgbClr val="F2F6FC"/>
                </a:solidFill>
                <a:latin typeface="Arial"/>
              </a:rPr>
              <a:t>Vidéos originales d’au moins une minute</a:t>
            </a:r>
          </a:p>
        </p:txBody>
      </p:sp>
      <p:sp>
        <p:nvSpPr>
          <p:cNvPr id="22" name="Rounded Rectangle 21" descr="Élément graphique décoratif, sans information propre"/>
          <p:cNvSpPr/>
          <p:nvPr/>
        </p:nvSpPr>
        <p:spPr>
          <a:xfrm>
            <a:off x="0" y="0"/>
            <a:ext cx="201168" cy="6858000"/>
          </a:xfrm>
          <a:prstGeom prst="round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descr="Référence de source affichée en pied de diapositive : TikTok, Creator Rewards Program [T1]"/>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TikTok, Creator Rewards Program [T1]</a:t>
            </a:r>
          </a:p>
        </p:txBody>
      </p:sp>
      <p:sp>
        <p:nvSpPr>
          <p:cNvPr id="24" name="TextBox 23" descr="Numéro de diapositive 75 sur 84, durée prévue 3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75 / 84  ·  3 min</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Vérification officielle · chapitre 33"/>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34D399"/>
                </a:solidFill>
                <a:latin typeface="Arial"/>
              </a:rPr>
              <a:t>VÉRIFICATION OFFICIELLE · CHAPITRE 33</a:t>
            </a:r>
          </a:p>
        </p:txBody>
      </p:sp>
      <p:sp>
        <p:nvSpPr>
          <p:cNvPr id="4" name="TextBox 3" descr="Titre : TikTok : estimé ≠ encaissé"/>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200" b="1" i="0">
                <a:solidFill>
                  <a:srgbClr val="F2F6FC"/>
                </a:solidFill>
                <a:latin typeface="Arial"/>
              </a:rPr>
              <a:t>TikTok : estimé ≠ encaissé</a:t>
            </a:r>
          </a:p>
        </p:txBody>
      </p:sp>
      <p:sp>
        <p:nvSpPr>
          <p:cNvPr id="5" name="TextBox 4" descr="Sous-titre : Repères généraux · vérifiés le 28 septembre 2026"/>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600" b="1" i="0">
                <a:solidFill>
                  <a:srgbClr val="34D399"/>
                </a:solidFill>
                <a:latin typeface="Arial"/>
              </a:rPr>
              <a:t>Repères généraux · vérifiés le 28 septembre 2026</a:t>
            </a:r>
          </a:p>
        </p:txBody>
      </p:sp>
      <p:sp>
        <p:nvSpPr>
          <p:cNvPr id="6" name="Rounded Rectangle 5" descr="Point 1 : Vues qualifiées et règles du programme"/>
          <p:cNvSpPr/>
          <p:nvPr/>
        </p:nvSpPr>
        <p:spPr>
          <a:xfrm>
            <a:off x="566928" y="2286000"/>
            <a:ext cx="11064240" cy="658368"/>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de section"/>
          <p:cNvSpPr/>
          <p:nvPr/>
        </p:nvSpPr>
        <p:spPr>
          <a:xfrm>
            <a:off x="566928" y="2286000"/>
            <a:ext cx="64008" cy="65836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Numéro d'étape 1"/>
          <p:cNvSpPr txBox="1"/>
          <p:nvPr/>
        </p:nvSpPr>
        <p:spPr>
          <a:xfrm>
            <a:off x="841247" y="2340864"/>
            <a:ext cx="822960" cy="548640"/>
          </a:xfrm>
          <a:prstGeom prst="rect">
            <a:avLst/>
          </a:prstGeom>
          <a:noFill/>
        </p:spPr>
        <p:txBody>
          <a:bodyPr wrap="square" lIns="0" rIns="0" tIns="0" bIns="0" anchor="ctr">
            <a:spAutoFit/>
          </a:bodyPr>
          <a:lstStyle/>
          <a:p>
            <a:pPr algn="l">
              <a:lnSpc>
                <a:spcPct val="112000"/>
              </a:lnSpc>
            </a:pPr>
            <a:r>
              <a:rPr sz="2400" b="1" i="0">
                <a:solidFill>
                  <a:srgbClr val="34D399"/>
                </a:solidFill>
                <a:latin typeface="Arial"/>
              </a:rPr>
              <a:t>01</a:t>
            </a:r>
          </a:p>
        </p:txBody>
      </p:sp>
      <p:sp>
        <p:nvSpPr>
          <p:cNvPr id="9" name="TextBox 8" descr="Texte du point 1 : Vues qualifiées et règles du programme"/>
          <p:cNvSpPr txBox="1"/>
          <p:nvPr/>
        </p:nvSpPr>
        <p:spPr>
          <a:xfrm>
            <a:off x="1755648" y="2340864"/>
            <a:ext cx="9646919" cy="548640"/>
          </a:xfrm>
          <a:prstGeom prst="rect">
            <a:avLst/>
          </a:prstGeom>
          <a:noFill/>
        </p:spPr>
        <p:txBody>
          <a:bodyPr wrap="square" lIns="0" rIns="0" tIns="0" bIns="0" anchor="ctr">
            <a:spAutoFit/>
          </a:bodyPr>
          <a:lstStyle/>
          <a:p>
            <a:pPr algn="l">
              <a:lnSpc>
                <a:spcPct val="112000"/>
              </a:lnSpc>
            </a:pPr>
            <a:r>
              <a:rPr sz="1550" b="0" i="0">
                <a:solidFill>
                  <a:srgbClr val="F2F6FC"/>
                </a:solidFill>
                <a:latin typeface="Arial"/>
              </a:rPr>
              <a:t>Vues qualifiées et règles du programme</a:t>
            </a:r>
          </a:p>
        </p:txBody>
      </p:sp>
      <p:sp>
        <p:nvSpPr>
          <p:cNvPr id="10" name="Rounded Rectangle 9" descr="Point 2 : Récompense estimée dans TikTok Studio"/>
          <p:cNvSpPr/>
          <p:nvPr/>
        </p:nvSpPr>
        <p:spPr>
          <a:xfrm>
            <a:off x="566928" y="3063240"/>
            <a:ext cx="11064240" cy="658368"/>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de section"/>
          <p:cNvSpPr/>
          <p:nvPr/>
        </p:nvSpPr>
        <p:spPr>
          <a:xfrm>
            <a:off x="566928" y="3063240"/>
            <a:ext cx="64008" cy="65836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Numéro d'étape 2"/>
          <p:cNvSpPr txBox="1"/>
          <p:nvPr/>
        </p:nvSpPr>
        <p:spPr>
          <a:xfrm>
            <a:off x="841247" y="3118104"/>
            <a:ext cx="822960" cy="548640"/>
          </a:xfrm>
          <a:prstGeom prst="rect">
            <a:avLst/>
          </a:prstGeom>
          <a:noFill/>
        </p:spPr>
        <p:txBody>
          <a:bodyPr wrap="square" lIns="0" rIns="0" tIns="0" bIns="0" anchor="ctr">
            <a:spAutoFit/>
          </a:bodyPr>
          <a:lstStyle/>
          <a:p>
            <a:pPr algn="l">
              <a:lnSpc>
                <a:spcPct val="112000"/>
              </a:lnSpc>
            </a:pPr>
            <a:r>
              <a:rPr sz="2400" b="1" i="0">
                <a:solidFill>
                  <a:srgbClr val="34D399"/>
                </a:solidFill>
                <a:latin typeface="Arial"/>
              </a:rPr>
              <a:t>02</a:t>
            </a:r>
          </a:p>
        </p:txBody>
      </p:sp>
      <p:sp>
        <p:nvSpPr>
          <p:cNvPr id="13" name="TextBox 12" descr="Texte du point 2 : Récompense estimée dans TikTok Studio"/>
          <p:cNvSpPr txBox="1"/>
          <p:nvPr/>
        </p:nvSpPr>
        <p:spPr>
          <a:xfrm>
            <a:off x="1755648" y="3118104"/>
            <a:ext cx="9646919" cy="548640"/>
          </a:xfrm>
          <a:prstGeom prst="rect">
            <a:avLst/>
          </a:prstGeom>
          <a:noFill/>
        </p:spPr>
        <p:txBody>
          <a:bodyPr wrap="square" lIns="0" rIns="0" tIns="0" bIns="0" anchor="ctr">
            <a:spAutoFit/>
          </a:bodyPr>
          <a:lstStyle/>
          <a:p>
            <a:pPr algn="l">
              <a:lnSpc>
                <a:spcPct val="112000"/>
              </a:lnSpc>
            </a:pPr>
            <a:r>
              <a:rPr sz="1550" b="0" i="0">
                <a:solidFill>
                  <a:srgbClr val="F2F6FC"/>
                </a:solidFill>
                <a:latin typeface="Arial"/>
              </a:rPr>
              <a:t>Récompense estimée dans TikTok Studio</a:t>
            </a:r>
          </a:p>
        </p:txBody>
      </p:sp>
      <p:sp>
        <p:nvSpPr>
          <p:cNvPr id="14" name="Rounded Rectangle 13" descr="Point 3 : Montant payable selon les conditions locales"/>
          <p:cNvSpPr/>
          <p:nvPr/>
        </p:nvSpPr>
        <p:spPr>
          <a:xfrm>
            <a:off x="566928" y="3840480"/>
            <a:ext cx="11064240" cy="658368"/>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Repère décoratif de section"/>
          <p:cNvSpPr/>
          <p:nvPr/>
        </p:nvSpPr>
        <p:spPr>
          <a:xfrm>
            <a:off x="566928" y="3840480"/>
            <a:ext cx="64008" cy="65836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Numéro d'étape 3"/>
          <p:cNvSpPr txBox="1"/>
          <p:nvPr/>
        </p:nvSpPr>
        <p:spPr>
          <a:xfrm>
            <a:off x="841247" y="3895344"/>
            <a:ext cx="822960" cy="548640"/>
          </a:xfrm>
          <a:prstGeom prst="rect">
            <a:avLst/>
          </a:prstGeom>
          <a:noFill/>
        </p:spPr>
        <p:txBody>
          <a:bodyPr wrap="square" lIns="0" rIns="0" tIns="0" bIns="0" anchor="ctr">
            <a:spAutoFit/>
          </a:bodyPr>
          <a:lstStyle/>
          <a:p>
            <a:pPr algn="l">
              <a:lnSpc>
                <a:spcPct val="112000"/>
              </a:lnSpc>
            </a:pPr>
            <a:r>
              <a:rPr sz="2400" b="1" i="0">
                <a:solidFill>
                  <a:srgbClr val="34D399"/>
                </a:solidFill>
                <a:latin typeface="Arial"/>
              </a:rPr>
              <a:t>03</a:t>
            </a:r>
          </a:p>
        </p:txBody>
      </p:sp>
      <p:sp>
        <p:nvSpPr>
          <p:cNvPr id="17" name="TextBox 16" descr="Texte du point 3 : Montant payable selon les conditions locales"/>
          <p:cNvSpPr txBox="1"/>
          <p:nvPr/>
        </p:nvSpPr>
        <p:spPr>
          <a:xfrm>
            <a:off x="1755648" y="3895344"/>
            <a:ext cx="9646919" cy="548640"/>
          </a:xfrm>
          <a:prstGeom prst="rect">
            <a:avLst/>
          </a:prstGeom>
          <a:noFill/>
        </p:spPr>
        <p:txBody>
          <a:bodyPr wrap="square" lIns="0" rIns="0" tIns="0" bIns="0" anchor="ctr">
            <a:spAutoFit/>
          </a:bodyPr>
          <a:lstStyle/>
          <a:p>
            <a:pPr algn="l">
              <a:lnSpc>
                <a:spcPct val="112000"/>
              </a:lnSpc>
            </a:pPr>
            <a:r>
              <a:rPr sz="1550" b="0" i="0">
                <a:solidFill>
                  <a:srgbClr val="F2F6FC"/>
                </a:solidFill>
                <a:latin typeface="Arial"/>
              </a:rPr>
              <a:t>Montant payable selon les conditions locales</a:t>
            </a:r>
          </a:p>
        </p:txBody>
      </p:sp>
      <p:sp>
        <p:nvSpPr>
          <p:cNvPr id="18" name="Rounded Rectangle 17" descr="Point 4 : Rapprocher avec le paiement reçu"/>
          <p:cNvSpPr/>
          <p:nvPr/>
        </p:nvSpPr>
        <p:spPr>
          <a:xfrm>
            <a:off x="566928" y="4617720"/>
            <a:ext cx="11064240" cy="658368"/>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descr="Repère décoratif de section"/>
          <p:cNvSpPr/>
          <p:nvPr/>
        </p:nvSpPr>
        <p:spPr>
          <a:xfrm>
            <a:off x="566928" y="4617720"/>
            <a:ext cx="64008" cy="65836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descr="Numéro d'étape 4"/>
          <p:cNvSpPr txBox="1"/>
          <p:nvPr/>
        </p:nvSpPr>
        <p:spPr>
          <a:xfrm>
            <a:off x="841247" y="4672584"/>
            <a:ext cx="822960" cy="548640"/>
          </a:xfrm>
          <a:prstGeom prst="rect">
            <a:avLst/>
          </a:prstGeom>
          <a:noFill/>
        </p:spPr>
        <p:txBody>
          <a:bodyPr wrap="square" lIns="0" rIns="0" tIns="0" bIns="0" anchor="ctr">
            <a:spAutoFit/>
          </a:bodyPr>
          <a:lstStyle/>
          <a:p>
            <a:pPr algn="l">
              <a:lnSpc>
                <a:spcPct val="112000"/>
              </a:lnSpc>
            </a:pPr>
            <a:r>
              <a:rPr sz="2400" b="1" i="0">
                <a:solidFill>
                  <a:srgbClr val="34D399"/>
                </a:solidFill>
                <a:latin typeface="Arial"/>
              </a:rPr>
              <a:t>04</a:t>
            </a:r>
          </a:p>
        </p:txBody>
      </p:sp>
      <p:sp>
        <p:nvSpPr>
          <p:cNvPr id="21" name="TextBox 20" descr="Texte du point 4 : Rapprocher avec le paiement reçu"/>
          <p:cNvSpPr txBox="1"/>
          <p:nvPr/>
        </p:nvSpPr>
        <p:spPr>
          <a:xfrm>
            <a:off x="1755648" y="4672583"/>
            <a:ext cx="9646919" cy="548640"/>
          </a:xfrm>
          <a:prstGeom prst="rect">
            <a:avLst/>
          </a:prstGeom>
          <a:noFill/>
        </p:spPr>
        <p:txBody>
          <a:bodyPr wrap="square" lIns="0" rIns="0" tIns="0" bIns="0" anchor="ctr">
            <a:spAutoFit/>
          </a:bodyPr>
          <a:lstStyle/>
          <a:p>
            <a:pPr algn="l">
              <a:lnSpc>
                <a:spcPct val="112000"/>
              </a:lnSpc>
            </a:pPr>
            <a:r>
              <a:rPr sz="1550" b="0" i="0">
                <a:solidFill>
                  <a:srgbClr val="F2F6FC"/>
                </a:solidFill>
                <a:latin typeface="Arial"/>
              </a:rPr>
              <a:t>Rapprocher avec le paiement reçu</a:t>
            </a:r>
          </a:p>
        </p:txBody>
      </p:sp>
      <p:sp>
        <p:nvSpPr>
          <p:cNvPr id="22" name="Rounded Rectangle 21" descr="Élément graphique décoratif, sans information propre"/>
          <p:cNvSpPr/>
          <p:nvPr/>
        </p:nvSpPr>
        <p:spPr>
          <a:xfrm>
            <a:off x="0" y="0"/>
            <a:ext cx="201168" cy="6858000"/>
          </a:xfrm>
          <a:prstGeom prst="round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descr="Référence de source affichée en pied de diapositive : TikTok, How rewards work [T2]"/>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TikTok, How rewards work [T2]</a:t>
            </a:r>
          </a:p>
        </p:txBody>
      </p:sp>
      <p:sp>
        <p:nvSpPr>
          <p:cNvPr id="24" name="TextBox 23" descr="Numéro de diapositive 76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76 / 84  ·  2 min</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Vérification officielle · chapitre 08"/>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818CF8"/>
                </a:solidFill>
                <a:latin typeface="Arial"/>
              </a:rPr>
              <a:t>VÉRIFICATION OFFICIELLE · CHAPITRE 08</a:t>
            </a:r>
          </a:p>
        </p:txBody>
      </p:sp>
      <p:sp>
        <p:nvSpPr>
          <p:cNvPr id="4" name="TextBox 3" descr="Titre : YouTube : séparer présent et annonce future"/>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200" b="1" i="0">
                <a:solidFill>
                  <a:srgbClr val="F2F6FC"/>
                </a:solidFill>
                <a:latin typeface="Arial"/>
              </a:rPr>
              <a:t>YouTube : séparer présent et annonce future</a:t>
            </a:r>
          </a:p>
        </p:txBody>
      </p:sp>
      <p:sp>
        <p:nvSpPr>
          <p:cNvPr id="5" name="TextBox 4" descr="Sous-titre : Repères officiels · vérifiés le 28 septembre 2026"/>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600" b="1" i="0">
                <a:solidFill>
                  <a:srgbClr val="818CF8"/>
                </a:solidFill>
                <a:latin typeface="Arial"/>
              </a:rPr>
              <a:t>Repères officiels · vérifiés le 28 septembre 2026</a:t>
            </a:r>
          </a:p>
        </p:txBody>
      </p:sp>
      <p:sp>
        <p:nvSpPr>
          <p:cNvPr id="6" name="Rounded Rectangle 5" descr="Point 1 : YPP actuel : 1 000 abonnés + critères de visionnage"/>
          <p:cNvSpPr/>
          <p:nvPr/>
        </p:nvSpPr>
        <p:spPr>
          <a:xfrm>
            <a:off x="566928" y="2286000"/>
            <a:ext cx="11064240" cy="658368"/>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de section"/>
          <p:cNvSpPr/>
          <p:nvPr/>
        </p:nvSpPr>
        <p:spPr>
          <a:xfrm>
            <a:off x="566928" y="2286000"/>
            <a:ext cx="64008" cy="658368"/>
          </a:xfrm>
          <a:prstGeom prst="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Numéro d'étape 1"/>
          <p:cNvSpPr txBox="1"/>
          <p:nvPr/>
        </p:nvSpPr>
        <p:spPr>
          <a:xfrm>
            <a:off x="841247" y="2340864"/>
            <a:ext cx="822960" cy="548640"/>
          </a:xfrm>
          <a:prstGeom prst="rect">
            <a:avLst/>
          </a:prstGeom>
          <a:noFill/>
        </p:spPr>
        <p:txBody>
          <a:bodyPr wrap="square" lIns="0" rIns="0" tIns="0" bIns="0" anchor="ctr">
            <a:spAutoFit/>
          </a:bodyPr>
          <a:lstStyle/>
          <a:p>
            <a:pPr algn="l">
              <a:lnSpc>
                <a:spcPct val="112000"/>
              </a:lnSpc>
            </a:pPr>
            <a:r>
              <a:rPr sz="2400" b="1" i="0">
                <a:solidFill>
                  <a:srgbClr val="818CF8"/>
                </a:solidFill>
                <a:latin typeface="Arial"/>
              </a:rPr>
              <a:t>01</a:t>
            </a:r>
          </a:p>
        </p:txBody>
      </p:sp>
      <p:sp>
        <p:nvSpPr>
          <p:cNvPr id="9" name="TextBox 8" descr="Texte du point 1 : YPP actuel : 1 000 abonnés + critères de visionnage"/>
          <p:cNvSpPr txBox="1"/>
          <p:nvPr/>
        </p:nvSpPr>
        <p:spPr>
          <a:xfrm>
            <a:off x="1755648" y="2340864"/>
            <a:ext cx="9646919" cy="548640"/>
          </a:xfrm>
          <a:prstGeom prst="rect">
            <a:avLst/>
          </a:prstGeom>
          <a:noFill/>
        </p:spPr>
        <p:txBody>
          <a:bodyPr wrap="square" lIns="0" rIns="0" tIns="0" bIns="0" anchor="ctr">
            <a:spAutoFit/>
          </a:bodyPr>
          <a:lstStyle/>
          <a:p>
            <a:pPr algn="l">
              <a:lnSpc>
                <a:spcPct val="112000"/>
              </a:lnSpc>
            </a:pPr>
            <a:r>
              <a:rPr sz="1550" b="0" i="0">
                <a:solidFill>
                  <a:srgbClr val="F2F6FC"/>
                </a:solidFill>
                <a:latin typeface="Arial"/>
              </a:rPr>
              <a:t>YPP actuel : 1 000 abonnés + critères de visionnage</a:t>
            </a:r>
          </a:p>
        </p:txBody>
      </p:sp>
      <p:sp>
        <p:nvSpPr>
          <p:cNvPr id="10" name="Rounded Rectangle 9" descr="Point 2 : Pays admissible et revue de la chaîne"/>
          <p:cNvSpPr/>
          <p:nvPr/>
        </p:nvSpPr>
        <p:spPr>
          <a:xfrm>
            <a:off x="566928" y="3063240"/>
            <a:ext cx="11064240" cy="658368"/>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de section"/>
          <p:cNvSpPr/>
          <p:nvPr/>
        </p:nvSpPr>
        <p:spPr>
          <a:xfrm>
            <a:off x="566928" y="3063240"/>
            <a:ext cx="64008" cy="658368"/>
          </a:xfrm>
          <a:prstGeom prst="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Numéro d'étape 2"/>
          <p:cNvSpPr txBox="1"/>
          <p:nvPr/>
        </p:nvSpPr>
        <p:spPr>
          <a:xfrm>
            <a:off x="841247" y="3118104"/>
            <a:ext cx="822960" cy="548640"/>
          </a:xfrm>
          <a:prstGeom prst="rect">
            <a:avLst/>
          </a:prstGeom>
          <a:noFill/>
        </p:spPr>
        <p:txBody>
          <a:bodyPr wrap="square" lIns="0" rIns="0" tIns="0" bIns="0" anchor="ctr">
            <a:spAutoFit/>
          </a:bodyPr>
          <a:lstStyle/>
          <a:p>
            <a:pPr algn="l">
              <a:lnSpc>
                <a:spcPct val="112000"/>
              </a:lnSpc>
            </a:pPr>
            <a:r>
              <a:rPr sz="2400" b="1" i="0">
                <a:solidFill>
                  <a:srgbClr val="818CF8"/>
                </a:solidFill>
                <a:latin typeface="Arial"/>
              </a:rPr>
              <a:t>02</a:t>
            </a:r>
          </a:p>
        </p:txBody>
      </p:sp>
      <p:sp>
        <p:nvSpPr>
          <p:cNvPr id="13" name="TextBox 12" descr="Texte du point 2 : Pays admissible et revue de la chaîne"/>
          <p:cNvSpPr txBox="1"/>
          <p:nvPr/>
        </p:nvSpPr>
        <p:spPr>
          <a:xfrm>
            <a:off x="1755648" y="3118104"/>
            <a:ext cx="9646919" cy="548640"/>
          </a:xfrm>
          <a:prstGeom prst="rect">
            <a:avLst/>
          </a:prstGeom>
          <a:noFill/>
        </p:spPr>
        <p:txBody>
          <a:bodyPr wrap="square" lIns="0" rIns="0" tIns="0" bIns="0" anchor="ctr">
            <a:spAutoFit/>
          </a:bodyPr>
          <a:lstStyle/>
          <a:p>
            <a:pPr algn="l">
              <a:lnSpc>
                <a:spcPct val="112000"/>
              </a:lnSpc>
            </a:pPr>
            <a:r>
              <a:rPr sz="1550" b="0" i="0">
                <a:solidFill>
                  <a:srgbClr val="F2F6FC"/>
                </a:solidFill>
                <a:latin typeface="Arial"/>
              </a:rPr>
              <a:t>Pays admissible et revue de la chaîne</a:t>
            </a:r>
          </a:p>
        </p:txBody>
      </p:sp>
      <p:sp>
        <p:nvSpPr>
          <p:cNvPr id="14" name="Rounded Rectangle 13" descr="Point 3 : Annonce de modification au 1er février 2027"/>
          <p:cNvSpPr/>
          <p:nvPr/>
        </p:nvSpPr>
        <p:spPr>
          <a:xfrm>
            <a:off x="566928" y="3840480"/>
            <a:ext cx="11064240" cy="658368"/>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Repère décoratif de section"/>
          <p:cNvSpPr/>
          <p:nvPr/>
        </p:nvSpPr>
        <p:spPr>
          <a:xfrm>
            <a:off x="566928" y="3840480"/>
            <a:ext cx="64008" cy="658368"/>
          </a:xfrm>
          <a:prstGeom prst="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Numéro d'étape 3"/>
          <p:cNvSpPr txBox="1"/>
          <p:nvPr/>
        </p:nvSpPr>
        <p:spPr>
          <a:xfrm>
            <a:off x="841247" y="3895344"/>
            <a:ext cx="822960" cy="548640"/>
          </a:xfrm>
          <a:prstGeom prst="rect">
            <a:avLst/>
          </a:prstGeom>
          <a:noFill/>
        </p:spPr>
        <p:txBody>
          <a:bodyPr wrap="square" lIns="0" rIns="0" tIns="0" bIns="0" anchor="ctr">
            <a:spAutoFit/>
          </a:bodyPr>
          <a:lstStyle/>
          <a:p>
            <a:pPr algn="l">
              <a:lnSpc>
                <a:spcPct val="112000"/>
              </a:lnSpc>
            </a:pPr>
            <a:r>
              <a:rPr sz="2400" b="1" i="0">
                <a:solidFill>
                  <a:srgbClr val="818CF8"/>
                </a:solidFill>
                <a:latin typeface="Arial"/>
              </a:rPr>
              <a:t>03</a:t>
            </a:r>
          </a:p>
        </p:txBody>
      </p:sp>
      <p:sp>
        <p:nvSpPr>
          <p:cNvPr id="17" name="TextBox 16" descr="Texte du point 3 : Annonce de modification au 1er février 2027"/>
          <p:cNvSpPr txBox="1"/>
          <p:nvPr/>
        </p:nvSpPr>
        <p:spPr>
          <a:xfrm>
            <a:off x="1755648" y="3895344"/>
            <a:ext cx="9646919" cy="548640"/>
          </a:xfrm>
          <a:prstGeom prst="rect">
            <a:avLst/>
          </a:prstGeom>
          <a:noFill/>
        </p:spPr>
        <p:txBody>
          <a:bodyPr wrap="square" lIns="0" rIns="0" tIns="0" bIns="0" anchor="ctr">
            <a:spAutoFit/>
          </a:bodyPr>
          <a:lstStyle/>
          <a:p>
            <a:pPr algn="l">
              <a:lnSpc>
                <a:spcPct val="112000"/>
              </a:lnSpc>
            </a:pPr>
            <a:r>
              <a:rPr sz="1550" b="0" i="0">
                <a:solidFill>
                  <a:srgbClr val="F2F6FC"/>
                </a:solidFill>
                <a:latin typeface="Arial"/>
              </a:rPr>
              <a:t>Annonce de modification au 1er février 2027</a:t>
            </a:r>
          </a:p>
        </p:txBody>
      </p:sp>
      <p:sp>
        <p:nvSpPr>
          <p:cNvPr id="18" name="Rounded Rectangle 17" descr="Point 4 : Recontrôler avant toute candidature"/>
          <p:cNvSpPr/>
          <p:nvPr/>
        </p:nvSpPr>
        <p:spPr>
          <a:xfrm>
            <a:off x="566928" y="4617720"/>
            <a:ext cx="11064240" cy="658368"/>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descr="Repère décoratif de section"/>
          <p:cNvSpPr/>
          <p:nvPr/>
        </p:nvSpPr>
        <p:spPr>
          <a:xfrm>
            <a:off x="566928" y="4617720"/>
            <a:ext cx="64008" cy="658368"/>
          </a:xfrm>
          <a:prstGeom prst="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descr="Numéro d'étape 4"/>
          <p:cNvSpPr txBox="1"/>
          <p:nvPr/>
        </p:nvSpPr>
        <p:spPr>
          <a:xfrm>
            <a:off x="841247" y="4672584"/>
            <a:ext cx="822960" cy="548640"/>
          </a:xfrm>
          <a:prstGeom prst="rect">
            <a:avLst/>
          </a:prstGeom>
          <a:noFill/>
        </p:spPr>
        <p:txBody>
          <a:bodyPr wrap="square" lIns="0" rIns="0" tIns="0" bIns="0" anchor="ctr">
            <a:spAutoFit/>
          </a:bodyPr>
          <a:lstStyle/>
          <a:p>
            <a:pPr algn="l">
              <a:lnSpc>
                <a:spcPct val="112000"/>
              </a:lnSpc>
            </a:pPr>
            <a:r>
              <a:rPr sz="2400" b="1" i="0">
                <a:solidFill>
                  <a:srgbClr val="818CF8"/>
                </a:solidFill>
                <a:latin typeface="Arial"/>
              </a:rPr>
              <a:t>04</a:t>
            </a:r>
          </a:p>
        </p:txBody>
      </p:sp>
      <p:sp>
        <p:nvSpPr>
          <p:cNvPr id="21" name="TextBox 20" descr="Texte du point 4 : Recontrôler avant toute candidature"/>
          <p:cNvSpPr txBox="1"/>
          <p:nvPr/>
        </p:nvSpPr>
        <p:spPr>
          <a:xfrm>
            <a:off x="1755648" y="4672583"/>
            <a:ext cx="9646919" cy="548640"/>
          </a:xfrm>
          <a:prstGeom prst="rect">
            <a:avLst/>
          </a:prstGeom>
          <a:noFill/>
        </p:spPr>
        <p:txBody>
          <a:bodyPr wrap="square" lIns="0" rIns="0" tIns="0" bIns="0" anchor="ctr">
            <a:spAutoFit/>
          </a:bodyPr>
          <a:lstStyle/>
          <a:p>
            <a:pPr algn="l">
              <a:lnSpc>
                <a:spcPct val="112000"/>
              </a:lnSpc>
            </a:pPr>
            <a:r>
              <a:rPr sz="1550" b="0" i="0">
                <a:solidFill>
                  <a:srgbClr val="F2F6FC"/>
                </a:solidFill>
                <a:latin typeface="Arial"/>
              </a:rPr>
              <a:t>Recontrôler avant toute candidature</a:t>
            </a:r>
          </a:p>
        </p:txBody>
      </p:sp>
      <p:sp>
        <p:nvSpPr>
          <p:cNvPr id="22" name="Rounded Rectangle 21" descr="Élément graphique décoratif, sans information propre"/>
          <p:cNvSpPr/>
          <p:nvPr/>
        </p:nvSpPr>
        <p:spPr>
          <a:xfrm>
            <a:off x="0" y="0"/>
            <a:ext cx="201168" cy="6858000"/>
          </a:xfrm>
          <a:prstGeom prst="roundRect">
            <a:avLst/>
          </a:prstGeom>
          <a:solidFill>
            <a:srgbClr val="818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descr="Référence de source affichée en pied de diapositive : YouTube Partner Program [Y1] ; Changes to YPP [Y2]"/>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YouTube Partner Program [Y1] ; Changes to YPP [Y2]</a:t>
            </a:r>
          </a:p>
        </p:txBody>
      </p:sp>
      <p:sp>
        <p:nvSpPr>
          <p:cNvPr id="24" name="TextBox 23" descr="Numéro de diapositive 77 sur 84, durée prévue 3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77 / 84  ·  3 min</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Décision"/>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22D3EE"/>
                </a:solidFill>
                <a:latin typeface="Arial"/>
              </a:rPr>
              <a:t>DÉCISION</a:t>
            </a:r>
          </a:p>
        </p:txBody>
      </p:sp>
      <p:sp>
        <p:nvSpPr>
          <p:cNvPr id="4" name="TextBox 3" descr="Titre : L’Afrique francophone n’est pas un seul marché"/>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350" b="1" i="0">
                <a:solidFill>
                  <a:srgbClr val="F2F6FC"/>
                </a:solidFill>
                <a:latin typeface="Arial"/>
              </a:rPr>
              <a:t>L’Afrique francophone n’est pas un seul marché</a:t>
            </a:r>
          </a:p>
        </p:txBody>
      </p:sp>
      <p:sp>
        <p:nvSpPr>
          <p:cNvPr id="5" name="TextBox 4" descr="Sous-titre : Pays, langue, offre, paiement et obligations : vérifications distinctes"/>
          <p:cNvSpPr txBox="1"/>
          <p:nvPr/>
        </p:nvSpPr>
        <p:spPr>
          <a:xfrm>
            <a:off x="566928" y="1609344"/>
            <a:ext cx="10698480" cy="585216"/>
          </a:xfrm>
          <a:prstGeom prst="rect">
            <a:avLst/>
          </a:prstGeom>
          <a:noFill/>
        </p:spPr>
        <p:txBody>
          <a:bodyPr wrap="square" lIns="0" rIns="0" tIns="0" bIns="0" anchor="t">
            <a:spAutoFit/>
          </a:bodyPr>
          <a:lstStyle/>
          <a:p>
            <a:pPr algn="l">
              <a:lnSpc>
                <a:spcPct val="112000"/>
              </a:lnSpc>
            </a:pPr>
            <a:r>
              <a:rPr sz="1600" b="1" i="0">
                <a:solidFill>
                  <a:srgbClr val="22D3EE"/>
                </a:solidFill>
                <a:latin typeface="Arial"/>
              </a:rPr>
              <a:t>Pays, langue, offre, paiement et obligations : vérifications distinctes</a:t>
            </a:r>
          </a:p>
        </p:txBody>
      </p:sp>
      <p:sp>
        <p:nvSpPr>
          <p:cNvPr id="6" name="Rounded Rectangle 5" descr="Question de décision 1 : Définir la ville et le public"/>
          <p:cNvSpPr/>
          <p:nvPr/>
        </p:nvSpPr>
        <p:spPr>
          <a:xfrm>
            <a:off x="566928" y="2377440"/>
            <a:ext cx="5413248" cy="155448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p:cNvSpPr/>
          <p:nvPr/>
        </p:nvSpPr>
        <p:spPr>
          <a:xfrm>
            <a:off x="566928" y="2377440"/>
            <a:ext cx="64008" cy="155448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Texte de la décision 1 : Définir la ville et le public"/>
          <p:cNvSpPr txBox="1"/>
          <p:nvPr/>
        </p:nvSpPr>
        <p:spPr>
          <a:xfrm>
            <a:off x="841247" y="2560320"/>
            <a:ext cx="4937760" cy="1188720"/>
          </a:xfrm>
          <a:prstGeom prst="rect">
            <a:avLst/>
          </a:prstGeom>
          <a:noFill/>
        </p:spPr>
        <p:txBody>
          <a:bodyPr wrap="square" lIns="0" rIns="0" tIns="0" bIns="0" anchor="ctr">
            <a:spAutoFit/>
          </a:bodyPr>
          <a:lstStyle/>
          <a:p>
            <a:pPr algn="l">
              <a:lnSpc>
                <a:spcPct val="112000"/>
              </a:lnSpc>
            </a:pPr>
            <a:r>
              <a:rPr sz="1700" b="1" i="0">
                <a:solidFill>
                  <a:srgbClr val="F2F6FC"/>
                </a:solidFill>
                <a:latin typeface="Arial"/>
              </a:rPr>
              <a:t>Définir la ville et le public</a:t>
            </a:r>
          </a:p>
        </p:txBody>
      </p:sp>
      <p:sp>
        <p:nvSpPr>
          <p:cNvPr id="9" name="TextBox 8" descr="Numéro 1"/>
          <p:cNvSpPr txBox="1"/>
          <p:nvPr/>
        </p:nvSpPr>
        <p:spPr>
          <a:xfrm>
            <a:off x="5138928" y="3493008"/>
            <a:ext cx="731520" cy="310896"/>
          </a:xfrm>
          <a:prstGeom prst="rect">
            <a:avLst/>
          </a:prstGeom>
          <a:noFill/>
        </p:spPr>
        <p:txBody>
          <a:bodyPr wrap="square" lIns="0" rIns="0" tIns="0" bIns="0" anchor="t">
            <a:spAutoFit/>
          </a:bodyPr>
          <a:lstStyle/>
          <a:p>
            <a:pPr algn="r">
              <a:lnSpc>
                <a:spcPct val="112000"/>
              </a:lnSpc>
            </a:pPr>
            <a:r>
              <a:rPr sz="1300" b="1" i="0">
                <a:solidFill>
                  <a:srgbClr val="22D3EE"/>
                </a:solidFill>
                <a:latin typeface="Arial"/>
              </a:rPr>
              <a:t>01</a:t>
            </a:r>
          </a:p>
        </p:txBody>
      </p:sp>
      <p:sp>
        <p:nvSpPr>
          <p:cNvPr id="10" name="Rounded Rectangle 9" descr="Question de décision 2 : Tester une offre livrable localement"/>
          <p:cNvSpPr/>
          <p:nvPr/>
        </p:nvSpPr>
        <p:spPr>
          <a:xfrm>
            <a:off x="6217920" y="2377440"/>
            <a:ext cx="5413248" cy="155448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p:cNvSpPr/>
          <p:nvPr/>
        </p:nvSpPr>
        <p:spPr>
          <a:xfrm>
            <a:off x="6217920" y="2377440"/>
            <a:ext cx="64008" cy="155448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Texte de la décision 2 : Tester une offre livrable localement"/>
          <p:cNvSpPr txBox="1"/>
          <p:nvPr/>
        </p:nvSpPr>
        <p:spPr>
          <a:xfrm>
            <a:off x="6492240" y="2560320"/>
            <a:ext cx="4937760" cy="1188720"/>
          </a:xfrm>
          <a:prstGeom prst="rect">
            <a:avLst/>
          </a:prstGeom>
          <a:noFill/>
        </p:spPr>
        <p:txBody>
          <a:bodyPr wrap="square" lIns="0" rIns="0" tIns="0" bIns="0" anchor="ctr">
            <a:spAutoFit/>
          </a:bodyPr>
          <a:lstStyle/>
          <a:p>
            <a:pPr algn="l">
              <a:lnSpc>
                <a:spcPct val="112000"/>
              </a:lnSpc>
            </a:pPr>
            <a:r>
              <a:rPr sz="1700" b="1" i="0">
                <a:solidFill>
                  <a:srgbClr val="F2F6FC"/>
                </a:solidFill>
                <a:latin typeface="Arial"/>
              </a:rPr>
              <a:t>Tester une offre livrable localement</a:t>
            </a:r>
          </a:p>
        </p:txBody>
      </p:sp>
      <p:sp>
        <p:nvSpPr>
          <p:cNvPr id="13" name="TextBox 12" descr="Numéro 2"/>
          <p:cNvSpPr txBox="1"/>
          <p:nvPr/>
        </p:nvSpPr>
        <p:spPr>
          <a:xfrm>
            <a:off x="10789920" y="3493008"/>
            <a:ext cx="731520" cy="310896"/>
          </a:xfrm>
          <a:prstGeom prst="rect">
            <a:avLst/>
          </a:prstGeom>
          <a:noFill/>
        </p:spPr>
        <p:txBody>
          <a:bodyPr wrap="square" lIns="0" rIns="0" tIns="0" bIns="0" anchor="t">
            <a:spAutoFit/>
          </a:bodyPr>
          <a:lstStyle/>
          <a:p>
            <a:pPr algn="r">
              <a:lnSpc>
                <a:spcPct val="112000"/>
              </a:lnSpc>
            </a:pPr>
            <a:r>
              <a:rPr sz="1300" b="1" i="0">
                <a:solidFill>
                  <a:srgbClr val="22D3EE"/>
                </a:solidFill>
                <a:latin typeface="Arial"/>
              </a:rPr>
              <a:t>02</a:t>
            </a:r>
          </a:p>
        </p:txBody>
      </p:sp>
      <p:sp>
        <p:nvSpPr>
          <p:cNvPr id="14" name="Rounded Rectangle 13" descr="Question de décision 3 : Vérifier réception ET retrait"/>
          <p:cNvSpPr/>
          <p:nvPr/>
        </p:nvSpPr>
        <p:spPr>
          <a:xfrm>
            <a:off x="566928" y="4069080"/>
            <a:ext cx="5413248" cy="155448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Repère décoratif"/>
          <p:cNvSpPr/>
          <p:nvPr/>
        </p:nvSpPr>
        <p:spPr>
          <a:xfrm>
            <a:off x="566928" y="4069080"/>
            <a:ext cx="64008" cy="155448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Texte de la décision 3 : Vérifier réception ET retrait"/>
          <p:cNvSpPr txBox="1"/>
          <p:nvPr/>
        </p:nvSpPr>
        <p:spPr>
          <a:xfrm>
            <a:off x="841247" y="4251960"/>
            <a:ext cx="4937760" cy="1188720"/>
          </a:xfrm>
          <a:prstGeom prst="rect">
            <a:avLst/>
          </a:prstGeom>
          <a:noFill/>
        </p:spPr>
        <p:txBody>
          <a:bodyPr wrap="square" lIns="0" rIns="0" tIns="0" bIns="0" anchor="ctr">
            <a:spAutoFit/>
          </a:bodyPr>
          <a:lstStyle/>
          <a:p>
            <a:pPr algn="l">
              <a:lnSpc>
                <a:spcPct val="112000"/>
              </a:lnSpc>
            </a:pPr>
            <a:r>
              <a:rPr sz="1700" b="1" i="0">
                <a:solidFill>
                  <a:srgbClr val="F2F6FC"/>
                </a:solidFill>
                <a:latin typeface="Arial"/>
              </a:rPr>
              <a:t>Vérifier réception ET retrait</a:t>
            </a:r>
          </a:p>
        </p:txBody>
      </p:sp>
      <p:sp>
        <p:nvSpPr>
          <p:cNvPr id="17" name="TextBox 16" descr="Numéro 3"/>
          <p:cNvSpPr txBox="1"/>
          <p:nvPr/>
        </p:nvSpPr>
        <p:spPr>
          <a:xfrm>
            <a:off x="5138928" y="5184648"/>
            <a:ext cx="731520" cy="310896"/>
          </a:xfrm>
          <a:prstGeom prst="rect">
            <a:avLst/>
          </a:prstGeom>
          <a:noFill/>
        </p:spPr>
        <p:txBody>
          <a:bodyPr wrap="square" lIns="0" rIns="0" tIns="0" bIns="0" anchor="t">
            <a:spAutoFit/>
          </a:bodyPr>
          <a:lstStyle/>
          <a:p>
            <a:pPr algn="r">
              <a:lnSpc>
                <a:spcPct val="112000"/>
              </a:lnSpc>
            </a:pPr>
            <a:r>
              <a:rPr sz="1300" b="1" i="0">
                <a:solidFill>
                  <a:srgbClr val="22D3EE"/>
                </a:solidFill>
                <a:latin typeface="Arial"/>
              </a:rPr>
              <a:t>03</a:t>
            </a:r>
          </a:p>
        </p:txBody>
      </p:sp>
      <p:sp>
        <p:nvSpPr>
          <p:cNvPr id="18" name="Rounded Rectangle 17" descr="Question de décision 4 : Vérifier fiscalité et droits locaux"/>
          <p:cNvSpPr/>
          <p:nvPr/>
        </p:nvSpPr>
        <p:spPr>
          <a:xfrm>
            <a:off x="6217920" y="4069080"/>
            <a:ext cx="5413248" cy="155448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descr="Repère décoratif"/>
          <p:cNvSpPr/>
          <p:nvPr/>
        </p:nvSpPr>
        <p:spPr>
          <a:xfrm>
            <a:off x="6217920" y="4069080"/>
            <a:ext cx="64008" cy="155448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descr="Texte de la décision 4 : Vérifier fiscalité et droits locaux"/>
          <p:cNvSpPr txBox="1"/>
          <p:nvPr/>
        </p:nvSpPr>
        <p:spPr>
          <a:xfrm>
            <a:off x="6492240" y="4251960"/>
            <a:ext cx="4937760" cy="1188720"/>
          </a:xfrm>
          <a:prstGeom prst="rect">
            <a:avLst/>
          </a:prstGeom>
          <a:noFill/>
        </p:spPr>
        <p:txBody>
          <a:bodyPr wrap="square" lIns="0" rIns="0" tIns="0" bIns="0" anchor="ctr">
            <a:spAutoFit/>
          </a:bodyPr>
          <a:lstStyle/>
          <a:p>
            <a:pPr algn="l">
              <a:lnSpc>
                <a:spcPct val="112000"/>
              </a:lnSpc>
            </a:pPr>
            <a:r>
              <a:rPr sz="1700" b="1" i="0">
                <a:solidFill>
                  <a:srgbClr val="F2F6FC"/>
                </a:solidFill>
                <a:latin typeface="Arial"/>
              </a:rPr>
              <a:t>Vérifier fiscalité et droits locaux</a:t>
            </a:r>
          </a:p>
        </p:txBody>
      </p:sp>
      <p:sp>
        <p:nvSpPr>
          <p:cNvPr id="21" name="TextBox 20" descr="Numéro 4"/>
          <p:cNvSpPr txBox="1"/>
          <p:nvPr/>
        </p:nvSpPr>
        <p:spPr>
          <a:xfrm>
            <a:off x="10789920" y="5184648"/>
            <a:ext cx="731520" cy="310896"/>
          </a:xfrm>
          <a:prstGeom prst="rect">
            <a:avLst/>
          </a:prstGeom>
          <a:noFill/>
        </p:spPr>
        <p:txBody>
          <a:bodyPr wrap="square" lIns="0" rIns="0" tIns="0" bIns="0" anchor="t">
            <a:spAutoFit/>
          </a:bodyPr>
          <a:lstStyle/>
          <a:p>
            <a:pPr algn="r">
              <a:lnSpc>
                <a:spcPct val="112000"/>
              </a:lnSpc>
            </a:pPr>
            <a:r>
              <a:rPr sz="1300" b="1" i="0">
                <a:solidFill>
                  <a:srgbClr val="22D3EE"/>
                </a:solidFill>
                <a:latin typeface="Arial"/>
              </a:rPr>
              <a:t>04</a:t>
            </a:r>
          </a:p>
        </p:txBody>
      </p:sp>
      <p:sp>
        <p:nvSpPr>
          <p:cNvPr id="22" name="Rounded Rectangle 21" descr="Élément graphique décoratif, sans information propre"/>
          <p:cNvSpPr/>
          <p:nvPr/>
        </p:nvSpPr>
        <p:spPr>
          <a:xfrm>
            <a:off x="0" y="0"/>
            <a:ext cx="201168" cy="6858000"/>
          </a:xfrm>
          <a:prstGeom prst="round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descr="Référence de source affichée en pied de diapositive : Chapitres 34–35 ; Gumroad [G1]"/>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Chapitres 34–35 ; Gumroad [G1]</a:t>
            </a:r>
          </a:p>
        </p:txBody>
      </p:sp>
      <p:sp>
        <p:nvSpPr>
          <p:cNvPr id="24" name="TextBox 23" descr="Numéro de diapositive 78 sur 84, durée prévue 3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78 / 84  ·  3 min</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descr="Élément graphique décoratif, sans information propr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descr="Bandeau supérieur de partie"/>
          <p:cNvSpPr/>
          <p:nvPr/>
        </p:nvSpPr>
        <p:spPr>
          <a:xfrm>
            <a:off x="0" y="0"/>
            <a:ext cx="12191695" cy="256032"/>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descr="Titre de section : BLOC MISE EN ŒUVRE"/>
          <p:cNvSpPr txBox="1"/>
          <p:nvPr/>
        </p:nvSpPr>
        <p:spPr>
          <a:xfrm>
            <a:off x="822960" y="2148840"/>
            <a:ext cx="8357616" cy="1097280"/>
          </a:xfrm>
          <a:prstGeom prst="rect">
            <a:avLst/>
          </a:prstGeom>
          <a:noFill/>
        </p:spPr>
        <p:txBody>
          <a:bodyPr wrap="square" lIns="0" rIns="0" tIns="0" bIns="0" anchor="t">
            <a:spAutoFit/>
          </a:bodyPr>
          <a:lstStyle/>
          <a:p>
            <a:pPr algn="l">
              <a:lnSpc>
                <a:spcPct val="106000"/>
              </a:lnSpc>
            </a:pPr>
            <a:r>
              <a:rPr sz="5450" b="1" i="0">
                <a:solidFill>
                  <a:srgbClr val="F2F6FC"/>
                </a:solidFill>
                <a:latin typeface="Arial"/>
              </a:rPr>
              <a:t>BLOC MISE EN ŒUVRE</a:t>
            </a:r>
          </a:p>
        </p:txBody>
      </p:sp>
      <p:sp>
        <p:nvSpPr>
          <p:cNvPr id="6" name="TextBox 5" descr="Sous-titre de section : 30 JOURS · 60 JOURS · CONTRÔLES"/>
          <p:cNvSpPr txBox="1"/>
          <p:nvPr/>
        </p:nvSpPr>
        <p:spPr>
          <a:xfrm>
            <a:off x="822960" y="3291840"/>
            <a:ext cx="10058400" cy="1463040"/>
          </a:xfrm>
          <a:prstGeom prst="rect">
            <a:avLst/>
          </a:prstGeom>
          <a:noFill/>
        </p:spPr>
        <p:txBody>
          <a:bodyPr wrap="square" lIns="0" rIns="0" tIns="0" bIns="0" anchor="t">
            <a:spAutoFit/>
          </a:bodyPr>
          <a:lstStyle/>
          <a:p>
            <a:pPr algn="l">
              <a:lnSpc>
                <a:spcPct val="112000"/>
              </a:lnSpc>
            </a:pPr>
            <a:r>
              <a:rPr sz="3000" b="1" i="0">
                <a:solidFill>
                  <a:srgbClr val="94A3B8"/>
                </a:solidFill>
                <a:latin typeface="Arial"/>
              </a:rPr>
              <a:t>30 JOURS · 60 JOURS · CONTRÔLES</a:t>
            </a:r>
          </a:p>
        </p:txBody>
      </p:sp>
      <p:sp>
        <p:nvSpPr>
          <p:cNvPr id="7" name="Rounded Rectangle 6" descr="Élément graphique décoratif, sans information propre"/>
          <p:cNvSpPr/>
          <p:nvPr/>
        </p:nvSpPr>
        <p:spPr>
          <a:xfrm>
            <a:off x="0" y="0"/>
            <a:ext cx="201168" cy="6858000"/>
          </a:xfrm>
          <a:prstGeom prst="round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Référence de source affichée en pied de diapositive : Chapitres 36–38 et annexe C"/>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Chapitres 36–38 et annexe C</a:t>
            </a:r>
          </a:p>
        </p:txBody>
      </p:sp>
      <p:sp>
        <p:nvSpPr>
          <p:cNvPr id="9" name="TextBox 8" descr="Numéro de diapositive 79 sur 84, durée prévue 1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79 / 84  ·  1 min</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Mise en œuvre"/>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22D3EE"/>
                </a:solidFill>
                <a:latin typeface="Arial"/>
              </a:rPr>
              <a:t>MISE EN ŒUVRE</a:t>
            </a:r>
          </a:p>
        </p:txBody>
      </p:sp>
      <p:sp>
        <p:nvSpPr>
          <p:cNvPr id="4" name="TextBox 3" descr="Titre : 30 jours pour créer les fondations"/>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600" b="1" i="0">
                <a:solidFill>
                  <a:srgbClr val="F2F6FC"/>
                </a:solidFill>
                <a:latin typeface="Arial"/>
              </a:rPr>
              <a:t>30 jours pour créer les fondations</a:t>
            </a:r>
          </a:p>
        </p:txBody>
      </p:sp>
      <p:sp>
        <p:nvSpPr>
          <p:cNvPr id="5" name="Rounded Rectangle 4" descr="Étape 1 du calendrier : Jours 1–7 : profil, compétence, public"/>
          <p:cNvSpPr/>
          <p:nvPr/>
        </p:nvSpPr>
        <p:spPr>
          <a:xfrm>
            <a:off x="566928" y="2240280"/>
            <a:ext cx="2560320" cy="228600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descr="Repère décoratif"/>
          <p:cNvSpPr/>
          <p:nvPr/>
        </p:nvSpPr>
        <p:spPr>
          <a:xfrm>
            <a:off x="566928" y="2240280"/>
            <a:ext cx="2560320" cy="9144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descr="Étiquette étape 1"/>
          <p:cNvSpPr txBox="1"/>
          <p:nvPr/>
        </p:nvSpPr>
        <p:spPr>
          <a:xfrm>
            <a:off x="749808" y="2423160"/>
            <a:ext cx="2194560" cy="457200"/>
          </a:xfrm>
          <a:prstGeom prst="rect">
            <a:avLst/>
          </a:prstGeom>
          <a:noFill/>
        </p:spPr>
        <p:txBody>
          <a:bodyPr wrap="square" lIns="0" rIns="0" tIns="0" bIns="0" anchor="t">
            <a:spAutoFit/>
          </a:bodyPr>
          <a:lstStyle/>
          <a:p>
            <a:pPr algn="l">
              <a:lnSpc>
                <a:spcPct val="112000"/>
              </a:lnSpc>
            </a:pPr>
            <a:r>
              <a:rPr sz="1250" b="1" i="0">
                <a:solidFill>
                  <a:srgbClr val="22D3EE"/>
                </a:solidFill>
                <a:latin typeface="Arial"/>
              </a:rPr>
              <a:t>ÉTAPE 1</a:t>
            </a:r>
          </a:p>
        </p:txBody>
      </p:sp>
      <p:sp>
        <p:nvSpPr>
          <p:cNvPr id="8" name="TextBox 7" descr="Texte de l'étape 1 : Jours 1–7 : profil, compétence, public"/>
          <p:cNvSpPr txBox="1"/>
          <p:nvPr/>
        </p:nvSpPr>
        <p:spPr>
          <a:xfrm>
            <a:off x="749808" y="2926080"/>
            <a:ext cx="2194560" cy="1371600"/>
          </a:xfrm>
          <a:prstGeom prst="rect">
            <a:avLst/>
          </a:prstGeom>
          <a:noFill/>
        </p:spPr>
        <p:txBody>
          <a:bodyPr wrap="square" lIns="0" rIns="0" tIns="0" bIns="0" anchor="t">
            <a:spAutoFit/>
          </a:bodyPr>
          <a:lstStyle/>
          <a:p>
            <a:pPr algn="l">
              <a:lnSpc>
                <a:spcPct val="112000"/>
              </a:lnSpc>
            </a:pPr>
            <a:r>
              <a:rPr sz="1650" b="0" i="0">
                <a:solidFill>
                  <a:srgbClr val="F2F6FC"/>
                </a:solidFill>
                <a:latin typeface="Arial"/>
              </a:rPr>
              <a:t>Jours 1–7 : profil, compétence, public</a:t>
            </a:r>
          </a:p>
        </p:txBody>
      </p:sp>
      <p:sp>
        <p:nvSpPr>
          <p:cNvPr id="9" name="Right Arrow 8" descr="Flèche de progression vers l'étape 2"/>
          <p:cNvSpPr/>
          <p:nvPr/>
        </p:nvSpPr>
        <p:spPr>
          <a:xfrm>
            <a:off x="3163824" y="3291840"/>
            <a:ext cx="201168" cy="219456"/>
          </a:xfrm>
          <a:prstGeom prst="rightArrow">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descr="Étape 2 du calendrier : Jours 8–14 : questions, idées, scripts"/>
          <p:cNvSpPr/>
          <p:nvPr/>
        </p:nvSpPr>
        <p:spPr>
          <a:xfrm>
            <a:off x="3401568" y="2240280"/>
            <a:ext cx="2560320" cy="228600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p:cNvSpPr/>
          <p:nvPr/>
        </p:nvSpPr>
        <p:spPr>
          <a:xfrm>
            <a:off x="3401568" y="2240280"/>
            <a:ext cx="2560320" cy="9144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Étiquette étape 2"/>
          <p:cNvSpPr txBox="1"/>
          <p:nvPr/>
        </p:nvSpPr>
        <p:spPr>
          <a:xfrm>
            <a:off x="3584448" y="2423160"/>
            <a:ext cx="2194560" cy="457200"/>
          </a:xfrm>
          <a:prstGeom prst="rect">
            <a:avLst/>
          </a:prstGeom>
          <a:noFill/>
        </p:spPr>
        <p:txBody>
          <a:bodyPr wrap="square" lIns="0" rIns="0" tIns="0" bIns="0" anchor="t">
            <a:spAutoFit/>
          </a:bodyPr>
          <a:lstStyle/>
          <a:p>
            <a:pPr algn="l">
              <a:lnSpc>
                <a:spcPct val="112000"/>
              </a:lnSpc>
            </a:pPr>
            <a:r>
              <a:rPr sz="1250" b="1" i="0">
                <a:solidFill>
                  <a:srgbClr val="22D3EE"/>
                </a:solidFill>
                <a:latin typeface="Arial"/>
              </a:rPr>
              <a:t>ÉTAPE 2</a:t>
            </a:r>
          </a:p>
        </p:txBody>
      </p:sp>
      <p:sp>
        <p:nvSpPr>
          <p:cNvPr id="13" name="TextBox 12" descr="Texte de l'étape 2 : Jours 8–14 : questions, idées, scripts"/>
          <p:cNvSpPr txBox="1"/>
          <p:nvPr/>
        </p:nvSpPr>
        <p:spPr>
          <a:xfrm>
            <a:off x="3584448" y="2926080"/>
            <a:ext cx="2194560" cy="1371600"/>
          </a:xfrm>
          <a:prstGeom prst="rect">
            <a:avLst/>
          </a:prstGeom>
          <a:noFill/>
        </p:spPr>
        <p:txBody>
          <a:bodyPr wrap="square" lIns="0" rIns="0" tIns="0" bIns="0" anchor="t">
            <a:spAutoFit/>
          </a:bodyPr>
          <a:lstStyle/>
          <a:p>
            <a:pPr algn="l">
              <a:lnSpc>
                <a:spcPct val="112000"/>
              </a:lnSpc>
            </a:pPr>
            <a:r>
              <a:rPr sz="1650" b="0" i="0">
                <a:solidFill>
                  <a:srgbClr val="F2F6FC"/>
                </a:solidFill>
                <a:latin typeface="Arial"/>
              </a:rPr>
              <a:t>Jours 8–14 : questions, idées, scripts</a:t>
            </a:r>
          </a:p>
        </p:txBody>
      </p:sp>
      <p:sp>
        <p:nvSpPr>
          <p:cNvPr id="14" name="Right Arrow 13" descr="Flèche de progression vers l'étape 3"/>
          <p:cNvSpPr/>
          <p:nvPr/>
        </p:nvSpPr>
        <p:spPr>
          <a:xfrm>
            <a:off x="5998464" y="3291840"/>
            <a:ext cx="201168" cy="219456"/>
          </a:xfrm>
          <a:prstGeom prst="rightArrow">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descr="Étape 3 du calendrier : Jours 15–21 : premiers contenus et suivi"/>
          <p:cNvSpPr/>
          <p:nvPr/>
        </p:nvSpPr>
        <p:spPr>
          <a:xfrm>
            <a:off x="6236207" y="2240280"/>
            <a:ext cx="2560320" cy="228600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descr="Repère décoratif"/>
          <p:cNvSpPr/>
          <p:nvPr/>
        </p:nvSpPr>
        <p:spPr>
          <a:xfrm>
            <a:off x="6236207" y="2240280"/>
            <a:ext cx="2560320" cy="9144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descr="Étiquette étape 3"/>
          <p:cNvSpPr txBox="1"/>
          <p:nvPr/>
        </p:nvSpPr>
        <p:spPr>
          <a:xfrm>
            <a:off x="6419088" y="2423160"/>
            <a:ext cx="2194560" cy="457200"/>
          </a:xfrm>
          <a:prstGeom prst="rect">
            <a:avLst/>
          </a:prstGeom>
          <a:noFill/>
        </p:spPr>
        <p:txBody>
          <a:bodyPr wrap="square" lIns="0" rIns="0" tIns="0" bIns="0" anchor="t">
            <a:spAutoFit/>
          </a:bodyPr>
          <a:lstStyle/>
          <a:p>
            <a:pPr algn="l">
              <a:lnSpc>
                <a:spcPct val="112000"/>
              </a:lnSpc>
            </a:pPr>
            <a:r>
              <a:rPr sz="1250" b="1" i="0">
                <a:solidFill>
                  <a:srgbClr val="22D3EE"/>
                </a:solidFill>
                <a:latin typeface="Arial"/>
              </a:rPr>
              <a:t>ÉTAPE 3</a:t>
            </a:r>
          </a:p>
        </p:txBody>
      </p:sp>
      <p:sp>
        <p:nvSpPr>
          <p:cNvPr id="18" name="TextBox 17" descr="Texte de l'étape 3 : Jours 15–21 : premiers contenus et suivi"/>
          <p:cNvSpPr txBox="1"/>
          <p:nvPr/>
        </p:nvSpPr>
        <p:spPr>
          <a:xfrm>
            <a:off x="6419088" y="2926080"/>
            <a:ext cx="2194560" cy="1371600"/>
          </a:xfrm>
          <a:prstGeom prst="rect">
            <a:avLst/>
          </a:prstGeom>
          <a:noFill/>
        </p:spPr>
        <p:txBody>
          <a:bodyPr wrap="square" lIns="0" rIns="0" tIns="0" bIns="0" anchor="t">
            <a:spAutoFit/>
          </a:bodyPr>
          <a:lstStyle/>
          <a:p>
            <a:pPr algn="l">
              <a:lnSpc>
                <a:spcPct val="112000"/>
              </a:lnSpc>
            </a:pPr>
            <a:r>
              <a:rPr sz="1650" b="0" i="0">
                <a:solidFill>
                  <a:srgbClr val="F2F6FC"/>
                </a:solidFill>
                <a:latin typeface="Arial"/>
              </a:rPr>
              <a:t>Jours 15–21 : premiers contenus et suivi</a:t>
            </a:r>
          </a:p>
        </p:txBody>
      </p:sp>
      <p:sp>
        <p:nvSpPr>
          <p:cNvPr id="19" name="Right Arrow 18" descr="Flèche de progression vers l'étape 4"/>
          <p:cNvSpPr/>
          <p:nvPr/>
        </p:nvSpPr>
        <p:spPr>
          <a:xfrm>
            <a:off x="8833103" y="3291840"/>
            <a:ext cx="201168" cy="219456"/>
          </a:xfrm>
          <a:prstGeom prst="rightArrow">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descr="Étape 4 du calendrier : Jours 22–30 : bilan et offre pilote"/>
          <p:cNvSpPr/>
          <p:nvPr/>
        </p:nvSpPr>
        <p:spPr>
          <a:xfrm>
            <a:off x="9070847" y="2240280"/>
            <a:ext cx="2560320" cy="228600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descr="Repère décoratif"/>
          <p:cNvSpPr/>
          <p:nvPr/>
        </p:nvSpPr>
        <p:spPr>
          <a:xfrm>
            <a:off x="9070847" y="2240280"/>
            <a:ext cx="2560320" cy="9144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descr="Étiquette étape 4"/>
          <p:cNvSpPr txBox="1"/>
          <p:nvPr/>
        </p:nvSpPr>
        <p:spPr>
          <a:xfrm>
            <a:off x="9253727" y="2423160"/>
            <a:ext cx="2194560" cy="457200"/>
          </a:xfrm>
          <a:prstGeom prst="rect">
            <a:avLst/>
          </a:prstGeom>
          <a:noFill/>
        </p:spPr>
        <p:txBody>
          <a:bodyPr wrap="square" lIns="0" rIns="0" tIns="0" bIns="0" anchor="t">
            <a:spAutoFit/>
          </a:bodyPr>
          <a:lstStyle/>
          <a:p>
            <a:pPr algn="l">
              <a:lnSpc>
                <a:spcPct val="112000"/>
              </a:lnSpc>
            </a:pPr>
            <a:r>
              <a:rPr sz="1250" b="1" i="0">
                <a:solidFill>
                  <a:srgbClr val="22D3EE"/>
                </a:solidFill>
                <a:latin typeface="Arial"/>
              </a:rPr>
              <a:t>ÉTAPE 4</a:t>
            </a:r>
          </a:p>
        </p:txBody>
      </p:sp>
      <p:sp>
        <p:nvSpPr>
          <p:cNvPr id="23" name="TextBox 22" descr="Texte de l'étape 4 : Jours 22–30 : bilan et offre pilote"/>
          <p:cNvSpPr txBox="1"/>
          <p:nvPr/>
        </p:nvSpPr>
        <p:spPr>
          <a:xfrm>
            <a:off x="9253727" y="2926080"/>
            <a:ext cx="2194560" cy="1371600"/>
          </a:xfrm>
          <a:prstGeom prst="rect">
            <a:avLst/>
          </a:prstGeom>
          <a:noFill/>
        </p:spPr>
        <p:txBody>
          <a:bodyPr wrap="square" lIns="0" rIns="0" tIns="0" bIns="0" anchor="t">
            <a:spAutoFit/>
          </a:bodyPr>
          <a:lstStyle/>
          <a:p>
            <a:pPr algn="l">
              <a:lnSpc>
                <a:spcPct val="112000"/>
              </a:lnSpc>
            </a:pPr>
            <a:r>
              <a:rPr sz="1650" b="0" i="0">
                <a:solidFill>
                  <a:srgbClr val="F2F6FC"/>
                </a:solidFill>
                <a:latin typeface="Arial"/>
              </a:rPr>
              <a:t>Jours 22–30 : bilan et offre pilote</a:t>
            </a:r>
          </a:p>
        </p:txBody>
      </p:sp>
      <p:sp>
        <p:nvSpPr>
          <p:cNvPr id="24" name="Rounded Rectangle 23" descr="Bandeau d'information : Calendrier indicatif : les délais ne sont ni un seuil de réussite ni une promesse."/>
          <p:cNvSpPr/>
          <p:nvPr/>
        </p:nvSpPr>
        <p:spPr>
          <a:xfrm>
            <a:off x="566928" y="5623560"/>
            <a:ext cx="11064240" cy="658368"/>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descr="Texte du bandeau : Calendrier indicatif : les délais ne sont ni un seuil de réussite ni une promesse."/>
          <p:cNvSpPr txBox="1"/>
          <p:nvPr/>
        </p:nvSpPr>
        <p:spPr>
          <a:xfrm>
            <a:off x="822960" y="5669280"/>
            <a:ext cx="10607040" cy="566928"/>
          </a:xfrm>
          <a:prstGeom prst="rect">
            <a:avLst/>
          </a:prstGeom>
          <a:noFill/>
        </p:spPr>
        <p:txBody>
          <a:bodyPr wrap="square" lIns="0" rIns="0" tIns="0" bIns="0" anchor="ctr">
            <a:spAutoFit/>
          </a:bodyPr>
          <a:lstStyle/>
          <a:p>
            <a:pPr algn="l">
              <a:lnSpc>
                <a:spcPct val="112000"/>
              </a:lnSpc>
            </a:pPr>
            <a:r>
              <a:rPr sz="1550" b="1" i="0">
                <a:solidFill>
                  <a:srgbClr val="22D3EE"/>
                </a:solidFill>
                <a:latin typeface="Arial"/>
              </a:rPr>
              <a:t>Calendrier indicatif : les délais ne sont ni un seuil de réussite ni une promesse.</a:t>
            </a:r>
          </a:p>
        </p:txBody>
      </p:sp>
      <p:sp>
        <p:nvSpPr>
          <p:cNvPr id="26" name="Rounded Rectangle 25" descr="Élément graphique décoratif, sans information propre"/>
          <p:cNvSpPr/>
          <p:nvPr/>
        </p:nvSpPr>
        <p:spPr>
          <a:xfrm>
            <a:off x="0" y="0"/>
            <a:ext cx="201168" cy="6858000"/>
          </a:xfrm>
          <a:prstGeom prst="round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descr="Référence de source affichée en pied de diapositive : Ch. 36 et annexe C"/>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 36 et annexe C</a:t>
            </a:r>
          </a:p>
        </p:txBody>
      </p:sp>
      <p:sp>
        <p:nvSpPr>
          <p:cNvPr id="28" name="TextBox 27" descr="Numéro de diapositive 80 sur 84, durée prévue 3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80 / 84  ·  3 min</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Mise en œuvre"/>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22D3EE"/>
                </a:solidFill>
                <a:latin typeface="Arial"/>
              </a:rPr>
              <a:t>MISE EN ŒUVRE</a:t>
            </a:r>
          </a:p>
        </p:txBody>
      </p:sp>
      <p:sp>
        <p:nvSpPr>
          <p:cNvPr id="4" name="TextBox 3" descr="Titre : Jours 31–60 : consolider puis documenter"/>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600" b="1" i="0">
                <a:solidFill>
                  <a:srgbClr val="F2F6FC"/>
                </a:solidFill>
                <a:latin typeface="Arial"/>
              </a:rPr>
              <a:t>Jours 31–60 : consolider puis documenter</a:t>
            </a:r>
          </a:p>
        </p:txBody>
      </p:sp>
      <p:sp>
        <p:nvSpPr>
          <p:cNvPr id="5" name="Rounded Rectangle 4" descr="Étape 1 du calendrier : 31–45 : régularité et test de CTA"/>
          <p:cNvSpPr/>
          <p:nvPr/>
        </p:nvSpPr>
        <p:spPr>
          <a:xfrm>
            <a:off x="566928" y="2240280"/>
            <a:ext cx="2560320" cy="228600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descr="Repère décoratif"/>
          <p:cNvSpPr/>
          <p:nvPr/>
        </p:nvSpPr>
        <p:spPr>
          <a:xfrm>
            <a:off x="566928" y="2240280"/>
            <a:ext cx="2560320" cy="9144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descr="Étiquette étape 1"/>
          <p:cNvSpPr txBox="1"/>
          <p:nvPr/>
        </p:nvSpPr>
        <p:spPr>
          <a:xfrm>
            <a:off x="749808" y="2423160"/>
            <a:ext cx="2194560" cy="457200"/>
          </a:xfrm>
          <a:prstGeom prst="rect">
            <a:avLst/>
          </a:prstGeom>
          <a:noFill/>
        </p:spPr>
        <p:txBody>
          <a:bodyPr wrap="square" lIns="0" rIns="0" tIns="0" bIns="0" anchor="t">
            <a:spAutoFit/>
          </a:bodyPr>
          <a:lstStyle/>
          <a:p>
            <a:pPr algn="l">
              <a:lnSpc>
                <a:spcPct val="112000"/>
              </a:lnSpc>
            </a:pPr>
            <a:r>
              <a:rPr sz="1250" b="1" i="0">
                <a:solidFill>
                  <a:srgbClr val="22D3EE"/>
                </a:solidFill>
                <a:latin typeface="Arial"/>
              </a:rPr>
              <a:t>ÉTAPE 1</a:t>
            </a:r>
          </a:p>
        </p:txBody>
      </p:sp>
      <p:sp>
        <p:nvSpPr>
          <p:cNvPr id="8" name="TextBox 7" descr="Texte de l'étape 1 : 31–45 : régularité et test de CTA"/>
          <p:cNvSpPr txBox="1"/>
          <p:nvPr/>
        </p:nvSpPr>
        <p:spPr>
          <a:xfrm>
            <a:off x="749808" y="2926080"/>
            <a:ext cx="2194560" cy="1371600"/>
          </a:xfrm>
          <a:prstGeom prst="rect">
            <a:avLst/>
          </a:prstGeom>
          <a:noFill/>
        </p:spPr>
        <p:txBody>
          <a:bodyPr wrap="square" lIns="0" rIns="0" tIns="0" bIns="0" anchor="t">
            <a:spAutoFit/>
          </a:bodyPr>
          <a:lstStyle/>
          <a:p>
            <a:pPr algn="l">
              <a:lnSpc>
                <a:spcPct val="112000"/>
              </a:lnSpc>
            </a:pPr>
            <a:r>
              <a:rPr sz="1650" b="0" i="0">
                <a:solidFill>
                  <a:srgbClr val="F2F6FC"/>
                </a:solidFill>
                <a:latin typeface="Arial"/>
              </a:rPr>
              <a:t>31–45 : régularité et test de CTA</a:t>
            </a:r>
          </a:p>
        </p:txBody>
      </p:sp>
      <p:sp>
        <p:nvSpPr>
          <p:cNvPr id="9" name="Right Arrow 8" descr="Flèche de progression vers l'étape 2"/>
          <p:cNvSpPr/>
          <p:nvPr/>
        </p:nvSpPr>
        <p:spPr>
          <a:xfrm>
            <a:off x="3163824" y="3291840"/>
            <a:ext cx="201168" cy="219456"/>
          </a:xfrm>
          <a:prstGeom prst="rightArrow">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descr="Étape 2 du calendrier : 31–45 : offre et prospects consentis"/>
          <p:cNvSpPr/>
          <p:nvPr/>
        </p:nvSpPr>
        <p:spPr>
          <a:xfrm>
            <a:off x="3401568" y="2240280"/>
            <a:ext cx="2560320" cy="228600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descr="Repère décoratif"/>
          <p:cNvSpPr/>
          <p:nvPr/>
        </p:nvSpPr>
        <p:spPr>
          <a:xfrm>
            <a:off x="3401568" y="2240280"/>
            <a:ext cx="2560320" cy="9144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descr="Étiquette étape 2"/>
          <p:cNvSpPr txBox="1"/>
          <p:nvPr/>
        </p:nvSpPr>
        <p:spPr>
          <a:xfrm>
            <a:off x="3584448" y="2423160"/>
            <a:ext cx="2194560" cy="457200"/>
          </a:xfrm>
          <a:prstGeom prst="rect">
            <a:avLst/>
          </a:prstGeom>
          <a:noFill/>
        </p:spPr>
        <p:txBody>
          <a:bodyPr wrap="square" lIns="0" rIns="0" tIns="0" bIns="0" anchor="t">
            <a:spAutoFit/>
          </a:bodyPr>
          <a:lstStyle/>
          <a:p>
            <a:pPr algn="l">
              <a:lnSpc>
                <a:spcPct val="112000"/>
              </a:lnSpc>
            </a:pPr>
            <a:r>
              <a:rPr sz="1250" b="1" i="0">
                <a:solidFill>
                  <a:srgbClr val="22D3EE"/>
                </a:solidFill>
                <a:latin typeface="Arial"/>
              </a:rPr>
              <a:t>ÉTAPE 2</a:t>
            </a:r>
          </a:p>
        </p:txBody>
      </p:sp>
      <p:sp>
        <p:nvSpPr>
          <p:cNvPr id="13" name="TextBox 12" descr="Texte de l'étape 2 : 31–45 : offre et prospects consentis"/>
          <p:cNvSpPr txBox="1"/>
          <p:nvPr/>
        </p:nvSpPr>
        <p:spPr>
          <a:xfrm>
            <a:off x="3584448" y="2926080"/>
            <a:ext cx="2194560" cy="1371600"/>
          </a:xfrm>
          <a:prstGeom prst="rect">
            <a:avLst/>
          </a:prstGeom>
          <a:noFill/>
        </p:spPr>
        <p:txBody>
          <a:bodyPr wrap="square" lIns="0" rIns="0" tIns="0" bIns="0" anchor="t">
            <a:spAutoFit/>
          </a:bodyPr>
          <a:lstStyle/>
          <a:p>
            <a:pPr algn="l">
              <a:lnSpc>
                <a:spcPct val="112000"/>
              </a:lnSpc>
            </a:pPr>
            <a:r>
              <a:rPr sz="1650" b="0" i="0">
                <a:solidFill>
                  <a:srgbClr val="F2F6FC"/>
                </a:solidFill>
                <a:latin typeface="Arial"/>
              </a:rPr>
              <a:t>31–45 : offre et prospects consentis</a:t>
            </a:r>
          </a:p>
        </p:txBody>
      </p:sp>
      <p:sp>
        <p:nvSpPr>
          <p:cNvPr id="14" name="Right Arrow 13" descr="Flèche de progression vers l'étape 3"/>
          <p:cNvSpPr/>
          <p:nvPr/>
        </p:nvSpPr>
        <p:spPr>
          <a:xfrm>
            <a:off x="5998464" y="3291840"/>
            <a:ext cx="201168" cy="219456"/>
          </a:xfrm>
          <a:prstGeom prst="rightArrow">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descr="Étape 3 du calendrier : 46–60 : fichiers, droits et reporting"/>
          <p:cNvSpPr/>
          <p:nvPr/>
        </p:nvSpPr>
        <p:spPr>
          <a:xfrm>
            <a:off x="6236207" y="2240280"/>
            <a:ext cx="2560320" cy="228600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descr="Repère décoratif"/>
          <p:cNvSpPr/>
          <p:nvPr/>
        </p:nvSpPr>
        <p:spPr>
          <a:xfrm>
            <a:off x="6236207" y="2240280"/>
            <a:ext cx="2560320" cy="9144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descr="Étiquette étape 3"/>
          <p:cNvSpPr txBox="1"/>
          <p:nvPr/>
        </p:nvSpPr>
        <p:spPr>
          <a:xfrm>
            <a:off x="6419088" y="2423160"/>
            <a:ext cx="2194560" cy="457200"/>
          </a:xfrm>
          <a:prstGeom prst="rect">
            <a:avLst/>
          </a:prstGeom>
          <a:noFill/>
        </p:spPr>
        <p:txBody>
          <a:bodyPr wrap="square" lIns="0" rIns="0" tIns="0" bIns="0" anchor="t">
            <a:spAutoFit/>
          </a:bodyPr>
          <a:lstStyle/>
          <a:p>
            <a:pPr algn="l">
              <a:lnSpc>
                <a:spcPct val="112000"/>
              </a:lnSpc>
            </a:pPr>
            <a:r>
              <a:rPr sz="1250" b="1" i="0">
                <a:solidFill>
                  <a:srgbClr val="22D3EE"/>
                </a:solidFill>
                <a:latin typeface="Arial"/>
              </a:rPr>
              <a:t>ÉTAPE 3</a:t>
            </a:r>
          </a:p>
        </p:txBody>
      </p:sp>
      <p:sp>
        <p:nvSpPr>
          <p:cNvPr id="18" name="TextBox 17" descr="Texte de l'étape 3 : 46–60 : fichiers, droits et reporting"/>
          <p:cNvSpPr txBox="1"/>
          <p:nvPr/>
        </p:nvSpPr>
        <p:spPr>
          <a:xfrm>
            <a:off x="6419088" y="2926080"/>
            <a:ext cx="2194560" cy="1371600"/>
          </a:xfrm>
          <a:prstGeom prst="rect">
            <a:avLst/>
          </a:prstGeom>
          <a:noFill/>
        </p:spPr>
        <p:txBody>
          <a:bodyPr wrap="square" lIns="0" rIns="0" tIns="0" bIns="0" anchor="t">
            <a:spAutoFit/>
          </a:bodyPr>
          <a:lstStyle/>
          <a:p>
            <a:pPr algn="l">
              <a:lnSpc>
                <a:spcPct val="112000"/>
              </a:lnSpc>
            </a:pPr>
            <a:r>
              <a:rPr sz="1650" b="0" i="0">
                <a:solidFill>
                  <a:srgbClr val="F2F6FC"/>
                </a:solidFill>
                <a:latin typeface="Arial"/>
              </a:rPr>
              <a:t>46–60 : fichiers, droits et reporting</a:t>
            </a:r>
          </a:p>
        </p:txBody>
      </p:sp>
      <p:sp>
        <p:nvSpPr>
          <p:cNvPr id="19" name="Right Arrow 18" descr="Flèche de progression vers l'étape 4"/>
          <p:cNvSpPr/>
          <p:nvPr/>
        </p:nvSpPr>
        <p:spPr>
          <a:xfrm>
            <a:off x="8833103" y="3291840"/>
            <a:ext cx="201168" cy="219456"/>
          </a:xfrm>
          <a:prstGeom prst="rightArrow">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descr="Étape 4 du calendrier : 46–60 : une automatisation réversible"/>
          <p:cNvSpPr/>
          <p:nvPr/>
        </p:nvSpPr>
        <p:spPr>
          <a:xfrm>
            <a:off x="9070847" y="2240280"/>
            <a:ext cx="2560320" cy="228600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descr="Repère décoratif"/>
          <p:cNvSpPr/>
          <p:nvPr/>
        </p:nvSpPr>
        <p:spPr>
          <a:xfrm>
            <a:off x="9070847" y="2240280"/>
            <a:ext cx="2560320" cy="9144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descr="Étiquette étape 4"/>
          <p:cNvSpPr txBox="1"/>
          <p:nvPr/>
        </p:nvSpPr>
        <p:spPr>
          <a:xfrm>
            <a:off x="9253727" y="2423160"/>
            <a:ext cx="2194560" cy="457200"/>
          </a:xfrm>
          <a:prstGeom prst="rect">
            <a:avLst/>
          </a:prstGeom>
          <a:noFill/>
        </p:spPr>
        <p:txBody>
          <a:bodyPr wrap="square" lIns="0" rIns="0" tIns="0" bIns="0" anchor="t">
            <a:spAutoFit/>
          </a:bodyPr>
          <a:lstStyle/>
          <a:p>
            <a:pPr algn="l">
              <a:lnSpc>
                <a:spcPct val="112000"/>
              </a:lnSpc>
            </a:pPr>
            <a:r>
              <a:rPr sz="1250" b="1" i="0">
                <a:solidFill>
                  <a:srgbClr val="22D3EE"/>
                </a:solidFill>
                <a:latin typeface="Arial"/>
              </a:rPr>
              <a:t>ÉTAPE 4</a:t>
            </a:r>
          </a:p>
        </p:txBody>
      </p:sp>
      <p:sp>
        <p:nvSpPr>
          <p:cNvPr id="23" name="TextBox 22" descr="Texte de l'étape 4 : 46–60 : une automatisation réversible"/>
          <p:cNvSpPr txBox="1"/>
          <p:nvPr/>
        </p:nvSpPr>
        <p:spPr>
          <a:xfrm>
            <a:off x="9253727" y="2926080"/>
            <a:ext cx="2194560" cy="1371600"/>
          </a:xfrm>
          <a:prstGeom prst="rect">
            <a:avLst/>
          </a:prstGeom>
          <a:noFill/>
        </p:spPr>
        <p:txBody>
          <a:bodyPr wrap="square" lIns="0" rIns="0" tIns="0" bIns="0" anchor="t">
            <a:spAutoFit/>
          </a:bodyPr>
          <a:lstStyle/>
          <a:p>
            <a:pPr algn="l">
              <a:lnSpc>
                <a:spcPct val="112000"/>
              </a:lnSpc>
            </a:pPr>
            <a:r>
              <a:rPr sz="1650" b="0" i="0">
                <a:solidFill>
                  <a:srgbClr val="F2F6FC"/>
                </a:solidFill>
                <a:latin typeface="Arial"/>
              </a:rPr>
              <a:t>46–60 : une automatisation réversible</a:t>
            </a:r>
          </a:p>
        </p:txBody>
      </p:sp>
      <p:sp>
        <p:nvSpPr>
          <p:cNvPr id="24" name="Rounded Rectangle 23" descr="Bandeau d'information : Calendrier indicatif : les délais ne sont ni un seuil de réussite ni une promesse."/>
          <p:cNvSpPr/>
          <p:nvPr/>
        </p:nvSpPr>
        <p:spPr>
          <a:xfrm>
            <a:off x="566928" y="5623560"/>
            <a:ext cx="11064240" cy="658368"/>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descr="Texte du bandeau : Calendrier indicatif : les délais ne sont ni un seuil de réussite ni une promesse."/>
          <p:cNvSpPr txBox="1"/>
          <p:nvPr/>
        </p:nvSpPr>
        <p:spPr>
          <a:xfrm>
            <a:off x="822960" y="5669280"/>
            <a:ext cx="10607040" cy="566928"/>
          </a:xfrm>
          <a:prstGeom prst="rect">
            <a:avLst/>
          </a:prstGeom>
          <a:noFill/>
        </p:spPr>
        <p:txBody>
          <a:bodyPr wrap="square" lIns="0" rIns="0" tIns="0" bIns="0" anchor="ctr">
            <a:spAutoFit/>
          </a:bodyPr>
          <a:lstStyle/>
          <a:p>
            <a:pPr algn="l">
              <a:lnSpc>
                <a:spcPct val="112000"/>
              </a:lnSpc>
            </a:pPr>
            <a:r>
              <a:rPr sz="1550" b="1" i="0">
                <a:solidFill>
                  <a:srgbClr val="22D3EE"/>
                </a:solidFill>
                <a:latin typeface="Arial"/>
              </a:rPr>
              <a:t>Calendrier indicatif : les délais ne sont ni un seuil de réussite ni une promesse.</a:t>
            </a:r>
          </a:p>
        </p:txBody>
      </p:sp>
      <p:sp>
        <p:nvSpPr>
          <p:cNvPr id="26" name="Rounded Rectangle 25" descr="Élément graphique décoratif, sans information propre"/>
          <p:cNvSpPr/>
          <p:nvPr/>
        </p:nvSpPr>
        <p:spPr>
          <a:xfrm>
            <a:off x="0" y="0"/>
            <a:ext cx="201168" cy="6858000"/>
          </a:xfrm>
          <a:prstGeom prst="round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descr="Référence de source affichée en pied de diapositive : Ch. 37 et annexe C"/>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 37 et annexe C</a:t>
            </a:r>
          </a:p>
        </p:txBody>
      </p:sp>
      <p:sp>
        <p:nvSpPr>
          <p:cNvPr id="28" name="TextBox 27" descr="Numéro de diapositive 81 sur 84, durée prévue 3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81 / 84  ·  3 min</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Contrôle qualité"/>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22D3EE"/>
                </a:solidFill>
                <a:latin typeface="Arial"/>
              </a:rPr>
              <a:t>CONTRÔLE QUALITÉ</a:t>
            </a:r>
          </a:p>
        </p:txBody>
      </p:sp>
      <p:sp>
        <p:nvSpPr>
          <p:cNvPr id="4" name="TextBox 3" descr="Titre : Avant de publier : cinq contrôles"/>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600" b="1" i="0">
                <a:solidFill>
                  <a:srgbClr val="F2F6FC"/>
                </a:solidFill>
                <a:latin typeface="Arial"/>
              </a:rPr>
              <a:t>Avant de publier : cinq contrôles</a:t>
            </a:r>
          </a:p>
        </p:txBody>
      </p:sp>
      <p:sp>
        <p:nvSpPr>
          <p:cNvPr id="5" name="Rounded Rectangle 4" descr="Contrôle 1 : Une question claire et une preuve"/>
          <p:cNvSpPr/>
          <p:nvPr/>
        </p:nvSpPr>
        <p:spPr>
          <a:xfrm>
            <a:off x="566928" y="2103120"/>
            <a:ext cx="11064240" cy="64008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descr="Case à cocher 1"/>
          <p:cNvSpPr/>
          <p:nvPr/>
        </p:nvSpPr>
        <p:spPr>
          <a:xfrm>
            <a:off x="868680" y="2249424"/>
            <a:ext cx="347472" cy="347472"/>
          </a:xfrm>
          <a:prstGeom prst="rect">
            <a:avLst/>
          </a:prstGeom>
          <a:noFill/>
          <a:ln w="1587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descr="Texte du contrôle 1 : Une question claire et une preuve"/>
          <p:cNvSpPr txBox="1"/>
          <p:nvPr/>
        </p:nvSpPr>
        <p:spPr>
          <a:xfrm>
            <a:off x="1417320" y="2176272"/>
            <a:ext cx="9966960" cy="493776"/>
          </a:xfrm>
          <a:prstGeom prst="rect">
            <a:avLst/>
          </a:prstGeom>
          <a:noFill/>
        </p:spPr>
        <p:txBody>
          <a:bodyPr wrap="square" lIns="0" rIns="0" tIns="0" bIns="0" anchor="ctr">
            <a:spAutoFit/>
          </a:bodyPr>
          <a:lstStyle/>
          <a:p>
            <a:pPr algn="l">
              <a:lnSpc>
                <a:spcPct val="112000"/>
              </a:lnSpc>
            </a:pPr>
            <a:r>
              <a:rPr sz="1700" b="0" i="0">
                <a:solidFill>
                  <a:srgbClr val="F2F6FC"/>
                </a:solidFill>
                <a:latin typeface="Arial"/>
              </a:rPr>
              <a:t>Une question claire et une preuve</a:t>
            </a:r>
          </a:p>
        </p:txBody>
      </p:sp>
      <p:sp>
        <p:nvSpPr>
          <p:cNvPr id="8" name="Rounded Rectangle 7" descr="Contrôle 2 : Droits des images, voix et musique"/>
          <p:cNvSpPr/>
          <p:nvPr/>
        </p:nvSpPr>
        <p:spPr>
          <a:xfrm>
            <a:off x="566928" y="2852927"/>
            <a:ext cx="11064240" cy="64008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descr="Case à cocher 2"/>
          <p:cNvSpPr/>
          <p:nvPr/>
        </p:nvSpPr>
        <p:spPr>
          <a:xfrm>
            <a:off x="868680" y="2999232"/>
            <a:ext cx="347472" cy="347472"/>
          </a:xfrm>
          <a:prstGeom prst="rect">
            <a:avLst/>
          </a:prstGeom>
          <a:noFill/>
          <a:ln w="1587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descr="Texte du contrôle 2 : Droits des images, voix et musique"/>
          <p:cNvSpPr txBox="1"/>
          <p:nvPr/>
        </p:nvSpPr>
        <p:spPr>
          <a:xfrm>
            <a:off x="1417320" y="2926079"/>
            <a:ext cx="9966960" cy="493776"/>
          </a:xfrm>
          <a:prstGeom prst="rect">
            <a:avLst/>
          </a:prstGeom>
          <a:noFill/>
        </p:spPr>
        <p:txBody>
          <a:bodyPr wrap="square" lIns="0" rIns="0" tIns="0" bIns="0" anchor="ctr">
            <a:spAutoFit/>
          </a:bodyPr>
          <a:lstStyle/>
          <a:p>
            <a:pPr algn="l">
              <a:lnSpc>
                <a:spcPct val="112000"/>
              </a:lnSpc>
            </a:pPr>
            <a:r>
              <a:rPr sz="1700" b="0" i="0">
                <a:solidFill>
                  <a:srgbClr val="F2F6FC"/>
                </a:solidFill>
                <a:latin typeface="Arial"/>
              </a:rPr>
              <a:t>Droits des images, voix et musique</a:t>
            </a:r>
          </a:p>
        </p:txBody>
      </p:sp>
      <p:sp>
        <p:nvSpPr>
          <p:cNvPr id="11" name="Rounded Rectangle 10" descr="Contrôle 3 : Sous-titres et liens relus"/>
          <p:cNvSpPr/>
          <p:nvPr/>
        </p:nvSpPr>
        <p:spPr>
          <a:xfrm>
            <a:off x="566928" y="3602735"/>
            <a:ext cx="11064240" cy="64008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descr="Case à cocher 3"/>
          <p:cNvSpPr/>
          <p:nvPr/>
        </p:nvSpPr>
        <p:spPr>
          <a:xfrm>
            <a:off x="868680" y="3749039"/>
            <a:ext cx="347472" cy="347472"/>
          </a:xfrm>
          <a:prstGeom prst="rect">
            <a:avLst/>
          </a:prstGeom>
          <a:noFill/>
          <a:ln w="1587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descr="Texte du contrôle 3 : Sous-titres et liens relus"/>
          <p:cNvSpPr txBox="1"/>
          <p:nvPr/>
        </p:nvSpPr>
        <p:spPr>
          <a:xfrm>
            <a:off x="1417320" y="3675887"/>
            <a:ext cx="9966960" cy="493776"/>
          </a:xfrm>
          <a:prstGeom prst="rect">
            <a:avLst/>
          </a:prstGeom>
          <a:noFill/>
        </p:spPr>
        <p:txBody>
          <a:bodyPr wrap="square" lIns="0" rIns="0" tIns="0" bIns="0" anchor="ctr">
            <a:spAutoFit/>
          </a:bodyPr>
          <a:lstStyle/>
          <a:p>
            <a:pPr algn="l">
              <a:lnSpc>
                <a:spcPct val="112000"/>
              </a:lnSpc>
            </a:pPr>
            <a:r>
              <a:rPr sz="1700" b="0" i="0">
                <a:solidFill>
                  <a:srgbClr val="F2F6FC"/>
                </a:solidFill>
                <a:latin typeface="Arial"/>
              </a:rPr>
              <a:t>Sous-titres et liens relus</a:t>
            </a:r>
          </a:p>
        </p:txBody>
      </p:sp>
      <p:sp>
        <p:nvSpPr>
          <p:cNvPr id="14" name="Rounded Rectangle 13" descr="Contrôle 4 : CTA et divulgation honnêtes"/>
          <p:cNvSpPr/>
          <p:nvPr/>
        </p:nvSpPr>
        <p:spPr>
          <a:xfrm>
            <a:off x="566928" y="4352544"/>
            <a:ext cx="11064240" cy="64008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descr="Case à cocher 4"/>
          <p:cNvSpPr/>
          <p:nvPr/>
        </p:nvSpPr>
        <p:spPr>
          <a:xfrm>
            <a:off x="868680" y="4498848"/>
            <a:ext cx="347472" cy="347472"/>
          </a:xfrm>
          <a:prstGeom prst="rect">
            <a:avLst/>
          </a:prstGeom>
          <a:noFill/>
          <a:ln w="1587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descr="Texte du contrôle 4 : CTA et divulgation honnêtes"/>
          <p:cNvSpPr txBox="1"/>
          <p:nvPr/>
        </p:nvSpPr>
        <p:spPr>
          <a:xfrm>
            <a:off x="1417320" y="4425696"/>
            <a:ext cx="9966960" cy="493776"/>
          </a:xfrm>
          <a:prstGeom prst="rect">
            <a:avLst/>
          </a:prstGeom>
          <a:noFill/>
        </p:spPr>
        <p:txBody>
          <a:bodyPr wrap="square" lIns="0" rIns="0" tIns="0" bIns="0" anchor="ctr">
            <a:spAutoFit/>
          </a:bodyPr>
          <a:lstStyle/>
          <a:p>
            <a:pPr algn="l">
              <a:lnSpc>
                <a:spcPct val="112000"/>
              </a:lnSpc>
            </a:pPr>
            <a:r>
              <a:rPr sz="1700" b="0" i="0">
                <a:solidFill>
                  <a:srgbClr val="F2F6FC"/>
                </a:solidFill>
                <a:latin typeface="Arial"/>
              </a:rPr>
              <a:t>CTA et divulgation honnêtes</a:t>
            </a:r>
          </a:p>
        </p:txBody>
      </p:sp>
      <p:sp>
        <p:nvSpPr>
          <p:cNvPr id="17" name="Rounded Rectangle 16" descr="Contrôle 5 : Export ouvert et vérifié"/>
          <p:cNvSpPr/>
          <p:nvPr/>
        </p:nvSpPr>
        <p:spPr>
          <a:xfrm>
            <a:off x="566928" y="5102352"/>
            <a:ext cx="11064240" cy="64008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descr="Case à cocher 5"/>
          <p:cNvSpPr/>
          <p:nvPr/>
        </p:nvSpPr>
        <p:spPr>
          <a:xfrm>
            <a:off x="868680" y="5248656"/>
            <a:ext cx="347472" cy="347472"/>
          </a:xfrm>
          <a:prstGeom prst="rect">
            <a:avLst/>
          </a:prstGeom>
          <a:noFill/>
          <a:ln w="1587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descr="Texte du contrôle 5 : Export ouvert et vérifié"/>
          <p:cNvSpPr txBox="1"/>
          <p:nvPr/>
        </p:nvSpPr>
        <p:spPr>
          <a:xfrm>
            <a:off x="1417320" y="5175504"/>
            <a:ext cx="9966960" cy="493776"/>
          </a:xfrm>
          <a:prstGeom prst="rect">
            <a:avLst/>
          </a:prstGeom>
          <a:noFill/>
        </p:spPr>
        <p:txBody>
          <a:bodyPr wrap="square" lIns="0" rIns="0" tIns="0" bIns="0" anchor="ctr">
            <a:spAutoFit/>
          </a:bodyPr>
          <a:lstStyle/>
          <a:p>
            <a:pPr algn="l">
              <a:lnSpc>
                <a:spcPct val="112000"/>
              </a:lnSpc>
            </a:pPr>
            <a:r>
              <a:rPr sz="1700" b="0" i="0">
                <a:solidFill>
                  <a:srgbClr val="F2F6FC"/>
                </a:solidFill>
                <a:latin typeface="Arial"/>
              </a:rPr>
              <a:t>Export ouvert et vérifié</a:t>
            </a:r>
          </a:p>
        </p:txBody>
      </p:sp>
      <p:sp>
        <p:nvSpPr>
          <p:cNvPr id="20" name="Rounded Rectangle 19" descr="Élément graphique décoratif, sans information propre"/>
          <p:cNvSpPr/>
          <p:nvPr/>
        </p:nvSpPr>
        <p:spPr>
          <a:xfrm>
            <a:off x="0" y="0"/>
            <a:ext cx="201168" cy="6858000"/>
          </a:xfrm>
          <a:prstGeom prst="round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descr="Référence de source affichée en pied de diapositive : Ch. 14, 16, 24 ; annexe D"/>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Ch. 14, 16, 24 ; annexe D</a:t>
            </a:r>
          </a:p>
        </p:txBody>
      </p:sp>
      <p:sp>
        <p:nvSpPr>
          <p:cNvPr id="22" name="TextBox 21" descr="Numéro de diapositive 82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82 / 84  ·  2 min</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descr="Élément graphique décoratif, sans information propr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descr="Bandeau supérieur"/>
          <p:cNvSpPr/>
          <p:nvPr/>
        </p:nvSpPr>
        <p:spPr>
          <a:xfrm>
            <a:off x="0" y="0"/>
            <a:ext cx="12191695" cy="25603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descr="Titre : Votre prochaine action"/>
          <p:cNvSpPr txBox="1"/>
          <p:nvPr/>
        </p:nvSpPr>
        <p:spPr>
          <a:xfrm>
            <a:off x="822960" y="1051560"/>
            <a:ext cx="10515600" cy="1005840"/>
          </a:xfrm>
          <a:prstGeom prst="rect">
            <a:avLst/>
          </a:prstGeom>
          <a:noFill/>
        </p:spPr>
        <p:txBody>
          <a:bodyPr wrap="square" lIns="0" rIns="0" tIns="0" bIns="0" anchor="t">
            <a:spAutoFit/>
          </a:bodyPr>
          <a:lstStyle/>
          <a:p>
            <a:pPr algn="l">
              <a:lnSpc>
                <a:spcPct val="106000"/>
              </a:lnSpc>
            </a:pPr>
            <a:r>
              <a:rPr sz="5400" b="1" i="0">
                <a:solidFill>
                  <a:srgbClr val="F2F6FC"/>
                </a:solidFill>
                <a:latin typeface="Arial"/>
              </a:rPr>
              <a:t>Votre prochaine action</a:t>
            </a:r>
          </a:p>
        </p:txBody>
      </p:sp>
      <p:sp>
        <p:nvSpPr>
          <p:cNvPr id="6" name="Rounded Rectangle 5" descr="Étape de clôture 1 : Une compétence"/>
          <p:cNvSpPr/>
          <p:nvPr/>
        </p:nvSpPr>
        <p:spPr>
          <a:xfrm>
            <a:off x="822960" y="2514600"/>
            <a:ext cx="1964131" cy="137160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descr="Repère décoratif"/>
          <p:cNvSpPr/>
          <p:nvPr/>
        </p:nvSpPr>
        <p:spPr>
          <a:xfrm>
            <a:off x="822960" y="2514600"/>
            <a:ext cx="1964131" cy="7315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descr="Texte : Une compétence"/>
          <p:cNvSpPr txBox="1"/>
          <p:nvPr/>
        </p:nvSpPr>
        <p:spPr>
          <a:xfrm>
            <a:off x="969264" y="2606040"/>
            <a:ext cx="1671523" cy="1188720"/>
          </a:xfrm>
          <a:prstGeom prst="rect">
            <a:avLst/>
          </a:prstGeom>
          <a:noFill/>
        </p:spPr>
        <p:txBody>
          <a:bodyPr wrap="square" lIns="0" rIns="0" tIns="0" bIns="0" anchor="ctr">
            <a:spAutoFit/>
          </a:bodyPr>
          <a:lstStyle/>
          <a:p>
            <a:pPr algn="ctr">
              <a:lnSpc>
                <a:spcPct val="112000"/>
              </a:lnSpc>
            </a:pPr>
            <a:r>
              <a:rPr sz="1600" b="1" i="0">
                <a:solidFill>
                  <a:srgbClr val="F2F6FC"/>
                </a:solidFill>
                <a:latin typeface="Arial"/>
              </a:rPr>
              <a:t>Une compétence</a:t>
            </a:r>
          </a:p>
        </p:txBody>
      </p:sp>
      <p:sp>
        <p:nvSpPr>
          <p:cNvPr id="9" name="Rounded Rectangle 8" descr="Étape de clôture 2 : Un public"/>
          <p:cNvSpPr/>
          <p:nvPr/>
        </p:nvSpPr>
        <p:spPr>
          <a:xfrm>
            <a:off x="2969971" y="2514600"/>
            <a:ext cx="1964131" cy="137160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descr="Repère décoratif"/>
          <p:cNvSpPr/>
          <p:nvPr/>
        </p:nvSpPr>
        <p:spPr>
          <a:xfrm>
            <a:off x="2969971" y="2514600"/>
            <a:ext cx="1964131" cy="7315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descr="Texte : Un public"/>
          <p:cNvSpPr txBox="1"/>
          <p:nvPr/>
        </p:nvSpPr>
        <p:spPr>
          <a:xfrm>
            <a:off x="3116275" y="2606040"/>
            <a:ext cx="1671523" cy="1188720"/>
          </a:xfrm>
          <a:prstGeom prst="rect">
            <a:avLst/>
          </a:prstGeom>
          <a:noFill/>
        </p:spPr>
        <p:txBody>
          <a:bodyPr wrap="square" lIns="0" rIns="0" tIns="0" bIns="0" anchor="ctr">
            <a:spAutoFit/>
          </a:bodyPr>
          <a:lstStyle/>
          <a:p>
            <a:pPr algn="ctr">
              <a:lnSpc>
                <a:spcPct val="112000"/>
              </a:lnSpc>
            </a:pPr>
            <a:r>
              <a:rPr sz="1600" b="1" i="0">
                <a:solidFill>
                  <a:srgbClr val="F2F6FC"/>
                </a:solidFill>
                <a:latin typeface="Arial"/>
              </a:rPr>
              <a:t>Un public</a:t>
            </a:r>
          </a:p>
        </p:txBody>
      </p:sp>
      <p:sp>
        <p:nvSpPr>
          <p:cNvPr id="12" name="Rounded Rectangle 11" descr="Étape de clôture 3 : Un contenu pilote"/>
          <p:cNvSpPr/>
          <p:nvPr/>
        </p:nvSpPr>
        <p:spPr>
          <a:xfrm>
            <a:off x="5116982" y="2514600"/>
            <a:ext cx="1964131" cy="137160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descr="Repère décoratif"/>
          <p:cNvSpPr/>
          <p:nvPr/>
        </p:nvSpPr>
        <p:spPr>
          <a:xfrm>
            <a:off x="5116982" y="2514600"/>
            <a:ext cx="1964131" cy="7315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descr="Texte : Un contenu pilote"/>
          <p:cNvSpPr txBox="1"/>
          <p:nvPr/>
        </p:nvSpPr>
        <p:spPr>
          <a:xfrm>
            <a:off x="5263286" y="2606040"/>
            <a:ext cx="1671523" cy="1188720"/>
          </a:xfrm>
          <a:prstGeom prst="rect">
            <a:avLst/>
          </a:prstGeom>
          <a:noFill/>
        </p:spPr>
        <p:txBody>
          <a:bodyPr wrap="square" lIns="0" rIns="0" tIns="0" bIns="0" anchor="ctr">
            <a:spAutoFit/>
          </a:bodyPr>
          <a:lstStyle/>
          <a:p>
            <a:pPr algn="ctr">
              <a:lnSpc>
                <a:spcPct val="112000"/>
              </a:lnSpc>
            </a:pPr>
            <a:r>
              <a:rPr sz="1600" b="1" i="0">
                <a:solidFill>
                  <a:srgbClr val="F2F6FC"/>
                </a:solidFill>
                <a:latin typeface="Arial"/>
              </a:rPr>
              <a:t>Un contenu pilote</a:t>
            </a:r>
          </a:p>
        </p:txBody>
      </p:sp>
      <p:sp>
        <p:nvSpPr>
          <p:cNvPr id="15" name="Rounded Rectangle 14" descr="Étape de clôture 4 : Une mesure"/>
          <p:cNvSpPr/>
          <p:nvPr/>
        </p:nvSpPr>
        <p:spPr>
          <a:xfrm>
            <a:off x="7263993" y="2514600"/>
            <a:ext cx="1964131" cy="137160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descr="Repère décoratif"/>
          <p:cNvSpPr/>
          <p:nvPr/>
        </p:nvSpPr>
        <p:spPr>
          <a:xfrm>
            <a:off x="7263993" y="2514600"/>
            <a:ext cx="1964131" cy="7315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descr="Texte : Une mesure"/>
          <p:cNvSpPr txBox="1"/>
          <p:nvPr/>
        </p:nvSpPr>
        <p:spPr>
          <a:xfrm>
            <a:off x="7410297" y="2606040"/>
            <a:ext cx="1671523" cy="1188720"/>
          </a:xfrm>
          <a:prstGeom prst="rect">
            <a:avLst/>
          </a:prstGeom>
          <a:noFill/>
        </p:spPr>
        <p:txBody>
          <a:bodyPr wrap="square" lIns="0" rIns="0" tIns="0" bIns="0" anchor="ctr">
            <a:spAutoFit/>
          </a:bodyPr>
          <a:lstStyle/>
          <a:p>
            <a:pPr algn="ctr">
              <a:lnSpc>
                <a:spcPct val="112000"/>
              </a:lnSpc>
            </a:pPr>
            <a:r>
              <a:rPr sz="1600" b="1" i="0">
                <a:solidFill>
                  <a:srgbClr val="F2F6FC"/>
                </a:solidFill>
                <a:latin typeface="Arial"/>
              </a:rPr>
              <a:t>Une mesure</a:t>
            </a:r>
          </a:p>
        </p:txBody>
      </p:sp>
      <p:sp>
        <p:nvSpPr>
          <p:cNvPr id="18" name="Rounded Rectangle 17" descr="Étape de clôture 5 : Une décision"/>
          <p:cNvSpPr/>
          <p:nvPr/>
        </p:nvSpPr>
        <p:spPr>
          <a:xfrm>
            <a:off x="9411004" y="2514600"/>
            <a:ext cx="1964131" cy="1371600"/>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descr="Repère décoratif"/>
          <p:cNvSpPr/>
          <p:nvPr/>
        </p:nvSpPr>
        <p:spPr>
          <a:xfrm>
            <a:off x="9411004" y="2514600"/>
            <a:ext cx="1964131" cy="7315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descr="Texte : Une décision"/>
          <p:cNvSpPr txBox="1"/>
          <p:nvPr/>
        </p:nvSpPr>
        <p:spPr>
          <a:xfrm>
            <a:off x="9557308" y="2606040"/>
            <a:ext cx="1671523" cy="1188720"/>
          </a:xfrm>
          <a:prstGeom prst="rect">
            <a:avLst/>
          </a:prstGeom>
          <a:noFill/>
        </p:spPr>
        <p:txBody>
          <a:bodyPr wrap="square" lIns="0" rIns="0" tIns="0" bIns="0" anchor="ctr">
            <a:spAutoFit/>
          </a:bodyPr>
          <a:lstStyle/>
          <a:p>
            <a:pPr algn="ctr">
              <a:lnSpc>
                <a:spcPct val="112000"/>
              </a:lnSpc>
            </a:pPr>
            <a:r>
              <a:rPr sz="1600" b="1" i="0">
                <a:solidFill>
                  <a:srgbClr val="F2F6FC"/>
                </a:solidFill>
                <a:latin typeface="Arial"/>
              </a:rPr>
              <a:t>Une décision</a:t>
            </a:r>
          </a:p>
        </p:txBody>
      </p:sp>
      <p:sp>
        <p:nvSpPr>
          <p:cNvPr id="21" name="Rounded Rectangle 20" descr="Phrase à compléter par chaque participant"/>
          <p:cNvSpPr/>
          <p:nvPr/>
        </p:nvSpPr>
        <p:spPr>
          <a:xfrm>
            <a:off x="822960" y="4206240"/>
            <a:ext cx="10552176" cy="114300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descr="Modèle de phrase à compléter"/>
          <p:cNvSpPr txBox="1"/>
          <p:nvPr/>
        </p:nvSpPr>
        <p:spPr>
          <a:xfrm>
            <a:off x="1051560" y="4343400"/>
            <a:ext cx="10058400" cy="868680"/>
          </a:xfrm>
          <a:prstGeom prst="rect">
            <a:avLst/>
          </a:prstGeom>
          <a:noFill/>
        </p:spPr>
        <p:txBody>
          <a:bodyPr wrap="square" lIns="0" rIns="0" tIns="0" bIns="0" anchor="ctr">
            <a:spAutoFit/>
          </a:bodyPr>
          <a:lstStyle/>
          <a:p>
            <a:pPr algn="l">
              <a:lnSpc>
                <a:spcPct val="112000"/>
              </a:lnSpc>
            </a:pPr>
            <a:r>
              <a:rPr sz="1700" b="1" i="0">
                <a:solidFill>
                  <a:srgbClr val="22D3EE"/>
                </a:solidFill>
                <a:latin typeface="Arial"/>
              </a:rPr>
              <a:t>Je peux aider [public] à [tâche] en produisant [contenu] ; je vérifierai [fait ou droit] et mesurerai [indicateur défini].</a:t>
            </a:r>
          </a:p>
        </p:txBody>
      </p:sp>
      <p:sp>
        <p:nvSpPr>
          <p:cNvPr id="23" name="TextBox 22" descr="Avertissement : aucune garantie de revenu"/>
          <p:cNvSpPr txBox="1"/>
          <p:nvPr/>
        </p:nvSpPr>
        <p:spPr>
          <a:xfrm>
            <a:off x="822960" y="5623560"/>
            <a:ext cx="10515600" cy="457200"/>
          </a:xfrm>
          <a:prstGeom prst="rect">
            <a:avLst/>
          </a:prstGeom>
          <a:noFill/>
        </p:spPr>
        <p:txBody>
          <a:bodyPr wrap="square" lIns="0" rIns="0" tIns="0" bIns="0" anchor="t">
            <a:spAutoFit/>
          </a:bodyPr>
          <a:lstStyle/>
          <a:p>
            <a:pPr algn="l">
              <a:lnSpc>
                <a:spcPct val="112000"/>
              </a:lnSpc>
            </a:pPr>
            <a:r>
              <a:rPr sz="1500" b="0" i="0">
                <a:solidFill>
                  <a:srgbClr val="9FB0CC"/>
                </a:solidFill>
                <a:latin typeface="Arial"/>
              </a:rPr>
              <a:t>Aucun revenu, aucune viralité et aucune monétisation ne sont garantis.</a:t>
            </a:r>
          </a:p>
        </p:txBody>
      </p:sp>
      <p:sp>
        <p:nvSpPr>
          <p:cNvPr id="24" name="Rounded Rectangle 23" descr="Élément graphique décoratif, sans information propre"/>
          <p:cNvSpPr/>
          <p:nvPr/>
        </p:nvSpPr>
        <p:spPr>
          <a:xfrm>
            <a:off x="0" y="0"/>
            <a:ext cx="201168" cy="6858000"/>
          </a:xfrm>
          <a:prstGeom prst="round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descr="Référence de source affichée en pied de diapositive : Conclusion et chapitre 39"/>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Conclusion et chapitre 39</a:t>
            </a:r>
          </a:p>
        </p:txBody>
      </p:sp>
      <p:sp>
        <p:nvSpPr>
          <p:cNvPr id="26" name="TextBox 25" descr="Numéro de diapositive 83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83 / 84  ·  2 min</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descr="Fond bleu nuit de la diapositive"/>
          <p:cNvSpPr/>
          <p:nvPr/>
        </p:nvSpPr>
        <p:spPr>
          <a:xfrm>
            <a:off x="0" y="0"/>
            <a:ext cx="12191695" cy="6858000"/>
          </a:xfrm>
          <a:prstGeom prst="rect">
            <a:avLst/>
          </a:prstGeom>
          <a:solidFill>
            <a:srgbClr val="081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descr="Repère de section affiché en haut de diapositive : Ressources"/>
          <p:cNvSpPr txBox="1"/>
          <p:nvPr/>
        </p:nvSpPr>
        <p:spPr>
          <a:xfrm>
            <a:off x="566928" y="384048"/>
            <a:ext cx="8229600" cy="329184"/>
          </a:xfrm>
          <a:prstGeom prst="rect">
            <a:avLst/>
          </a:prstGeom>
          <a:noFill/>
        </p:spPr>
        <p:txBody>
          <a:bodyPr wrap="square" lIns="0" rIns="0" tIns="0" bIns="0" anchor="t">
            <a:spAutoFit/>
          </a:bodyPr>
          <a:lstStyle/>
          <a:p>
            <a:pPr algn="l">
              <a:lnSpc>
                <a:spcPct val="112000"/>
              </a:lnSpc>
            </a:pPr>
            <a:r>
              <a:rPr sz="1250" b="1" i="0">
                <a:solidFill>
                  <a:srgbClr val="22D3EE"/>
                </a:solidFill>
                <a:latin typeface="Arial"/>
              </a:rPr>
              <a:t>RESSOURCES</a:t>
            </a:r>
          </a:p>
        </p:txBody>
      </p:sp>
      <p:sp>
        <p:nvSpPr>
          <p:cNvPr id="4" name="TextBox 3" descr="Titre : Sources &amp; recontrôle"/>
          <p:cNvSpPr txBox="1"/>
          <p:nvPr/>
        </p:nvSpPr>
        <p:spPr>
          <a:xfrm>
            <a:off x="566928" y="777240"/>
            <a:ext cx="11064240" cy="896112"/>
          </a:xfrm>
          <a:prstGeom prst="rect">
            <a:avLst/>
          </a:prstGeom>
          <a:noFill/>
        </p:spPr>
        <p:txBody>
          <a:bodyPr wrap="square" lIns="0" rIns="0" tIns="0" bIns="0" anchor="t">
            <a:spAutoFit/>
          </a:bodyPr>
          <a:lstStyle/>
          <a:p>
            <a:pPr algn="l">
              <a:lnSpc>
                <a:spcPct val="106000"/>
              </a:lnSpc>
            </a:pPr>
            <a:r>
              <a:rPr sz="3800" b="1" i="0">
                <a:solidFill>
                  <a:srgbClr val="F2F6FC"/>
                </a:solidFill>
                <a:latin typeface="Arial"/>
              </a:rPr>
              <a:t>Sources &amp; recontrôle</a:t>
            </a:r>
          </a:p>
        </p:txBody>
      </p:sp>
      <p:sp>
        <p:nvSpPr>
          <p:cNvPr id="5" name="Rounded Rectangle 4" descr="Point 1 : TikTok Creator Rewards et paiements"/>
          <p:cNvSpPr/>
          <p:nvPr/>
        </p:nvSpPr>
        <p:spPr>
          <a:xfrm>
            <a:off x="566928" y="2148840"/>
            <a:ext cx="11064240" cy="749808"/>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descr="Repère décoratif de section"/>
          <p:cNvSpPr/>
          <p:nvPr/>
        </p:nvSpPr>
        <p:spPr>
          <a:xfrm>
            <a:off x="566928" y="2148840"/>
            <a:ext cx="64008" cy="74980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descr="Numéro d'étape 1"/>
          <p:cNvSpPr txBox="1"/>
          <p:nvPr/>
        </p:nvSpPr>
        <p:spPr>
          <a:xfrm>
            <a:off x="841247" y="2249424"/>
            <a:ext cx="822960" cy="548640"/>
          </a:xfrm>
          <a:prstGeom prst="rect">
            <a:avLst/>
          </a:prstGeom>
          <a:noFill/>
        </p:spPr>
        <p:txBody>
          <a:bodyPr wrap="square" lIns="0" rIns="0" tIns="0" bIns="0" anchor="ctr">
            <a:spAutoFit/>
          </a:bodyPr>
          <a:lstStyle/>
          <a:p>
            <a:pPr algn="l">
              <a:lnSpc>
                <a:spcPct val="112000"/>
              </a:lnSpc>
            </a:pPr>
            <a:r>
              <a:rPr sz="2400" b="1" i="0">
                <a:solidFill>
                  <a:srgbClr val="22D3EE"/>
                </a:solidFill>
                <a:latin typeface="Arial"/>
              </a:rPr>
              <a:t>01</a:t>
            </a:r>
          </a:p>
        </p:txBody>
      </p:sp>
      <p:sp>
        <p:nvSpPr>
          <p:cNvPr id="8" name="TextBox 7" descr="Texte du point 1 : TikTok Creator Rewards et paiements"/>
          <p:cNvSpPr txBox="1"/>
          <p:nvPr/>
        </p:nvSpPr>
        <p:spPr>
          <a:xfrm>
            <a:off x="1755648" y="2203704"/>
            <a:ext cx="9646919" cy="640080"/>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TikTok Creator Rewards et paiements</a:t>
            </a:r>
          </a:p>
        </p:txBody>
      </p:sp>
      <p:sp>
        <p:nvSpPr>
          <p:cNvPr id="9" name="Rounded Rectangle 8" descr="Point 2 : YouTube Partner Program : présent / 2027"/>
          <p:cNvSpPr/>
          <p:nvPr/>
        </p:nvSpPr>
        <p:spPr>
          <a:xfrm>
            <a:off x="566928" y="3044952"/>
            <a:ext cx="11064240" cy="749808"/>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descr="Repère décoratif de section"/>
          <p:cNvSpPr/>
          <p:nvPr/>
        </p:nvSpPr>
        <p:spPr>
          <a:xfrm>
            <a:off x="566928" y="3044952"/>
            <a:ext cx="64008" cy="74980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descr="Numéro d'étape 2"/>
          <p:cNvSpPr txBox="1"/>
          <p:nvPr/>
        </p:nvSpPr>
        <p:spPr>
          <a:xfrm>
            <a:off x="841247" y="3145536"/>
            <a:ext cx="822960" cy="548640"/>
          </a:xfrm>
          <a:prstGeom prst="rect">
            <a:avLst/>
          </a:prstGeom>
          <a:noFill/>
        </p:spPr>
        <p:txBody>
          <a:bodyPr wrap="square" lIns="0" rIns="0" tIns="0" bIns="0" anchor="ctr">
            <a:spAutoFit/>
          </a:bodyPr>
          <a:lstStyle/>
          <a:p>
            <a:pPr algn="l">
              <a:lnSpc>
                <a:spcPct val="112000"/>
              </a:lnSpc>
            </a:pPr>
            <a:r>
              <a:rPr sz="2400" b="1" i="0">
                <a:solidFill>
                  <a:srgbClr val="22D3EE"/>
                </a:solidFill>
                <a:latin typeface="Arial"/>
              </a:rPr>
              <a:t>02</a:t>
            </a:r>
          </a:p>
        </p:txBody>
      </p:sp>
      <p:sp>
        <p:nvSpPr>
          <p:cNvPr id="12" name="TextBox 11" descr="Texte du point 2 : YouTube Partner Program : présent / 2027"/>
          <p:cNvSpPr txBox="1"/>
          <p:nvPr/>
        </p:nvSpPr>
        <p:spPr>
          <a:xfrm>
            <a:off x="1755648" y="3099816"/>
            <a:ext cx="9646919" cy="640080"/>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YouTube Partner Program : présent / 2027</a:t>
            </a:r>
          </a:p>
        </p:txBody>
      </p:sp>
      <p:sp>
        <p:nvSpPr>
          <p:cNvPr id="13" name="Rounded Rectangle 12" descr="Point 3 : Meta : politiques par produit et pays"/>
          <p:cNvSpPr/>
          <p:nvPr/>
        </p:nvSpPr>
        <p:spPr>
          <a:xfrm>
            <a:off x="566928" y="3941064"/>
            <a:ext cx="11064240" cy="749808"/>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descr="Repère décoratif de section"/>
          <p:cNvSpPr/>
          <p:nvPr/>
        </p:nvSpPr>
        <p:spPr>
          <a:xfrm>
            <a:off x="566928" y="3941064"/>
            <a:ext cx="64008" cy="74980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descr="Numéro d'étape 3"/>
          <p:cNvSpPr txBox="1"/>
          <p:nvPr/>
        </p:nvSpPr>
        <p:spPr>
          <a:xfrm>
            <a:off x="841247" y="4041648"/>
            <a:ext cx="822960" cy="548640"/>
          </a:xfrm>
          <a:prstGeom prst="rect">
            <a:avLst/>
          </a:prstGeom>
          <a:noFill/>
        </p:spPr>
        <p:txBody>
          <a:bodyPr wrap="square" lIns="0" rIns="0" tIns="0" bIns="0" anchor="ctr">
            <a:spAutoFit/>
          </a:bodyPr>
          <a:lstStyle/>
          <a:p>
            <a:pPr algn="l">
              <a:lnSpc>
                <a:spcPct val="112000"/>
              </a:lnSpc>
            </a:pPr>
            <a:r>
              <a:rPr sz="2400" b="1" i="0">
                <a:solidFill>
                  <a:srgbClr val="22D3EE"/>
                </a:solidFill>
                <a:latin typeface="Arial"/>
              </a:rPr>
              <a:t>03</a:t>
            </a:r>
          </a:p>
        </p:txBody>
      </p:sp>
      <p:sp>
        <p:nvSpPr>
          <p:cNvPr id="16" name="TextBox 15" descr="Texte du point 3 : Meta : politiques par produit et pays"/>
          <p:cNvSpPr txBox="1"/>
          <p:nvPr/>
        </p:nvSpPr>
        <p:spPr>
          <a:xfrm>
            <a:off x="1755648" y="3995928"/>
            <a:ext cx="9646919" cy="640080"/>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Meta : politiques par produit et pays</a:t>
            </a:r>
          </a:p>
        </p:txBody>
      </p:sp>
      <p:sp>
        <p:nvSpPr>
          <p:cNvPr id="17" name="Rounded Rectangle 16" descr="Point 4 : Gumroad : versements par pays"/>
          <p:cNvSpPr/>
          <p:nvPr/>
        </p:nvSpPr>
        <p:spPr>
          <a:xfrm>
            <a:off x="566928" y="4837176"/>
            <a:ext cx="11064240" cy="749808"/>
          </a:xfrm>
          <a:prstGeom prst="round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descr="Repère décoratif de section"/>
          <p:cNvSpPr/>
          <p:nvPr/>
        </p:nvSpPr>
        <p:spPr>
          <a:xfrm>
            <a:off x="566928" y="4837176"/>
            <a:ext cx="64008" cy="74980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descr="Numéro d'étape 4"/>
          <p:cNvSpPr txBox="1"/>
          <p:nvPr/>
        </p:nvSpPr>
        <p:spPr>
          <a:xfrm>
            <a:off x="841247" y="4937760"/>
            <a:ext cx="822960" cy="548640"/>
          </a:xfrm>
          <a:prstGeom prst="rect">
            <a:avLst/>
          </a:prstGeom>
          <a:noFill/>
        </p:spPr>
        <p:txBody>
          <a:bodyPr wrap="square" lIns="0" rIns="0" tIns="0" bIns="0" anchor="ctr">
            <a:spAutoFit/>
          </a:bodyPr>
          <a:lstStyle/>
          <a:p>
            <a:pPr algn="l">
              <a:lnSpc>
                <a:spcPct val="112000"/>
              </a:lnSpc>
            </a:pPr>
            <a:r>
              <a:rPr sz="2400" b="1" i="0">
                <a:solidFill>
                  <a:srgbClr val="22D3EE"/>
                </a:solidFill>
                <a:latin typeface="Arial"/>
              </a:rPr>
              <a:t>04</a:t>
            </a:r>
          </a:p>
        </p:txBody>
      </p:sp>
      <p:sp>
        <p:nvSpPr>
          <p:cNvPr id="20" name="TextBox 19" descr="Texte du point 4 : Gumroad : versements par pays"/>
          <p:cNvSpPr txBox="1"/>
          <p:nvPr/>
        </p:nvSpPr>
        <p:spPr>
          <a:xfrm>
            <a:off x="1755648" y="4892040"/>
            <a:ext cx="9646919" cy="640080"/>
          </a:xfrm>
          <a:prstGeom prst="rect">
            <a:avLst/>
          </a:prstGeom>
          <a:noFill/>
        </p:spPr>
        <p:txBody>
          <a:bodyPr wrap="square" lIns="0" rIns="0" tIns="0" bIns="0" anchor="ctr">
            <a:spAutoFit/>
          </a:bodyPr>
          <a:lstStyle/>
          <a:p>
            <a:pPr algn="l">
              <a:lnSpc>
                <a:spcPct val="112000"/>
              </a:lnSpc>
            </a:pPr>
            <a:r>
              <a:rPr sz="1600" b="0" i="0">
                <a:solidFill>
                  <a:srgbClr val="F2F6FC"/>
                </a:solidFill>
                <a:latin typeface="Arial"/>
              </a:rPr>
              <a:t>Gumroad : versements par pays</a:t>
            </a:r>
          </a:p>
        </p:txBody>
      </p:sp>
      <p:sp>
        <p:nvSpPr>
          <p:cNvPr id="21" name="Rounded Rectangle 20" descr="Bandeau d'information : Sources ouvertes le 28 septembre 2026 : voir BELIVE_MONEY_credits_sources_images.md"/>
          <p:cNvSpPr/>
          <p:nvPr/>
        </p:nvSpPr>
        <p:spPr>
          <a:xfrm>
            <a:off x="566928" y="5623560"/>
            <a:ext cx="11064240" cy="658368"/>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descr="Texte du bandeau : Sources ouvertes le 28 septembre 2026 : voir BELIVE_MONEY_credits_sources_images.md"/>
          <p:cNvSpPr txBox="1"/>
          <p:nvPr/>
        </p:nvSpPr>
        <p:spPr>
          <a:xfrm>
            <a:off x="822960" y="5669280"/>
            <a:ext cx="10607040" cy="566928"/>
          </a:xfrm>
          <a:prstGeom prst="rect">
            <a:avLst/>
          </a:prstGeom>
          <a:noFill/>
        </p:spPr>
        <p:txBody>
          <a:bodyPr wrap="square" lIns="0" rIns="0" tIns="0" bIns="0" anchor="ctr">
            <a:spAutoFit/>
          </a:bodyPr>
          <a:lstStyle/>
          <a:p>
            <a:pPr algn="l">
              <a:lnSpc>
                <a:spcPct val="112000"/>
              </a:lnSpc>
            </a:pPr>
            <a:r>
              <a:rPr sz="1550" b="1" i="0">
                <a:solidFill>
                  <a:srgbClr val="22D3EE"/>
                </a:solidFill>
                <a:latin typeface="Arial"/>
              </a:rPr>
              <a:t>Sources ouvertes le 28 septembre 2026 : voir BELIVE_MONEY_credits_sources_images.md</a:t>
            </a:r>
          </a:p>
        </p:txBody>
      </p:sp>
      <p:sp>
        <p:nvSpPr>
          <p:cNvPr id="23" name="Rounded Rectangle 22" descr="Élément graphique décoratif, sans information propre"/>
          <p:cNvSpPr/>
          <p:nvPr/>
        </p:nvSpPr>
        <p:spPr>
          <a:xfrm>
            <a:off x="0" y="0"/>
            <a:ext cx="201168" cy="6858000"/>
          </a:xfrm>
          <a:prstGeom prst="round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descr="Référence de source affichée en pied de diapositive : Registre officiel du deck"/>
          <p:cNvSpPr txBox="1"/>
          <p:nvPr/>
        </p:nvSpPr>
        <p:spPr>
          <a:xfrm>
            <a:off x="566928" y="6382512"/>
            <a:ext cx="8595360" cy="310896"/>
          </a:xfrm>
          <a:prstGeom prst="rect">
            <a:avLst/>
          </a:prstGeom>
          <a:noFill/>
        </p:spPr>
        <p:txBody>
          <a:bodyPr wrap="square" lIns="0" rIns="0" tIns="0" bIns="0" anchor="t">
            <a:spAutoFit/>
          </a:bodyPr>
          <a:lstStyle/>
          <a:p>
            <a:pPr algn="l">
              <a:lnSpc>
                <a:spcPct val="112000"/>
              </a:lnSpc>
            </a:pPr>
            <a:r>
              <a:rPr sz="950" b="0" i="0">
                <a:solidFill>
                  <a:srgbClr val="9FB0CC"/>
                </a:solidFill>
                <a:latin typeface="Arial"/>
              </a:rPr>
              <a:t>Source : Registre officiel du deck</a:t>
            </a:r>
          </a:p>
        </p:txBody>
      </p:sp>
      <p:sp>
        <p:nvSpPr>
          <p:cNvPr id="25" name="TextBox 24" descr="Numéro de diapositive 84 sur 84, durée prévue 2 minutes"/>
          <p:cNvSpPr txBox="1"/>
          <p:nvPr/>
        </p:nvSpPr>
        <p:spPr>
          <a:xfrm>
            <a:off x="9814255" y="6382512"/>
            <a:ext cx="1810512" cy="310896"/>
          </a:xfrm>
          <a:prstGeom prst="rect">
            <a:avLst/>
          </a:prstGeom>
          <a:noFill/>
        </p:spPr>
        <p:txBody>
          <a:bodyPr wrap="square" lIns="0" rIns="0" tIns="0" bIns="0" anchor="t">
            <a:spAutoFit/>
          </a:bodyPr>
          <a:lstStyle/>
          <a:p>
            <a:pPr algn="r">
              <a:lnSpc>
                <a:spcPct val="112000"/>
              </a:lnSpc>
            </a:pPr>
            <a:r>
              <a:rPr sz="950" b="0" i="0">
                <a:solidFill>
                  <a:srgbClr val="9FB0CC"/>
                </a:solidFill>
                <a:latin typeface="Arial"/>
              </a:rPr>
              <a:t>84 / 84  ·  2 min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